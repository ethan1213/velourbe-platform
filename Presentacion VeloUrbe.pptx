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2A22"/>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62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56032" y="0"/>
            <a:ext cx="91440" cy="68580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22960" y="1280160"/>
            <a:ext cx="1371600" cy="137160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4400" b="1">
                <a:solidFill>
                  <a:srgbClr val="FFFFFF"/>
                </a:solidFill>
                <a:latin typeface="Calibri"/>
              </a:rPr>
              <a:t>VU</a:t>
            </a:r>
          </a:p>
        </p:txBody>
      </p:sp>
      <p:sp>
        <p:nvSpPr>
          <p:cNvPr id="6" name="TextBox 5"/>
          <p:cNvSpPr txBox="1"/>
          <p:nvPr/>
        </p:nvSpPr>
        <p:spPr>
          <a:xfrm>
            <a:off x="822960" y="2880360"/>
            <a:ext cx="10515600" cy="1097280"/>
          </a:xfrm>
          <a:prstGeom prst="rect">
            <a:avLst/>
          </a:prstGeom>
          <a:noFill/>
        </p:spPr>
        <p:txBody>
          <a:bodyPr wrap="square" anchor="t" lIns="25400" rIns="25400" tIns="12700" bIns="12700">
            <a:spAutoFit/>
          </a:bodyPr>
          <a:lstStyle/>
          <a:p>
            <a:pPr algn="l">
              <a:spcBef>
                <a:spcPts val="0"/>
              </a:spcBef>
              <a:spcAft>
                <a:spcPts val="400"/>
              </a:spcAft>
            </a:pPr>
            <a:r>
              <a:rPr sz="5400" b="1">
                <a:solidFill>
                  <a:srgbClr val="FFFFFF"/>
                </a:solidFill>
                <a:latin typeface="Calibri"/>
              </a:rPr>
              <a:t>VeloUrbe</a:t>
            </a:r>
          </a:p>
        </p:txBody>
      </p:sp>
      <p:sp>
        <p:nvSpPr>
          <p:cNvPr id="7" name="TextBox 6"/>
          <p:cNvSpPr txBox="1"/>
          <p:nvPr/>
        </p:nvSpPr>
        <p:spPr>
          <a:xfrm>
            <a:off x="868680" y="3840480"/>
            <a:ext cx="10515600" cy="640080"/>
          </a:xfrm>
          <a:prstGeom prst="rect">
            <a:avLst/>
          </a:prstGeom>
          <a:noFill/>
        </p:spPr>
        <p:txBody>
          <a:bodyPr wrap="square" anchor="t" lIns="25400" rIns="25400" tIns="12700" bIns="12700">
            <a:spAutoFit/>
          </a:bodyPr>
          <a:lstStyle/>
          <a:p>
            <a:pPr algn="l">
              <a:spcBef>
                <a:spcPts val="0"/>
              </a:spcBef>
              <a:spcAft>
                <a:spcPts val="400"/>
              </a:spcAft>
            </a:pPr>
            <a:r>
              <a:rPr sz="2200" b="0">
                <a:solidFill>
                  <a:srgbClr val="7FC83D"/>
                </a:solidFill>
                <a:latin typeface="Calibri"/>
              </a:rPr>
              <a:t>Plataforma de Arriendo de Patinetas Eléctricas</a:t>
            </a:r>
          </a:p>
        </p:txBody>
      </p:sp>
      <p:sp>
        <p:nvSpPr>
          <p:cNvPr id="8" name="TextBox 7"/>
          <p:cNvSpPr txBox="1"/>
          <p:nvPr/>
        </p:nvSpPr>
        <p:spPr>
          <a:xfrm>
            <a:off x="868680" y="4434840"/>
            <a:ext cx="10515600" cy="548640"/>
          </a:xfrm>
          <a:prstGeom prst="rect">
            <a:avLst/>
          </a:prstGeom>
          <a:noFill/>
        </p:spPr>
        <p:txBody>
          <a:bodyPr wrap="square" anchor="t" lIns="25400" rIns="25400" tIns="12700" bIns="12700">
            <a:spAutoFit/>
          </a:bodyPr>
          <a:lstStyle/>
          <a:p>
            <a:pPr algn="l">
              <a:spcBef>
                <a:spcPts val="0"/>
              </a:spcBef>
              <a:spcAft>
                <a:spcPts val="400"/>
              </a:spcAft>
            </a:pPr>
            <a:r>
              <a:rPr sz="1500" b="0">
                <a:solidFill>
                  <a:srgbClr val="CFE3D8"/>
                </a:solidFill>
                <a:latin typeface="Calibri"/>
              </a:rPr>
              <a:t>Informe Técnico — Arquitectura de Microservicios y Código Limpio</a:t>
            </a:r>
          </a:p>
        </p:txBody>
      </p:sp>
      <p:sp>
        <p:nvSpPr>
          <p:cNvPr id="9" name="Rectangle 8"/>
          <p:cNvSpPr/>
          <p:nvPr/>
        </p:nvSpPr>
        <p:spPr>
          <a:xfrm>
            <a:off x="886968" y="5120640"/>
            <a:ext cx="3840480" cy="25400"/>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5257800"/>
            <a:ext cx="10972800" cy="1097280"/>
          </a:xfrm>
          <a:prstGeom prst="rect">
            <a:avLst/>
          </a:prstGeom>
          <a:noFill/>
        </p:spPr>
        <p:txBody>
          <a:bodyPr wrap="square" anchor="t" lIns="25400" rIns="25400" tIns="12700" bIns="12700">
            <a:spAutoFit/>
          </a:bodyPr>
          <a:lstStyle/>
          <a:p>
            <a:pPr algn="l">
              <a:spcBef>
                <a:spcPts val="0"/>
              </a:spcBef>
              <a:spcAft>
                <a:spcPts val="400"/>
              </a:spcAft>
            </a:pPr>
            <a:r>
              <a:rPr sz="1300" b="0">
                <a:solidFill>
                  <a:srgbClr val="FFFFFF"/>
                </a:solidFill>
                <a:latin typeface="Calibri"/>
              </a:rPr>
              <a:t>Spring Boot 3.5 · Java 21 · Docker · PostgreSQL · JWT · Gateway → BFF → 10 Microservicios</a:t>
            </a:r>
          </a:p>
          <a:p>
            <a:pPr algn="l">
              <a:spcBef>
                <a:spcPts val="0"/>
              </a:spcBef>
              <a:spcAft>
                <a:spcPts val="200"/>
              </a:spcAft>
            </a:pPr>
            <a:r>
              <a:rPr sz="1200" b="0">
                <a:solidFill>
                  <a:srgbClr val="9FBDAE"/>
                </a:solidFill>
                <a:latin typeface="Calibri"/>
              </a:rPr>
              <a:t>Asignatura: Desarrollo Backend / Microservicios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162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38100"/>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365760"/>
          </a:xfrm>
          <a:prstGeom prst="rect">
            <a:avLst/>
          </a:prstGeom>
          <a:noFill/>
        </p:spPr>
        <p:txBody>
          <a:bodyPr wrap="square" anchor="t" lIns="25400" rIns="25400" tIns="12700" bIns="12700">
            <a:spAutoFit/>
          </a:bodyPr>
          <a:lstStyle/>
          <a:p>
            <a:pPr algn="l">
              <a:spcBef>
                <a:spcPts val="0"/>
              </a:spcBef>
              <a:spcAft>
                <a:spcPts val="400"/>
              </a:spcAft>
            </a:pPr>
            <a:r>
              <a:rPr sz="1200" b="1">
                <a:solidFill>
                  <a:srgbClr val="7FC83D"/>
                </a:solidFill>
                <a:latin typeface="Calibri"/>
              </a:rPr>
              <a:t>1 · INTRODUCCIÓN</a:t>
            </a:r>
          </a:p>
        </p:txBody>
      </p:sp>
      <p:sp>
        <p:nvSpPr>
          <p:cNvPr id="5" name="TextBox 4"/>
          <p:cNvSpPr txBox="1"/>
          <p:nvPr/>
        </p:nvSpPr>
        <p:spPr>
          <a:xfrm>
            <a:off x="502920" y="457200"/>
            <a:ext cx="10515600" cy="566928"/>
          </a:xfrm>
          <a:prstGeom prst="rect">
            <a:avLst/>
          </a:prstGeom>
          <a:noFill/>
        </p:spPr>
        <p:txBody>
          <a:bodyPr wrap="square" anchor="t" lIns="25400" rIns="25400" tIns="12700" bIns="12700">
            <a:spAutoFit/>
          </a:bodyPr>
          <a:lstStyle/>
          <a:p>
            <a:pPr algn="l">
              <a:spcBef>
                <a:spcPts val="0"/>
              </a:spcBef>
              <a:spcAft>
                <a:spcPts val="400"/>
              </a:spcAft>
            </a:pPr>
            <a:r>
              <a:rPr sz="2700" b="1">
                <a:solidFill>
                  <a:srgbClr val="FFFFFF"/>
                </a:solidFill>
                <a:latin typeface="Calibri"/>
              </a:rPr>
              <a:t>Contexto y Solución</a:t>
            </a:r>
          </a:p>
        </p:txBody>
      </p:sp>
      <p:sp>
        <p:nvSpPr>
          <p:cNvPr id="6" name="Oval 5"/>
          <p:cNvSpPr/>
          <p:nvPr/>
        </p:nvSpPr>
        <p:spPr>
          <a:xfrm>
            <a:off x="11018520" y="274320"/>
            <a:ext cx="713232" cy="71323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2200" b="1">
                <a:solidFill>
                  <a:srgbClr val="FFFFFF"/>
                </a:solidFill>
                <a:latin typeface="Calibri"/>
              </a:rPr>
              <a:t>C</a:t>
            </a:r>
          </a:p>
        </p:txBody>
      </p:sp>
      <p:sp>
        <p:nvSpPr>
          <p:cNvPr id="7" name="TextBox 6"/>
          <p:cNvSpPr txBox="1"/>
          <p:nvPr/>
        </p:nvSpPr>
        <p:spPr>
          <a:xfrm>
            <a:off x="502920" y="1371600"/>
            <a:ext cx="11155680" cy="914400"/>
          </a:xfrm>
          <a:prstGeom prst="rect">
            <a:avLst/>
          </a:prstGeom>
          <a:noFill/>
        </p:spPr>
        <p:txBody>
          <a:bodyPr wrap="square" anchor="t" lIns="25400" rIns="25400" tIns="12700" bIns="12700">
            <a:spAutoFit/>
          </a:bodyPr>
          <a:lstStyle/>
          <a:p>
            <a:pPr algn="l">
              <a:spcBef>
                <a:spcPts val="0"/>
              </a:spcBef>
              <a:spcAft>
                <a:spcPts val="400"/>
              </a:spcAft>
            </a:pPr>
            <a:r>
              <a:rPr sz="1500" b="0">
                <a:solidFill>
                  <a:srgbClr val="162A22"/>
                </a:solidFill>
                <a:latin typeface="Calibri"/>
              </a:rPr>
              <a:t>VeloUrbe resuelve la movilidad urbana de última milla con un ecosistema digital que permite arrendar patinetas eléctricas de forma ágil y segura. Adopta una arquitectura de 10 microservicios tras un API Gateway y un BFF para desacoplar identidades, flota, pagos y la experiencia del cliente.</a:t>
            </a:r>
          </a:p>
        </p:txBody>
      </p:sp>
      <p:sp>
        <p:nvSpPr>
          <p:cNvPr id="8" name="Rectangle 7"/>
          <p:cNvSpPr/>
          <p:nvPr/>
        </p:nvSpPr>
        <p:spPr>
          <a:xfrm>
            <a:off x="502920" y="2651760"/>
            <a:ext cx="2697480" cy="2286000"/>
          </a:xfrm>
          <a:prstGeom prst="rect">
            <a:avLst/>
          </a:prstGeom>
          <a:solidFill>
            <a:srgbClr val="E8F1EC"/>
          </a:solidFill>
          <a:ln>
            <a:no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2651760"/>
            <a:ext cx="2697480" cy="109728"/>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880360"/>
            <a:ext cx="2331720" cy="457200"/>
          </a:xfrm>
          <a:prstGeom prst="rect">
            <a:avLst/>
          </a:prstGeom>
          <a:noFill/>
        </p:spPr>
        <p:txBody>
          <a:bodyPr wrap="square" anchor="t" lIns="25400" rIns="25400" tIns="12700" bIns="12700">
            <a:spAutoFit/>
          </a:bodyPr>
          <a:lstStyle/>
          <a:p>
            <a:pPr algn="l">
              <a:spcBef>
                <a:spcPts val="0"/>
              </a:spcBef>
              <a:spcAft>
                <a:spcPts val="400"/>
              </a:spcAft>
            </a:pPr>
            <a:r>
              <a:rPr sz="1700" b="1">
                <a:solidFill>
                  <a:srgbClr val="00897B"/>
                </a:solidFill>
                <a:latin typeface="Calibri"/>
              </a:rPr>
              <a:t>Problema</a:t>
            </a:r>
          </a:p>
        </p:txBody>
      </p:sp>
      <p:sp>
        <p:nvSpPr>
          <p:cNvPr id="11" name="TextBox 10"/>
          <p:cNvSpPr txBox="1"/>
          <p:nvPr/>
        </p:nvSpPr>
        <p:spPr>
          <a:xfrm>
            <a:off x="685800" y="3383280"/>
            <a:ext cx="2331720" cy="1463040"/>
          </a:xfrm>
          <a:prstGeom prst="rect">
            <a:avLst/>
          </a:prstGeom>
          <a:noFill/>
        </p:spPr>
        <p:txBody>
          <a:bodyPr wrap="square" anchor="t" lIns="25400" rIns="25400" tIns="12700" bIns="12700">
            <a:spAutoFit/>
          </a:bodyPr>
          <a:lstStyle/>
          <a:p>
            <a:pPr algn="l">
              <a:spcBef>
                <a:spcPts val="0"/>
              </a:spcBef>
              <a:spcAft>
                <a:spcPts val="300"/>
              </a:spcAft>
            </a:pPr>
            <a:r>
              <a:rPr sz="1250" b="0">
                <a:solidFill>
                  <a:srgbClr val="162A22"/>
                </a:solidFill>
                <a:latin typeface="Calibri"/>
              </a:rPr>
              <a:t>Movilidad de última milla:</a:t>
            </a:r>
          </a:p>
          <a:p>
            <a:pPr algn="l">
              <a:spcBef>
                <a:spcPts val="0"/>
              </a:spcBef>
              <a:spcAft>
                <a:spcPts val="300"/>
              </a:spcAft>
            </a:pPr>
            <a:r>
              <a:rPr sz="1250" b="0">
                <a:solidFill>
                  <a:srgbClr val="162A22"/>
                </a:solidFill>
                <a:latin typeface="Calibri"/>
              </a:rPr>
              <a:t>acceso rápido y seguro a</a:t>
            </a:r>
          </a:p>
          <a:p>
            <a:pPr algn="l">
              <a:spcBef>
                <a:spcPts val="0"/>
              </a:spcBef>
              <a:spcAft>
                <a:spcPts val="300"/>
              </a:spcAft>
            </a:pPr>
            <a:r>
              <a:rPr sz="1250" b="0">
                <a:solidFill>
                  <a:srgbClr val="162A22"/>
                </a:solidFill>
                <a:latin typeface="Calibri"/>
              </a:rPr>
              <a:t>patinetas en la ciudad.</a:t>
            </a:r>
          </a:p>
        </p:txBody>
      </p:sp>
      <p:sp>
        <p:nvSpPr>
          <p:cNvPr id="12" name="Rectangle 11"/>
          <p:cNvSpPr/>
          <p:nvPr/>
        </p:nvSpPr>
        <p:spPr>
          <a:xfrm>
            <a:off x="3319272" y="2651760"/>
            <a:ext cx="2697480" cy="2286000"/>
          </a:xfrm>
          <a:prstGeom prst="rect">
            <a:avLst/>
          </a:prstGeom>
          <a:solidFill>
            <a:srgbClr val="E8F1EC"/>
          </a:solidFill>
          <a:ln>
            <a:no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19272" y="2651760"/>
            <a:ext cx="2697480" cy="109728"/>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02152" y="2880360"/>
            <a:ext cx="2331720" cy="457200"/>
          </a:xfrm>
          <a:prstGeom prst="rect">
            <a:avLst/>
          </a:prstGeom>
          <a:noFill/>
        </p:spPr>
        <p:txBody>
          <a:bodyPr wrap="square" anchor="t" lIns="25400" rIns="25400" tIns="12700" bIns="12700">
            <a:spAutoFit/>
          </a:bodyPr>
          <a:lstStyle/>
          <a:p>
            <a:pPr algn="l">
              <a:spcBef>
                <a:spcPts val="0"/>
              </a:spcBef>
              <a:spcAft>
                <a:spcPts val="400"/>
              </a:spcAft>
            </a:pPr>
            <a:r>
              <a:rPr sz="1700" b="1">
                <a:solidFill>
                  <a:srgbClr val="2E9E5B"/>
                </a:solidFill>
                <a:latin typeface="Calibri"/>
              </a:rPr>
              <a:t>Solución</a:t>
            </a:r>
          </a:p>
        </p:txBody>
      </p:sp>
      <p:sp>
        <p:nvSpPr>
          <p:cNvPr id="15" name="TextBox 14"/>
          <p:cNvSpPr txBox="1"/>
          <p:nvPr/>
        </p:nvSpPr>
        <p:spPr>
          <a:xfrm>
            <a:off x="3502152" y="3383280"/>
            <a:ext cx="2331720" cy="1463040"/>
          </a:xfrm>
          <a:prstGeom prst="rect">
            <a:avLst/>
          </a:prstGeom>
          <a:noFill/>
        </p:spPr>
        <p:txBody>
          <a:bodyPr wrap="square" anchor="t" lIns="25400" rIns="25400" tIns="12700" bIns="12700">
            <a:spAutoFit/>
          </a:bodyPr>
          <a:lstStyle/>
          <a:p>
            <a:pPr algn="l">
              <a:spcBef>
                <a:spcPts val="0"/>
              </a:spcBef>
              <a:spcAft>
                <a:spcPts val="300"/>
              </a:spcAft>
            </a:pPr>
            <a:r>
              <a:rPr sz="1250" b="0">
                <a:solidFill>
                  <a:srgbClr val="162A22"/>
                </a:solidFill>
                <a:latin typeface="Calibri"/>
              </a:rPr>
              <a:t>10 microservicios de dominio</a:t>
            </a:r>
          </a:p>
          <a:p>
            <a:pPr algn="l">
              <a:spcBef>
                <a:spcPts val="0"/>
              </a:spcBef>
              <a:spcAft>
                <a:spcPts val="300"/>
              </a:spcAft>
            </a:pPr>
            <a:r>
              <a:rPr sz="1250" b="0">
                <a:solidFill>
                  <a:srgbClr val="162A22"/>
                </a:solidFill>
                <a:latin typeface="Calibri"/>
              </a:rPr>
              <a:t>tras un Gateway y un BFF,</a:t>
            </a:r>
          </a:p>
          <a:p>
            <a:pPr algn="l">
              <a:spcBef>
                <a:spcPts val="0"/>
              </a:spcBef>
              <a:spcAft>
                <a:spcPts val="300"/>
              </a:spcAft>
            </a:pPr>
            <a:r>
              <a:rPr sz="1250" b="0">
                <a:solidFill>
                  <a:srgbClr val="162A22"/>
                </a:solidFill>
                <a:latin typeface="Calibri"/>
              </a:rPr>
              <a:t>con Docker Compose.</a:t>
            </a:r>
          </a:p>
        </p:txBody>
      </p:sp>
      <p:sp>
        <p:nvSpPr>
          <p:cNvPr id="16" name="Rectangle 15"/>
          <p:cNvSpPr/>
          <p:nvPr/>
        </p:nvSpPr>
        <p:spPr>
          <a:xfrm>
            <a:off x="6135624" y="2651760"/>
            <a:ext cx="2697480" cy="2286000"/>
          </a:xfrm>
          <a:prstGeom prst="rect">
            <a:avLst/>
          </a:prstGeom>
          <a:solidFill>
            <a:srgbClr val="E8F1EC"/>
          </a:solidFill>
          <a:ln>
            <a:no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35624" y="2651760"/>
            <a:ext cx="2697480" cy="109728"/>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8504" y="2880360"/>
            <a:ext cx="2331720" cy="457200"/>
          </a:xfrm>
          <a:prstGeom prst="rect">
            <a:avLst/>
          </a:prstGeom>
          <a:noFill/>
        </p:spPr>
        <p:txBody>
          <a:bodyPr wrap="square" anchor="t" lIns="25400" rIns="25400" tIns="12700" bIns="12700">
            <a:spAutoFit/>
          </a:bodyPr>
          <a:lstStyle/>
          <a:p>
            <a:pPr algn="l">
              <a:spcBef>
                <a:spcPts val="0"/>
              </a:spcBef>
              <a:spcAft>
                <a:spcPts val="400"/>
              </a:spcAft>
            </a:pPr>
            <a:r>
              <a:rPr sz="1700" b="1">
                <a:solidFill>
                  <a:srgbClr val="2D6CDF"/>
                </a:solidFill>
                <a:latin typeface="Calibri"/>
              </a:rPr>
              <a:t>Enfoque</a:t>
            </a:r>
          </a:p>
        </p:txBody>
      </p:sp>
      <p:sp>
        <p:nvSpPr>
          <p:cNvPr id="19" name="TextBox 18"/>
          <p:cNvSpPr txBox="1"/>
          <p:nvPr/>
        </p:nvSpPr>
        <p:spPr>
          <a:xfrm>
            <a:off x="6318504" y="3383280"/>
            <a:ext cx="2331720" cy="1463040"/>
          </a:xfrm>
          <a:prstGeom prst="rect">
            <a:avLst/>
          </a:prstGeom>
          <a:noFill/>
        </p:spPr>
        <p:txBody>
          <a:bodyPr wrap="square" anchor="t" lIns="25400" rIns="25400" tIns="12700" bIns="12700">
            <a:spAutoFit/>
          </a:bodyPr>
          <a:lstStyle/>
          <a:p>
            <a:pPr algn="l">
              <a:spcBef>
                <a:spcPts val="0"/>
              </a:spcBef>
              <a:spcAft>
                <a:spcPts val="300"/>
              </a:spcAft>
            </a:pPr>
            <a:r>
              <a:rPr sz="1250" b="0">
                <a:solidFill>
                  <a:srgbClr val="162A22"/>
                </a:solidFill>
                <a:latin typeface="Calibri"/>
              </a:rPr>
              <a:t>Clean Code, JWT stateless,</a:t>
            </a:r>
          </a:p>
          <a:p>
            <a:pPr algn="l">
              <a:spcBef>
                <a:spcPts val="0"/>
              </a:spcBef>
              <a:spcAft>
                <a:spcPts val="300"/>
              </a:spcAft>
            </a:pPr>
            <a:r>
              <a:rPr sz="1250" b="0">
                <a:solidFill>
                  <a:srgbClr val="162A22"/>
                </a:solidFill>
                <a:latin typeface="Calibri"/>
              </a:rPr>
              <a:t>Flyway, BFF y pruebas</a:t>
            </a:r>
          </a:p>
          <a:p>
            <a:pPr algn="l">
              <a:spcBef>
                <a:spcPts val="0"/>
              </a:spcBef>
              <a:spcAft>
                <a:spcPts val="300"/>
              </a:spcAft>
            </a:pPr>
            <a:r>
              <a:rPr sz="1250" b="0">
                <a:solidFill>
                  <a:srgbClr val="162A22"/>
                </a:solidFill>
                <a:latin typeface="Calibri"/>
              </a:rPr>
              <a:t>automatizadas.</a:t>
            </a:r>
          </a:p>
        </p:txBody>
      </p:sp>
      <p:sp>
        <p:nvSpPr>
          <p:cNvPr id="20" name="Rectangle 19"/>
          <p:cNvSpPr/>
          <p:nvPr/>
        </p:nvSpPr>
        <p:spPr>
          <a:xfrm>
            <a:off x="8951976" y="2651760"/>
            <a:ext cx="2697480" cy="2286000"/>
          </a:xfrm>
          <a:prstGeom prst="rect">
            <a:avLst/>
          </a:prstGeom>
          <a:solidFill>
            <a:srgbClr val="E8F1EC"/>
          </a:solidFill>
          <a:ln>
            <a:no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951976" y="2651760"/>
            <a:ext cx="2697480" cy="109728"/>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34856" y="2880360"/>
            <a:ext cx="2331720" cy="457200"/>
          </a:xfrm>
          <a:prstGeom prst="rect">
            <a:avLst/>
          </a:prstGeom>
          <a:noFill/>
        </p:spPr>
        <p:txBody>
          <a:bodyPr wrap="square" anchor="t" lIns="25400" rIns="25400" tIns="12700" bIns="12700">
            <a:spAutoFit/>
          </a:bodyPr>
          <a:lstStyle/>
          <a:p>
            <a:pPr algn="l">
              <a:spcBef>
                <a:spcPts val="0"/>
              </a:spcBef>
              <a:spcAft>
                <a:spcPts val="400"/>
              </a:spcAft>
            </a:pPr>
            <a:r>
              <a:rPr sz="1700" b="1">
                <a:solidFill>
                  <a:srgbClr val="E87A1E"/>
                </a:solidFill>
                <a:latin typeface="Calibri"/>
              </a:rPr>
              <a:t>Resultado</a:t>
            </a:r>
          </a:p>
        </p:txBody>
      </p:sp>
      <p:sp>
        <p:nvSpPr>
          <p:cNvPr id="23" name="TextBox 22"/>
          <p:cNvSpPr txBox="1"/>
          <p:nvPr/>
        </p:nvSpPr>
        <p:spPr>
          <a:xfrm>
            <a:off x="9134856" y="3383280"/>
            <a:ext cx="2331720" cy="1463040"/>
          </a:xfrm>
          <a:prstGeom prst="rect">
            <a:avLst/>
          </a:prstGeom>
          <a:noFill/>
        </p:spPr>
        <p:txBody>
          <a:bodyPr wrap="square" anchor="t" lIns="25400" rIns="25400" tIns="12700" bIns="12700">
            <a:spAutoFit/>
          </a:bodyPr>
          <a:lstStyle/>
          <a:p>
            <a:pPr algn="l">
              <a:spcBef>
                <a:spcPts val="0"/>
              </a:spcBef>
              <a:spcAft>
                <a:spcPts val="300"/>
              </a:spcAft>
            </a:pPr>
            <a:r>
              <a:rPr sz="1250" b="0">
                <a:solidFill>
                  <a:srgbClr val="162A22"/>
                </a:solidFill>
                <a:latin typeface="Calibri"/>
              </a:rPr>
              <a:t>Sistema cohesivo, escalable</a:t>
            </a:r>
          </a:p>
          <a:p>
            <a:pPr algn="l">
              <a:spcBef>
                <a:spcPts val="0"/>
              </a:spcBef>
              <a:spcAft>
                <a:spcPts val="300"/>
              </a:spcAft>
            </a:pPr>
            <a:r>
              <a:rPr sz="1250" b="0">
                <a:solidFill>
                  <a:srgbClr val="162A22"/>
                </a:solidFill>
                <a:latin typeface="Calibri"/>
              </a:rPr>
              <a:t>y tolerante a fallos, listo</a:t>
            </a:r>
          </a:p>
          <a:p>
            <a:pPr algn="l">
              <a:spcBef>
                <a:spcPts val="0"/>
              </a:spcBef>
              <a:spcAft>
                <a:spcPts val="300"/>
              </a:spcAft>
            </a:pPr>
            <a:r>
              <a:rPr sz="1250" b="0">
                <a:solidFill>
                  <a:srgbClr val="162A22"/>
                </a:solidFill>
                <a:latin typeface="Calibri"/>
              </a:rPr>
              <a:t>para crecer.</a:t>
            </a:r>
          </a:p>
        </p:txBody>
      </p:sp>
      <p:sp>
        <p:nvSpPr>
          <p:cNvPr id="24" name="TextBox 23"/>
          <p:cNvSpPr txBox="1"/>
          <p:nvPr/>
        </p:nvSpPr>
        <p:spPr>
          <a:xfrm>
            <a:off x="502920" y="6473952"/>
            <a:ext cx="5486400" cy="274320"/>
          </a:xfrm>
          <a:prstGeom prst="rect">
            <a:avLst/>
          </a:prstGeom>
          <a:noFill/>
        </p:spPr>
        <p:txBody>
          <a:bodyPr wrap="square" anchor="t" lIns="25400" rIns="25400" tIns="12700" bIns="12700">
            <a:spAutoFit/>
          </a:bodyPr>
          <a:lstStyle/>
          <a:p>
            <a:pPr algn="l">
              <a:spcBef>
                <a:spcPts val="0"/>
              </a:spcBef>
              <a:spcAft>
                <a:spcPts val="400"/>
              </a:spcAft>
            </a:pPr>
            <a:r>
              <a:rPr sz="900" b="0">
                <a:solidFill>
                  <a:srgbClr val="5A6B63"/>
                </a:solidFill>
                <a:latin typeface="Calibri"/>
              </a:rPr>
              <a:t>VeloUrbe · Informe Técnico de Arquitectura</a:t>
            </a:r>
          </a:p>
        </p:txBody>
      </p:sp>
      <p:sp>
        <p:nvSpPr>
          <p:cNvPr id="25" name="Rectangle 24"/>
          <p:cNvSpPr/>
          <p:nvPr/>
        </p:nvSpPr>
        <p:spPr>
          <a:xfrm>
            <a:off x="11475720" y="6437376"/>
            <a:ext cx="457200" cy="310896"/>
          </a:xfrm>
          <a:prstGeom prst="rect">
            <a:avLst/>
          </a:prstGeom>
          <a:solidFill>
            <a:srgbClr val="E8F1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000" b="1">
                <a:solidFill>
                  <a:srgbClr val="2E9E5B"/>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162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38100"/>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365760"/>
          </a:xfrm>
          <a:prstGeom prst="rect">
            <a:avLst/>
          </a:prstGeom>
          <a:noFill/>
        </p:spPr>
        <p:txBody>
          <a:bodyPr wrap="square" anchor="t" lIns="25400" rIns="25400" tIns="12700" bIns="12700">
            <a:spAutoFit/>
          </a:bodyPr>
          <a:lstStyle/>
          <a:p>
            <a:pPr algn="l">
              <a:spcBef>
                <a:spcPts val="0"/>
              </a:spcBef>
              <a:spcAft>
                <a:spcPts val="400"/>
              </a:spcAft>
            </a:pPr>
            <a:r>
              <a:rPr sz="1200" b="1">
                <a:solidFill>
                  <a:srgbClr val="7FC83D"/>
                </a:solidFill>
                <a:latin typeface="Calibri"/>
              </a:rPr>
              <a:t>2 · DESARROLLO</a:t>
            </a:r>
          </a:p>
        </p:txBody>
      </p:sp>
      <p:sp>
        <p:nvSpPr>
          <p:cNvPr id="5" name="TextBox 4"/>
          <p:cNvSpPr txBox="1"/>
          <p:nvPr/>
        </p:nvSpPr>
        <p:spPr>
          <a:xfrm>
            <a:off x="502920" y="457200"/>
            <a:ext cx="10515600" cy="566928"/>
          </a:xfrm>
          <a:prstGeom prst="rect">
            <a:avLst/>
          </a:prstGeom>
          <a:noFill/>
        </p:spPr>
        <p:txBody>
          <a:bodyPr wrap="square" anchor="t" lIns="25400" rIns="25400" tIns="12700" bIns="12700">
            <a:spAutoFit/>
          </a:bodyPr>
          <a:lstStyle/>
          <a:p>
            <a:pPr algn="l">
              <a:spcBef>
                <a:spcPts val="0"/>
              </a:spcBef>
              <a:spcAft>
                <a:spcPts val="400"/>
              </a:spcAft>
            </a:pPr>
            <a:r>
              <a:rPr sz="2700" b="1">
                <a:solidFill>
                  <a:srgbClr val="FFFFFF"/>
                </a:solidFill>
                <a:latin typeface="Calibri"/>
              </a:rPr>
              <a:t>Requerimientos Funcionales</a:t>
            </a:r>
          </a:p>
        </p:txBody>
      </p:sp>
      <p:sp>
        <p:nvSpPr>
          <p:cNvPr id="6" name="Oval 5"/>
          <p:cNvSpPr/>
          <p:nvPr/>
        </p:nvSpPr>
        <p:spPr>
          <a:xfrm>
            <a:off x="11018520" y="274320"/>
            <a:ext cx="713232" cy="71323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2200" b="1">
                <a:solidFill>
                  <a:srgbClr val="FFFFFF"/>
                </a:solidFill>
                <a:latin typeface="Calibri"/>
              </a:rPr>
              <a:t>RF</a:t>
            </a:r>
          </a:p>
        </p:txBody>
      </p:sp>
      <p:sp>
        <p:nvSpPr>
          <p:cNvPr id="7" name="Rectangle 6"/>
          <p:cNvSpPr/>
          <p:nvPr/>
        </p:nvSpPr>
        <p:spPr>
          <a:xfrm>
            <a:off x="502920" y="1417320"/>
            <a:ext cx="11201400" cy="1170432"/>
          </a:xfrm>
          <a:prstGeom prst="rect">
            <a:avLst/>
          </a:prstGeom>
          <a:solidFill>
            <a:srgbClr val="E8F1EC"/>
          </a:solidFill>
          <a:ln>
            <a:no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417320"/>
            <a:ext cx="1371600" cy="1170432"/>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2200" b="1">
                <a:solidFill>
                  <a:srgbClr val="FFFFFF"/>
                </a:solidFill>
                <a:latin typeface="Calibri"/>
              </a:rPr>
              <a:t>RF01</a:t>
            </a:r>
          </a:p>
        </p:txBody>
      </p:sp>
      <p:sp>
        <p:nvSpPr>
          <p:cNvPr id="9" name="TextBox 8"/>
          <p:cNvSpPr txBox="1"/>
          <p:nvPr/>
        </p:nvSpPr>
        <p:spPr>
          <a:xfrm>
            <a:off x="2103120" y="1581912"/>
            <a:ext cx="9326880" cy="457200"/>
          </a:xfrm>
          <a:prstGeom prst="rect">
            <a:avLst/>
          </a:prstGeom>
          <a:noFill/>
        </p:spPr>
        <p:txBody>
          <a:bodyPr wrap="square" anchor="t" lIns="25400" rIns="25400" tIns="12700" bIns="12700">
            <a:spAutoFit/>
          </a:bodyPr>
          <a:lstStyle/>
          <a:p>
            <a:pPr algn="l">
              <a:spcBef>
                <a:spcPts val="0"/>
              </a:spcBef>
              <a:spcAft>
                <a:spcPts val="400"/>
              </a:spcAft>
            </a:pPr>
            <a:r>
              <a:rPr sz="1800" b="1">
                <a:solidFill>
                  <a:srgbClr val="162A22"/>
                </a:solidFill>
                <a:latin typeface="Calibri"/>
              </a:rPr>
              <a:t>Gestión de Usuarios</a:t>
            </a:r>
          </a:p>
        </p:txBody>
      </p:sp>
      <p:sp>
        <p:nvSpPr>
          <p:cNvPr id="10" name="TextBox 9"/>
          <p:cNvSpPr txBox="1"/>
          <p:nvPr/>
        </p:nvSpPr>
        <p:spPr>
          <a:xfrm>
            <a:off x="2103120" y="2020824"/>
            <a:ext cx="9326880" cy="502920"/>
          </a:xfrm>
          <a:prstGeom prst="rect">
            <a:avLst/>
          </a:prstGeom>
          <a:noFill/>
        </p:spPr>
        <p:txBody>
          <a:bodyPr wrap="square" anchor="t" lIns="25400" rIns="25400" tIns="12700" bIns="12700">
            <a:spAutoFit/>
          </a:bodyPr>
          <a:lstStyle/>
          <a:p>
            <a:pPr algn="l">
              <a:spcBef>
                <a:spcPts val="0"/>
              </a:spcBef>
              <a:spcAft>
                <a:spcPts val="400"/>
              </a:spcAft>
            </a:pPr>
            <a:r>
              <a:rPr sz="1350" b="0">
                <a:solidFill>
                  <a:srgbClr val="5A6B63"/>
                </a:solidFill>
                <a:latin typeface="Calibri"/>
              </a:rPr>
              <a:t>Registro e inicio de sesión emitiendo tokens JWT firmados (HS256) con roles y permisos.</a:t>
            </a:r>
          </a:p>
        </p:txBody>
      </p:sp>
      <p:sp>
        <p:nvSpPr>
          <p:cNvPr id="11" name="Rectangle 10"/>
          <p:cNvSpPr/>
          <p:nvPr/>
        </p:nvSpPr>
        <p:spPr>
          <a:xfrm>
            <a:off x="502920" y="2697480"/>
            <a:ext cx="11201400" cy="1170432"/>
          </a:xfrm>
          <a:prstGeom prst="rect">
            <a:avLst/>
          </a:prstGeom>
          <a:solidFill>
            <a:srgbClr val="E8F1EC"/>
          </a:solidFill>
          <a:ln>
            <a:no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697480"/>
            <a:ext cx="1371600" cy="1170432"/>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2200" b="1">
                <a:solidFill>
                  <a:srgbClr val="FFFFFF"/>
                </a:solidFill>
                <a:latin typeface="Calibri"/>
              </a:rPr>
              <a:t>RF02</a:t>
            </a:r>
          </a:p>
        </p:txBody>
      </p:sp>
      <p:sp>
        <p:nvSpPr>
          <p:cNvPr id="13" name="TextBox 12"/>
          <p:cNvSpPr txBox="1"/>
          <p:nvPr/>
        </p:nvSpPr>
        <p:spPr>
          <a:xfrm>
            <a:off x="2103120" y="2862072"/>
            <a:ext cx="9326880" cy="457200"/>
          </a:xfrm>
          <a:prstGeom prst="rect">
            <a:avLst/>
          </a:prstGeom>
          <a:noFill/>
        </p:spPr>
        <p:txBody>
          <a:bodyPr wrap="square" anchor="t" lIns="25400" rIns="25400" tIns="12700" bIns="12700">
            <a:spAutoFit/>
          </a:bodyPr>
          <a:lstStyle/>
          <a:p>
            <a:pPr algn="l">
              <a:spcBef>
                <a:spcPts val="0"/>
              </a:spcBef>
              <a:spcAft>
                <a:spcPts val="400"/>
              </a:spcAft>
            </a:pPr>
            <a:r>
              <a:rPr sz="1800" b="1">
                <a:solidFill>
                  <a:srgbClr val="162A22"/>
                </a:solidFill>
                <a:latin typeface="Calibri"/>
              </a:rPr>
              <a:t>Inventario de Patinetas</a:t>
            </a:r>
          </a:p>
        </p:txBody>
      </p:sp>
      <p:sp>
        <p:nvSpPr>
          <p:cNvPr id="14" name="TextBox 13"/>
          <p:cNvSpPr txBox="1"/>
          <p:nvPr/>
        </p:nvSpPr>
        <p:spPr>
          <a:xfrm>
            <a:off x="2103120" y="3300984"/>
            <a:ext cx="9326880" cy="502920"/>
          </a:xfrm>
          <a:prstGeom prst="rect">
            <a:avLst/>
          </a:prstGeom>
          <a:noFill/>
        </p:spPr>
        <p:txBody>
          <a:bodyPr wrap="square" anchor="t" lIns="25400" rIns="25400" tIns="12700" bIns="12700">
            <a:spAutoFit/>
          </a:bodyPr>
          <a:lstStyle/>
          <a:p>
            <a:pPr algn="l">
              <a:spcBef>
                <a:spcPts val="0"/>
              </a:spcBef>
              <a:spcAft>
                <a:spcPts val="400"/>
              </a:spcAft>
            </a:pPr>
            <a:r>
              <a:rPr sz="1350" b="0">
                <a:solidFill>
                  <a:srgbClr val="5A6B63"/>
                </a:solidFill>
                <a:latin typeface="Calibri"/>
              </a:rPr>
              <a:t>CRUD completo sobre scooters: batería, ubicación geográfica y disponibilidad.</a:t>
            </a:r>
          </a:p>
        </p:txBody>
      </p:sp>
      <p:sp>
        <p:nvSpPr>
          <p:cNvPr id="15" name="Rectangle 14"/>
          <p:cNvSpPr/>
          <p:nvPr/>
        </p:nvSpPr>
        <p:spPr>
          <a:xfrm>
            <a:off x="502920" y="3977640"/>
            <a:ext cx="11201400" cy="1170432"/>
          </a:xfrm>
          <a:prstGeom prst="rect">
            <a:avLst/>
          </a:prstGeom>
          <a:solidFill>
            <a:srgbClr val="E8F1EC"/>
          </a:solidFill>
          <a:ln>
            <a:no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3977640"/>
            <a:ext cx="1371600" cy="1170432"/>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2200" b="1">
                <a:solidFill>
                  <a:srgbClr val="FFFFFF"/>
                </a:solidFill>
                <a:latin typeface="Calibri"/>
              </a:rPr>
              <a:t>RF03</a:t>
            </a:r>
          </a:p>
        </p:txBody>
      </p:sp>
      <p:sp>
        <p:nvSpPr>
          <p:cNvPr id="17" name="TextBox 16"/>
          <p:cNvSpPr txBox="1"/>
          <p:nvPr/>
        </p:nvSpPr>
        <p:spPr>
          <a:xfrm>
            <a:off x="2103120" y="4142232"/>
            <a:ext cx="9326880" cy="457200"/>
          </a:xfrm>
          <a:prstGeom prst="rect">
            <a:avLst/>
          </a:prstGeom>
          <a:noFill/>
        </p:spPr>
        <p:txBody>
          <a:bodyPr wrap="square" anchor="t" lIns="25400" rIns="25400" tIns="12700" bIns="12700">
            <a:spAutoFit/>
          </a:bodyPr>
          <a:lstStyle/>
          <a:p>
            <a:pPr algn="l">
              <a:spcBef>
                <a:spcPts val="0"/>
              </a:spcBef>
              <a:spcAft>
                <a:spcPts val="400"/>
              </a:spcAft>
            </a:pPr>
            <a:r>
              <a:rPr sz="1800" b="1">
                <a:solidFill>
                  <a:srgbClr val="162A22"/>
                </a:solidFill>
                <a:latin typeface="Calibri"/>
              </a:rPr>
              <a:t>Gestión de Arriendos</a:t>
            </a:r>
          </a:p>
        </p:txBody>
      </p:sp>
      <p:sp>
        <p:nvSpPr>
          <p:cNvPr id="18" name="TextBox 17"/>
          <p:cNvSpPr txBox="1"/>
          <p:nvPr/>
        </p:nvSpPr>
        <p:spPr>
          <a:xfrm>
            <a:off x="2103120" y="4581144"/>
            <a:ext cx="9326880" cy="502920"/>
          </a:xfrm>
          <a:prstGeom prst="rect">
            <a:avLst/>
          </a:prstGeom>
          <a:noFill/>
        </p:spPr>
        <p:txBody>
          <a:bodyPr wrap="square" anchor="t" lIns="25400" rIns="25400" tIns="12700" bIns="12700">
            <a:spAutoFit/>
          </a:bodyPr>
          <a:lstStyle/>
          <a:p>
            <a:pPr algn="l">
              <a:spcBef>
                <a:spcPts val="0"/>
              </a:spcBef>
              <a:spcAft>
                <a:spcPts val="400"/>
              </a:spcAft>
            </a:pPr>
            <a:r>
              <a:rPr sz="1350" b="0">
                <a:solidFill>
                  <a:srgbClr val="5A6B63"/>
                </a:solidFill>
                <a:latin typeface="Calibri"/>
              </a:rPr>
              <a:t>Lógica transaccional para iniciar y finalizar viajes, con marcas de tiempo y duración total.</a:t>
            </a:r>
          </a:p>
        </p:txBody>
      </p:sp>
      <p:sp>
        <p:nvSpPr>
          <p:cNvPr id="19" name="Rectangle 18"/>
          <p:cNvSpPr/>
          <p:nvPr/>
        </p:nvSpPr>
        <p:spPr>
          <a:xfrm>
            <a:off x="502920" y="5257800"/>
            <a:ext cx="11201400" cy="1170432"/>
          </a:xfrm>
          <a:prstGeom prst="rect">
            <a:avLst/>
          </a:prstGeom>
          <a:solidFill>
            <a:srgbClr val="E8F1EC"/>
          </a:solidFill>
          <a:ln>
            <a:no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5257800"/>
            <a:ext cx="1371600" cy="1170432"/>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2200" b="1">
                <a:solidFill>
                  <a:srgbClr val="FFFFFF"/>
                </a:solidFill>
                <a:latin typeface="Calibri"/>
              </a:rPr>
              <a:t>RF04</a:t>
            </a:r>
          </a:p>
        </p:txBody>
      </p:sp>
      <p:sp>
        <p:nvSpPr>
          <p:cNvPr id="21" name="TextBox 20"/>
          <p:cNvSpPr txBox="1"/>
          <p:nvPr/>
        </p:nvSpPr>
        <p:spPr>
          <a:xfrm>
            <a:off x="2103120" y="5422392"/>
            <a:ext cx="9326880" cy="457200"/>
          </a:xfrm>
          <a:prstGeom prst="rect">
            <a:avLst/>
          </a:prstGeom>
          <a:noFill/>
        </p:spPr>
        <p:txBody>
          <a:bodyPr wrap="square" anchor="t" lIns="25400" rIns="25400" tIns="12700" bIns="12700">
            <a:spAutoFit/>
          </a:bodyPr>
          <a:lstStyle/>
          <a:p>
            <a:pPr algn="l">
              <a:spcBef>
                <a:spcPts val="0"/>
              </a:spcBef>
              <a:spcAft>
                <a:spcPts val="400"/>
              </a:spcAft>
            </a:pPr>
            <a:r>
              <a:rPr sz="1800" b="1">
                <a:solidFill>
                  <a:srgbClr val="162A22"/>
                </a:solidFill>
                <a:latin typeface="Calibri"/>
              </a:rPr>
              <a:t>BFF Dashboard</a:t>
            </a:r>
          </a:p>
        </p:txBody>
      </p:sp>
      <p:sp>
        <p:nvSpPr>
          <p:cNvPr id="22" name="TextBox 21"/>
          <p:cNvSpPr txBox="1"/>
          <p:nvPr/>
        </p:nvSpPr>
        <p:spPr>
          <a:xfrm>
            <a:off x="2103120" y="5861304"/>
            <a:ext cx="9326880" cy="502920"/>
          </a:xfrm>
          <a:prstGeom prst="rect">
            <a:avLst/>
          </a:prstGeom>
          <a:noFill/>
        </p:spPr>
        <p:txBody>
          <a:bodyPr wrap="square" anchor="t" lIns="25400" rIns="25400" tIns="12700" bIns="12700">
            <a:spAutoFit/>
          </a:bodyPr>
          <a:lstStyle/>
          <a:p>
            <a:pPr algn="l">
              <a:spcBef>
                <a:spcPts val="0"/>
              </a:spcBef>
              <a:spcAft>
                <a:spcPts val="400"/>
              </a:spcAft>
            </a:pPr>
            <a:r>
              <a:rPr sz="1350" b="0">
                <a:solidFill>
                  <a:srgbClr val="5A6B63"/>
                </a:solidFill>
                <a:latin typeface="Calibri"/>
              </a:rPr>
              <a:t>Agregación de perfil, flota disponible y arriendos activos en una única petición de red.</a:t>
            </a:r>
          </a:p>
        </p:txBody>
      </p:sp>
      <p:sp>
        <p:nvSpPr>
          <p:cNvPr id="23" name="TextBox 22"/>
          <p:cNvSpPr txBox="1"/>
          <p:nvPr/>
        </p:nvSpPr>
        <p:spPr>
          <a:xfrm>
            <a:off x="502920" y="6473952"/>
            <a:ext cx="5486400" cy="274320"/>
          </a:xfrm>
          <a:prstGeom prst="rect">
            <a:avLst/>
          </a:prstGeom>
          <a:noFill/>
        </p:spPr>
        <p:txBody>
          <a:bodyPr wrap="square" anchor="t" lIns="25400" rIns="25400" tIns="12700" bIns="12700">
            <a:spAutoFit/>
          </a:bodyPr>
          <a:lstStyle/>
          <a:p>
            <a:pPr algn="l">
              <a:spcBef>
                <a:spcPts val="0"/>
              </a:spcBef>
              <a:spcAft>
                <a:spcPts val="400"/>
              </a:spcAft>
            </a:pPr>
            <a:r>
              <a:rPr sz="900" b="0">
                <a:solidFill>
                  <a:srgbClr val="5A6B63"/>
                </a:solidFill>
                <a:latin typeface="Calibri"/>
              </a:rPr>
              <a:t>VeloUrbe · Informe Técnico de Arquitectura</a:t>
            </a:r>
          </a:p>
        </p:txBody>
      </p:sp>
      <p:sp>
        <p:nvSpPr>
          <p:cNvPr id="24" name="Rectangle 23"/>
          <p:cNvSpPr/>
          <p:nvPr/>
        </p:nvSpPr>
        <p:spPr>
          <a:xfrm>
            <a:off x="11475720" y="6437376"/>
            <a:ext cx="457200" cy="310896"/>
          </a:xfrm>
          <a:prstGeom prst="rect">
            <a:avLst/>
          </a:prstGeom>
          <a:solidFill>
            <a:srgbClr val="E8F1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000" b="1">
                <a:solidFill>
                  <a:srgbClr val="2E9E5B"/>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162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38100"/>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365760"/>
          </a:xfrm>
          <a:prstGeom prst="rect">
            <a:avLst/>
          </a:prstGeom>
          <a:noFill/>
        </p:spPr>
        <p:txBody>
          <a:bodyPr wrap="square" anchor="t" lIns="25400" rIns="25400" tIns="12700" bIns="12700">
            <a:spAutoFit/>
          </a:bodyPr>
          <a:lstStyle/>
          <a:p>
            <a:pPr algn="l">
              <a:spcBef>
                <a:spcPts val="0"/>
              </a:spcBef>
              <a:spcAft>
                <a:spcPts val="400"/>
              </a:spcAft>
            </a:pPr>
            <a:r>
              <a:rPr sz="1200" b="1">
                <a:solidFill>
                  <a:srgbClr val="7FC83D"/>
                </a:solidFill>
                <a:latin typeface="Calibri"/>
              </a:rPr>
              <a:t>2 · DESARROLLO</a:t>
            </a:r>
          </a:p>
        </p:txBody>
      </p:sp>
      <p:sp>
        <p:nvSpPr>
          <p:cNvPr id="5" name="TextBox 4"/>
          <p:cNvSpPr txBox="1"/>
          <p:nvPr/>
        </p:nvSpPr>
        <p:spPr>
          <a:xfrm>
            <a:off x="502920" y="457200"/>
            <a:ext cx="10515600" cy="566928"/>
          </a:xfrm>
          <a:prstGeom prst="rect">
            <a:avLst/>
          </a:prstGeom>
          <a:noFill/>
        </p:spPr>
        <p:txBody>
          <a:bodyPr wrap="square" anchor="t" lIns="25400" rIns="25400" tIns="12700" bIns="12700">
            <a:spAutoFit/>
          </a:bodyPr>
          <a:lstStyle/>
          <a:p>
            <a:pPr algn="l">
              <a:spcBef>
                <a:spcPts val="0"/>
              </a:spcBef>
              <a:spcAft>
                <a:spcPts val="400"/>
              </a:spcAft>
            </a:pPr>
            <a:r>
              <a:rPr sz="2700" b="1">
                <a:solidFill>
                  <a:srgbClr val="FFFFFF"/>
                </a:solidFill>
                <a:latin typeface="Calibri"/>
              </a:rPr>
              <a:t>Requerimientos No Funcionales</a:t>
            </a:r>
          </a:p>
        </p:txBody>
      </p:sp>
      <p:sp>
        <p:nvSpPr>
          <p:cNvPr id="6" name="Oval 5"/>
          <p:cNvSpPr/>
          <p:nvPr/>
        </p:nvSpPr>
        <p:spPr>
          <a:xfrm>
            <a:off x="11018520" y="274320"/>
            <a:ext cx="713232" cy="71323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2200" b="1">
                <a:solidFill>
                  <a:srgbClr val="FFFFFF"/>
                </a:solidFill>
                <a:latin typeface="Calibri"/>
              </a:rPr>
              <a:t>RNF</a:t>
            </a:r>
          </a:p>
        </p:txBody>
      </p:sp>
      <p:sp>
        <p:nvSpPr>
          <p:cNvPr id="7" name="Rectangle 6"/>
          <p:cNvSpPr/>
          <p:nvPr/>
        </p:nvSpPr>
        <p:spPr>
          <a:xfrm>
            <a:off x="502920" y="1417320"/>
            <a:ext cx="3611880" cy="1554480"/>
          </a:xfrm>
          <a:prstGeom prst="rect">
            <a:avLst/>
          </a:prstGeom>
          <a:solidFill>
            <a:srgbClr val="FFFFFF"/>
          </a:solidFill>
          <a:ln w="1524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417320"/>
            <a:ext cx="109728" cy="1554480"/>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81912"/>
            <a:ext cx="3154680" cy="457200"/>
          </a:xfrm>
          <a:prstGeom prst="rect">
            <a:avLst/>
          </a:prstGeom>
          <a:noFill/>
        </p:spPr>
        <p:txBody>
          <a:bodyPr wrap="square" anchor="t" lIns="25400" rIns="25400" tIns="12700" bIns="12700">
            <a:spAutoFit/>
          </a:bodyPr>
          <a:lstStyle/>
          <a:p>
            <a:pPr algn="l">
              <a:spcBef>
                <a:spcPts val="0"/>
              </a:spcBef>
              <a:spcAft>
                <a:spcPts val="400"/>
              </a:spcAft>
            </a:pPr>
            <a:r>
              <a:rPr sz="1600" b="1">
                <a:solidFill>
                  <a:srgbClr val="2E9E5B"/>
                </a:solidFill>
                <a:latin typeface="Calibri"/>
              </a:rPr>
              <a:t>🔒  Seguridad</a:t>
            </a:r>
          </a:p>
        </p:txBody>
      </p:sp>
      <p:sp>
        <p:nvSpPr>
          <p:cNvPr id="10" name="TextBox 9"/>
          <p:cNvSpPr txBox="1"/>
          <p:nvPr/>
        </p:nvSpPr>
        <p:spPr>
          <a:xfrm>
            <a:off x="777240" y="2075688"/>
            <a:ext cx="3108960" cy="822960"/>
          </a:xfrm>
          <a:prstGeom prst="rect">
            <a:avLst/>
          </a:prstGeom>
          <a:noFill/>
        </p:spPr>
        <p:txBody>
          <a:bodyPr wrap="square" anchor="t" lIns="25400" rIns="25400" tIns="12700" bIns="12700">
            <a:spAutoFit/>
          </a:bodyPr>
          <a:lstStyle/>
          <a:p>
            <a:pPr algn="l">
              <a:spcBef>
                <a:spcPts val="0"/>
              </a:spcBef>
              <a:spcAft>
                <a:spcPts val="400"/>
              </a:spcAft>
            </a:pPr>
            <a:r>
              <a:rPr sz="1250" b="0">
                <a:solidFill>
                  <a:srgbClr val="5A6B63"/>
                </a:solidFill>
                <a:latin typeface="Calibri"/>
              </a:rPr>
              <a:t>Autenticación stateless validada por JwtAuthFilter en cada microservicio. Contraseñas con BCrypt.</a:t>
            </a:r>
          </a:p>
        </p:txBody>
      </p:sp>
      <p:sp>
        <p:nvSpPr>
          <p:cNvPr id="11" name="Rectangle 10"/>
          <p:cNvSpPr/>
          <p:nvPr/>
        </p:nvSpPr>
        <p:spPr>
          <a:xfrm>
            <a:off x="4279392" y="1417320"/>
            <a:ext cx="3611880" cy="1554480"/>
          </a:xfrm>
          <a:prstGeom prst="rect">
            <a:avLst/>
          </a:prstGeom>
          <a:solidFill>
            <a:srgbClr val="FFFFFF"/>
          </a:solidFill>
          <a:ln w="1524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79392" y="1417320"/>
            <a:ext cx="109728" cy="155448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1581912"/>
            <a:ext cx="3154680" cy="457200"/>
          </a:xfrm>
          <a:prstGeom prst="rect">
            <a:avLst/>
          </a:prstGeom>
          <a:noFill/>
        </p:spPr>
        <p:txBody>
          <a:bodyPr wrap="square" anchor="t" lIns="25400" rIns="25400" tIns="12700" bIns="12700">
            <a:spAutoFit/>
          </a:bodyPr>
          <a:lstStyle/>
          <a:p>
            <a:pPr algn="l">
              <a:spcBef>
                <a:spcPts val="0"/>
              </a:spcBef>
              <a:spcAft>
                <a:spcPts val="400"/>
              </a:spcAft>
            </a:pPr>
            <a:r>
              <a:rPr sz="1600" b="1">
                <a:solidFill>
                  <a:srgbClr val="00897B"/>
                </a:solidFill>
                <a:latin typeface="Calibri"/>
              </a:rPr>
              <a:t>🐳  Infraestructura</a:t>
            </a:r>
          </a:p>
        </p:txBody>
      </p:sp>
      <p:sp>
        <p:nvSpPr>
          <p:cNvPr id="14" name="TextBox 13"/>
          <p:cNvSpPr txBox="1"/>
          <p:nvPr/>
        </p:nvSpPr>
        <p:spPr>
          <a:xfrm>
            <a:off x="4553712" y="2075688"/>
            <a:ext cx="3108960" cy="822960"/>
          </a:xfrm>
          <a:prstGeom prst="rect">
            <a:avLst/>
          </a:prstGeom>
          <a:noFill/>
        </p:spPr>
        <p:txBody>
          <a:bodyPr wrap="square" anchor="t" lIns="25400" rIns="25400" tIns="12700" bIns="12700">
            <a:spAutoFit/>
          </a:bodyPr>
          <a:lstStyle/>
          <a:p>
            <a:pPr algn="l">
              <a:spcBef>
                <a:spcPts val="0"/>
              </a:spcBef>
              <a:spcAft>
                <a:spcPts val="400"/>
              </a:spcAft>
            </a:pPr>
            <a:r>
              <a:rPr sz="1250" b="0">
                <a:solidFill>
                  <a:srgbClr val="5A6B63"/>
                </a:solidFill>
                <a:latin typeface="Calibri"/>
              </a:rPr>
              <a:t>Despliegue en contenedores Docker. Bases de datos PostgreSQL independientes por dominio.</a:t>
            </a:r>
          </a:p>
        </p:txBody>
      </p:sp>
      <p:sp>
        <p:nvSpPr>
          <p:cNvPr id="15" name="Rectangle 14"/>
          <p:cNvSpPr/>
          <p:nvPr/>
        </p:nvSpPr>
        <p:spPr>
          <a:xfrm>
            <a:off x="8055864" y="1417320"/>
            <a:ext cx="3611880" cy="1554480"/>
          </a:xfrm>
          <a:prstGeom prst="rect">
            <a:avLst/>
          </a:prstGeom>
          <a:solidFill>
            <a:srgbClr val="FFFFFF"/>
          </a:solidFill>
          <a:ln w="1524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55864" y="1417320"/>
            <a:ext cx="109728" cy="1554480"/>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0184" y="1581912"/>
            <a:ext cx="3154680" cy="457200"/>
          </a:xfrm>
          <a:prstGeom prst="rect">
            <a:avLst/>
          </a:prstGeom>
          <a:noFill/>
        </p:spPr>
        <p:txBody>
          <a:bodyPr wrap="square" anchor="t" lIns="25400" rIns="25400" tIns="12700" bIns="12700">
            <a:spAutoFit/>
          </a:bodyPr>
          <a:lstStyle/>
          <a:p>
            <a:pPr algn="l">
              <a:spcBef>
                <a:spcPts val="0"/>
              </a:spcBef>
              <a:spcAft>
                <a:spcPts val="400"/>
              </a:spcAft>
            </a:pPr>
            <a:r>
              <a:rPr sz="1600" b="1">
                <a:solidFill>
                  <a:srgbClr val="2D6CDF"/>
                </a:solidFill>
                <a:latin typeface="Calibri"/>
              </a:rPr>
              <a:t>📊  Trazabilidad</a:t>
            </a:r>
          </a:p>
        </p:txBody>
      </p:sp>
      <p:sp>
        <p:nvSpPr>
          <p:cNvPr id="18" name="TextBox 17"/>
          <p:cNvSpPr txBox="1"/>
          <p:nvPr/>
        </p:nvSpPr>
        <p:spPr>
          <a:xfrm>
            <a:off x="8330184" y="2075688"/>
            <a:ext cx="3108960" cy="822960"/>
          </a:xfrm>
          <a:prstGeom prst="rect">
            <a:avLst/>
          </a:prstGeom>
          <a:noFill/>
        </p:spPr>
        <p:txBody>
          <a:bodyPr wrap="square" anchor="t" lIns="25400" rIns="25400" tIns="12700" bIns="12700">
            <a:spAutoFit/>
          </a:bodyPr>
          <a:lstStyle/>
          <a:p>
            <a:pPr algn="l">
              <a:spcBef>
                <a:spcPts val="0"/>
              </a:spcBef>
              <a:spcAft>
                <a:spcPts val="400"/>
              </a:spcAft>
            </a:pPr>
            <a:r>
              <a:rPr sz="1250" b="0">
                <a:solidFill>
                  <a:srgbClr val="5A6B63"/>
                </a:solidFill>
                <a:latin typeface="Calibri"/>
              </a:rPr>
              <a:t>Logging estructurado en JSON (logstash-logback-encoder) para indexación y monitoreo central.</a:t>
            </a:r>
          </a:p>
        </p:txBody>
      </p:sp>
      <p:sp>
        <p:nvSpPr>
          <p:cNvPr id="19" name="Rectangle 18"/>
          <p:cNvSpPr/>
          <p:nvPr/>
        </p:nvSpPr>
        <p:spPr>
          <a:xfrm>
            <a:off x="502920" y="3154680"/>
            <a:ext cx="3611880" cy="1554480"/>
          </a:xfrm>
          <a:prstGeom prst="rect">
            <a:avLst/>
          </a:prstGeom>
          <a:solidFill>
            <a:srgbClr val="FFFFFF"/>
          </a:solidFill>
          <a:ln w="1524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3154680"/>
            <a:ext cx="109728" cy="155448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3319272"/>
            <a:ext cx="3154680" cy="457200"/>
          </a:xfrm>
          <a:prstGeom prst="rect">
            <a:avLst/>
          </a:prstGeom>
          <a:noFill/>
        </p:spPr>
        <p:txBody>
          <a:bodyPr wrap="square" anchor="t" lIns="25400" rIns="25400" tIns="12700" bIns="12700">
            <a:spAutoFit/>
          </a:bodyPr>
          <a:lstStyle/>
          <a:p>
            <a:pPr algn="l">
              <a:spcBef>
                <a:spcPts val="0"/>
              </a:spcBef>
              <a:spcAft>
                <a:spcPts val="400"/>
              </a:spcAft>
            </a:pPr>
            <a:r>
              <a:rPr sz="1600" b="1">
                <a:solidFill>
                  <a:srgbClr val="E87A1E"/>
                </a:solidFill>
                <a:latin typeface="Calibri"/>
              </a:rPr>
              <a:t>✨  Calidad de Código</a:t>
            </a:r>
          </a:p>
        </p:txBody>
      </p:sp>
      <p:sp>
        <p:nvSpPr>
          <p:cNvPr id="22" name="TextBox 21"/>
          <p:cNvSpPr txBox="1"/>
          <p:nvPr/>
        </p:nvSpPr>
        <p:spPr>
          <a:xfrm>
            <a:off x="777240" y="3813048"/>
            <a:ext cx="3108960" cy="822960"/>
          </a:xfrm>
          <a:prstGeom prst="rect">
            <a:avLst/>
          </a:prstGeom>
          <a:noFill/>
        </p:spPr>
        <p:txBody>
          <a:bodyPr wrap="square" anchor="t" lIns="25400" rIns="25400" tIns="12700" bIns="12700">
            <a:spAutoFit/>
          </a:bodyPr>
          <a:lstStyle/>
          <a:p>
            <a:pPr algn="l">
              <a:spcBef>
                <a:spcPts val="0"/>
              </a:spcBef>
              <a:spcAft>
                <a:spcPts val="400"/>
              </a:spcAft>
            </a:pPr>
            <a:r>
              <a:rPr sz="1250" b="0">
                <a:solidFill>
                  <a:srgbClr val="5A6B63"/>
                </a:solidFill>
                <a:latin typeface="Calibri"/>
              </a:rPr>
              <a:t>DTOs inmutables con Java Records y respuestas RESTful con convenciones HATEOAS.</a:t>
            </a:r>
          </a:p>
        </p:txBody>
      </p:sp>
      <p:sp>
        <p:nvSpPr>
          <p:cNvPr id="23" name="Rectangle 22"/>
          <p:cNvSpPr/>
          <p:nvPr/>
        </p:nvSpPr>
        <p:spPr>
          <a:xfrm>
            <a:off x="4279392" y="3154680"/>
            <a:ext cx="3611880" cy="1554480"/>
          </a:xfrm>
          <a:prstGeom prst="rect">
            <a:avLst/>
          </a:prstGeom>
          <a:solidFill>
            <a:srgbClr val="FFFFFF"/>
          </a:solidFill>
          <a:ln w="1524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279392" y="3154680"/>
            <a:ext cx="109728" cy="155448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53712" y="3319272"/>
            <a:ext cx="3154680" cy="457200"/>
          </a:xfrm>
          <a:prstGeom prst="rect">
            <a:avLst/>
          </a:prstGeom>
          <a:noFill/>
        </p:spPr>
        <p:txBody>
          <a:bodyPr wrap="square" anchor="t" lIns="25400" rIns="25400" tIns="12700" bIns="12700">
            <a:spAutoFit/>
          </a:bodyPr>
          <a:lstStyle/>
          <a:p>
            <a:pPr algn="l">
              <a:spcBef>
                <a:spcPts val="0"/>
              </a:spcBef>
              <a:spcAft>
                <a:spcPts val="400"/>
              </a:spcAft>
            </a:pPr>
            <a:r>
              <a:rPr sz="1600" b="1">
                <a:solidFill>
                  <a:srgbClr val="00897B"/>
                </a:solidFill>
                <a:latin typeface="Calibri"/>
              </a:rPr>
              <a:t>📈  Escalabilidad</a:t>
            </a:r>
          </a:p>
        </p:txBody>
      </p:sp>
      <p:sp>
        <p:nvSpPr>
          <p:cNvPr id="26" name="TextBox 25"/>
          <p:cNvSpPr txBox="1"/>
          <p:nvPr/>
        </p:nvSpPr>
        <p:spPr>
          <a:xfrm>
            <a:off x="4553712" y="3813048"/>
            <a:ext cx="3108960" cy="822960"/>
          </a:xfrm>
          <a:prstGeom prst="rect">
            <a:avLst/>
          </a:prstGeom>
          <a:noFill/>
        </p:spPr>
        <p:txBody>
          <a:bodyPr wrap="square" anchor="t" lIns="25400" rIns="25400" tIns="12700" bIns="12700">
            <a:spAutoFit/>
          </a:bodyPr>
          <a:lstStyle/>
          <a:p>
            <a:pPr algn="l">
              <a:spcBef>
                <a:spcPts val="0"/>
              </a:spcBef>
              <a:spcAft>
                <a:spcPts val="400"/>
              </a:spcAft>
            </a:pPr>
            <a:r>
              <a:rPr sz="1250" b="0">
                <a:solidFill>
                  <a:srgbClr val="5A6B63"/>
                </a:solidFill>
                <a:latin typeface="Calibri"/>
              </a:rPr>
              <a:t>Bounded Contexts desacoplados que permiten escalar horizontalmente cada servicio.</a:t>
            </a:r>
          </a:p>
        </p:txBody>
      </p:sp>
      <p:sp>
        <p:nvSpPr>
          <p:cNvPr id="27" name="Rectangle 26"/>
          <p:cNvSpPr/>
          <p:nvPr/>
        </p:nvSpPr>
        <p:spPr>
          <a:xfrm>
            <a:off x="8055864" y="3154680"/>
            <a:ext cx="3611880" cy="1554480"/>
          </a:xfrm>
          <a:prstGeom prst="rect">
            <a:avLst/>
          </a:prstGeom>
          <a:solidFill>
            <a:srgbClr val="FFFFFF"/>
          </a:solidFill>
          <a:ln w="1524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55864" y="3154680"/>
            <a:ext cx="109728" cy="1554480"/>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30184" y="3319272"/>
            <a:ext cx="3154680" cy="457200"/>
          </a:xfrm>
          <a:prstGeom prst="rect">
            <a:avLst/>
          </a:prstGeom>
          <a:noFill/>
        </p:spPr>
        <p:txBody>
          <a:bodyPr wrap="square" anchor="t" lIns="25400" rIns="25400" tIns="12700" bIns="12700">
            <a:spAutoFit/>
          </a:bodyPr>
          <a:lstStyle/>
          <a:p>
            <a:pPr algn="l">
              <a:spcBef>
                <a:spcPts val="0"/>
              </a:spcBef>
              <a:spcAft>
                <a:spcPts val="400"/>
              </a:spcAft>
            </a:pPr>
            <a:r>
              <a:rPr sz="1600" b="1">
                <a:solidFill>
                  <a:srgbClr val="2E9E5B"/>
                </a:solidFill>
                <a:latin typeface="Calibri"/>
              </a:rPr>
              <a:t>⚡  Resiliencia</a:t>
            </a:r>
          </a:p>
        </p:txBody>
      </p:sp>
      <p:sp>
        <p:nvSpPr>
          <p:cNvPr id="30" name="TextBox 29"/>
          <p:cNvSpPr txBox="1"/>
          <p:nvPr/>
        </p:nvSpPr>
        <p:spPr>
          <a:xfrm>
            <a:off x="8330184" y="3813048"/>
            <a:ext cx="3108960" cy="822960"/>
          </a:xfrm>
          <a:prstGeom prst="rect">
            <a:avLst/>
          </a:prstGeom>
          <a:noFill/>
        </p:spPr>
        <p:txBody>
          <a:bodyPr wrap="square" anchor="t" lIns="25400" rIns="25400" tIns="12700" bIns="12700">
            <a:spAutoFit/>
          </a:bodyPr>
          <a:lstStyle/>
          <a:p>
            <a:pPr algn="l">
              <a:spcBef>
                <a:spcPts val="0"/>
              </a:spcBef>
              <a:spcAft>
                <a:spcPts val="400"/>
              </a:spcAft>
            </a:pPr>
            <a:r>
              <a:rPr sz="1250" b="0">
                <a:solidFill>
                  <a:srgbClr val="5A6B63"/>
                </a:solidFill>
                <a:latin typeface="Calibri"/>
              </a:rPr>
              <a:t>BFF con llamadas no bloqueantes vía WebClient; servicios independientes y tolerantes a fallos.</a:t>
            </a:r>
          </a:p>
        </p:txBody>
      </p:sp>
      <p:sp>
        <p:nvSpPr>
          <p:cNvPr id="31" name="TextBox 30"/>
          <p:cNvSpPr txBox="1"/>
          <p:nvPr/>
        </p:nvSpPr>
        <p:spPr>
          <a:xfrm>
            <a:off x="502920" y="6473952"/>
            <a:ext cx="5486400" cy="274320"/>
          </a:xfrm>
          <a:prstGeom prst="rect">
            <a:avLst/>
          </a:prstGeom>
          <a:noFill/>
        </p:spPr>
        <p:txBody>
          <a:bodyPr wrap="square" anchor="t" lIns="25400" rIns="25400" tIns="12700" bIns="12700">
            <a:spAutoFit/>
          </a:bodyPr>
          <a:lstStyle/>
          <a:p>
            <a:pPr algn="l">
              <a:spcBef>
                <a:spcPts val="0"/>
              </a:spcBef>
              <a:spcAft>
                <a:spcPts val="400"/>
              </a:spcAft>
            </a:pPr>
            <a:r>
              <a:rPr sz="900" b="0">
                <a:solidFill>
                  <a:srgbClr val="5A6B63"/>
                </a:solidFill>
                <a:latin typeface="Calibri"/>
              </a:rPr>
              <a:t>VeloUrbe · Informe Técnico de Arquitectura</a:t>
            </a:r>
          </a:p>
        </p:txBody>
      </p:sp>
      <p:sp>
        <p:nvSpPr>
          <p:cNvPr id="32" name="Rectangle 31"/>
          <p:cNvSpPr/>
          <p:nvPr/>
        </p:nvSpPr>
        <p:spPr>
          <a:xfrm>
            <a:off x="11475720" y="6437376"/>
            <a:ext cx="457200" cy="310896"/>
          </a:xfrm>
          <a:prstGeom prst="rect">
            <a:avLst/>
          </a:prstGeom>
          <a:solidFill>
            <a:srgbClr val="E8F1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000" b="1">
                <a:solidFill>
                  <a:srgbClr val="2E9E5B"/>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162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38100"/>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365760"/>
          </a:xfrm>
          <a:prstGeom prst="rect">
            <a:avLst/>
          </a:prstGeom>
          <a:noFill/>
        </p:spPr>
        <p:txBody>
          <a:bodyPr wrap="square" anchor="t" lIns="25400" rIns="25400" tIns="12700" bIns="12700">
            <a:spAutoFit/>
          </a:bodyPr>
          <a:lstStyle/>
          <a:p>
            <a:pPr algn="l">
              <a:spcBef>
                <a:spcPts val="0"/>
              </a:spcBef>
              <a:spcAft>
                <a:spcPts val="400"/>
              </a:spcAft>
            </a:pPr>
            <a:r>
              <a:rPr sz="1200" b="1">
                <a:solidFill>
                  <a:srgbClr val="7FC83D"/>
                </a:solidFill>
                <a:latin typeface="Calibri"/>
              </a:rPr>
              <a:t>2 · DESARROLLO</a:t>
            </a:r>
          </a:p>
        </p:txBody>
      </p:sp>
      <p:sp>
        <p:nvSpPr>
          <p:cNvPr id="5" name="TextBox 4"/>
          <p:cNvSpPr txBox="1"/>
          <p:nvPr/>
        </p:nvSpPr>
        <p:spPr>
          <a:xfrm>
            <a:off x="502920" y="457200"/>
            <a:ext cx="10515600" cy="566928"/>
          </a:xfrm>
          <a:prstGeom prst="rect">
            <a:avLst/>
          </a:prstGeom>
          <a:noFill/>
        </p:spPr>
        <p:txBody>
          <a:bodyPr wrap="square" anchor="t" lIns="25400" rIns="25400" tIns="12700" bIns="12700">
            <a:spAutoFit/>
          </a:bodyPr>
          <a:lstStyle/>
          <a:p>
            <a:pPr algn="l">
              <a:spcBef>
                <a:spcPts val="0"/>
              </a:spcBef>
              <a:spcAft>
                <a:spcPts val="400"/>
              </a:spcAft>
            </a:pPr>
            <a:r>
              <a:rPr sz="2700" b="1">
                <a:solidFill>
                  <a:srgbClr val="FFFFFF"/>
                </a:solidFill>
                <a:latin typeface="Calibri"/>
              </a:rPr>
              <a:t>Casos de Uso Principales</a:t>
            </a:r>
          </a:p>
        </p:txBody>
      </p:sp>
      <p:sp>
        <p:nvSpPr>
          <p:cNvPr id="6" name="Oval 5"/>
          <p:cNvSpPr/>
          <p:nvPr/>
        </p:nvSpPr>
        <p:spPr>
          <a:xfrm>
            <a:off x="11018520" y="274320"/>
            <a:ext cx="713232" cy="71323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2200" b="1">
                <a:solidFill>
                  <a:srgbClr val="FFFFFF"/>
                </a:solidFill>
                <a:latin typeface="Calibri"/>
              </a:rPr>
              <a:t>CU</a:t>
            </a:r>
          </a:p>
        </p:txBody>
      </p:sp>
      <p:sp>
        <p:nvSpPr>
          <p:cNvPr id="7" name="Rectangle 6"/>
          <p:cNvSpPr/>
          <p:nvPr/>
        </p:nvSpPr>
        <p:spPr>
          <a:xfrm>
            <a:off x="502920" y="1554480"/>
            <a:ext cx="11201400" cy="1417320"/>
          </a:xfrm>
          <a:prstGeom prst="rect">
            <a:avLst/>
          </a:prstGeom>
          <a:solidFill>
            <a:srgbClr val="E8F1EC"/>
          </a:solidFill>
          <a:ln>
            <a:no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1938528"/>
            <a:ext cx="640080" cy="64008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2600" b="1">
                <a:solidFill>
                  <a:srgbClr val="FFFFFF"/>
                </a:solidFill>
                <a:latin typeface="Calibri"/>
              </a:rPr>
              <a:t>1</a:t>
            </a:r>
          </a:p>
        </p:txBody>
      </p:sp>
      <p:sp>
        <p:nvSpPr>
          <p:cNvPr id="9" name="TextBox 8"/>
          <p:cNvSpPr txBox="1"/>
          <p:nvPr/>
        </p:nvSpPr>
        <p:spPr>
          <a:xfrm>
            <a:off x="1737360" y="1773936"/>
            <a:ext cx="9692640" cy="457200"/>
          </a:xfrm>
          <a:prstGeom prst="rect">
            <a:avLst/>
          </a:prstGeom>
          <a:noFill/>
        </p:spPr>
        <p:txBody>
          <a:bodyPr wrap="square" anchor="t" lIns="25400" rIns="25400" tIns="12700" bIns="12700">
            <a:spAutoFit/>
          </a:bodyPr>
          <a:lstStyle/>
          <a:p>
            <a:pPr algn="l">
              <a:spcBef>
                <a:spcPts val="0"/>
              </a:spcBef>
              <a:spcAft>
                <a:spcPts val="400"/>
              </a:spcAft>
            </a:pPr>
            <a:r>
              <a:rPr sz="1900" b="1">
                <a:solidFill>
                  <a:srgbClr val="162A22"/>
                </a:solidFill>
                <a:latin typeface="Calibri"/>
              </a:rPr>
              <a:t>Registro y Autenticación</a:t>
            </a:r>
          </a:p>
        </p:txBody>
      </p:sp>
      <p:sp>
        <p:nvSpPr>
          <p:cNvPr id="10" name="TextBox 9"/>
          <p:cNvSpPr txBox="1"/>
          <p:nvPr/>
        </p:nvSpPr>
        <p:spPr>
          <a:xfrm>
            <a:off x="1737360" y="2231136"/>
            <a:ext cx="9692640" cy="640080"/>
          </a:xfrm>
          <a:prstGeom prst="rect">
            <a:avLst/>
          </a:prstGeom>
          <a:noFill/>
        </p:spPr>
        <p:txBody>
          <a:bodyPr wrap="square" anchor="t" lIns="25400" rIns="25400" tIns="12700" bIns="12700">
            <a:spAutoFit/>
          </a:bodyPr>
          <a:lstStyle/>
          <a:p>
            <a:pPr algn="l">
              <a:spcBef>
                <a:spcPts val="0"/>
              </a:spcBef>
              <a:spcAft>
                <a:spcPts val="400"/>
              </a:spcAft>
            </a:pPr>
            <a:r>
              <a:rPr sz="1350" b="0">
                <a:solidFill>
                  <a:srgbClr val="5A6B63"/>
                </a:solidFill>
                <a:latin typeface="Calibri"/>
              </a:rPr>
              <a:t>El cliente envía credenciales al Gateway → pasan por el BFF al servicio de auth → se hashean y persisten → retorna un JWT que habilita el acceso a los módulos protegidos.</a:t>
            </a:r>
          </a:p>
        </p:txBody>
      </p:sp>
      <p:sp>
        <p:nvSpPr>
          <p:cNvPr id="11" name="Rectangle 10"/>
          <p:cNvSpPr/>
          <p:nvPr/>
        </p:nvSpPr>
        <p:spPr>
          <a:xfrm>
            <a:off x="502920" y="3118104"/>
            <a:ext cx="11201400" cy="1417320"/>
          </a:xfrm>
          <a:prstGeom prst="rect">
            <a:avLst/>
          </a:prstGeom>
          <a:solidFill>
            <a:srgbClr val="E8F1EC"/>
          </a:solidFill>
          <a:ln>
            <a:no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77240" y="3502152"/>
            <a:ext cx="640080" cy="640080"/>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2600" b="1">
                <a:solidFill>
                  <a:srgbClr val="FFFFFF"/>
                </a:solidFill>
                <a:latin typeface="Calibri"/>
              </a:rPr>
              <a:t>2</a:t>
            </a:r>
          </a:p>
        </p:txBody>
      </p:sp>
      <p:sp>
        <p:nvSpPr>
          <p:cNvPr id="13" name="TextBox 12"/>
          <p:cNvSpPr txBox="1"/>
          <p:nvPr/>
        </p:nvSpPr>
        <p:spPr>
          <a:xfrm>
            <a:off x="1737360" y="3337560"/>
            <a:ext cx="9692640" cy="457200"/>
          </a:xfrm>
          <a:prstGeom prst="rect">
            <a:avLst/>
          </a:prstGeom>
          <a:noFill/>
        </p:spPr>
        <p:txBody>
          <a:bodyPr wrap="square" anchor="t" lIns="25400" rIns="25400" tIns="12700" bIns="12700">
            <a:spAutoFit/>
          </a:bodyPr>
          <a:lstStyle/>
          <a:p>
            <a:pPr algn="l">
              <a:spcBef>
                <a:spcPts val="0"/>
              </a:spcBef>
              <a:spcAft>
                <a:spcPts val="400"/>
              </a:spcAft>
            </a:pPr>
            <a:r>
              <a:rPr sz="1900" b="1">
                <a:solidFill>
                  <a:srgbClr val="162A22"/>
                </a:solidFill>
                <a:latin typeface="Calibri"/>
              </a:rPr>
              <a:t>Ciclo de Vida del Arriendo</a:t>
            </a:r>
          </a:p>
        </p:txBody>
      </p:sp>
      <p:sp>
        <p:nvSpPr>
          <p:cNvPr id="14" name="TextBox 13"/>
          <p:cNvSpPr txBox="1"/>
          <p:nvPr/>
        </p:nvSpPr>
        <p:spPr>
          <a:xfrm>
            <a:off x="1737360" y="3794760"/>
            <a:ext cx="9692640" cy="640080"/>
          </a:xfrm>
          <a:prstGeom prst="rect">
            <a:avLst/>
          </a:prstGeom>
          <a:noFill/>
        </p:spPr>
        <p:txBody>
          <a:bodyPr wrap="square" anchor="t" lIns="25400" rIns="25400" tIns="12700" bIns="12700">
            <a:spAutoFit/>
          </a:bodyPr>
          <a:lstStyle/>
          <a:p>
            <a:pPr algn="l">
              <a:spcBef>
                <a:spcPts val="0"/>
              </a:spcBef>
              <a:spcAft>
                <a:spcPts val="400"/>
              </a:spcAft>
            </a:pPr>
            <a:r>
              <a:rPr sz="1350" b="0">
                <a:solidFill>
                  <a:srgbClr val="5A6B63"/>
                </a:solidFill>
                <a:latin typeface="Calibri"/>
              </a:rPr>
              <a:t>Usuario autenticado solicita iniciar un viaje → se verifica disponibilidad transaccional → el scooter pasa a 'en uso' → al finalizar se libera el recurso y se contabiliza el tiempo.</a:t>
            </a:r>
          </a:p>
        </p:txBody>
      </p:sp>
      <p:sp>
        <p:nvSpPr>
          <p:cNvPr id="15" name="Rectangle 14"/>
          <p:cNvSpPr/>
          <p:nvPr/>
        </p:nvSpPr>
        <p:spPr>
          <a:xfrm>
            <a:off x="502920" y="4681728"/>
            <a:ext cx="11201400" cy="1417320"/>
          </a:xfrm>
          <a:prstGeom prst="rect">
            <a:avLst/>
          </a:prstGeom>
          <a:solidFill>
            <a:srgbClr val="E8F1EC"/>
          </a:solidFill>
          <a:ln>
            <a:no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77240" y="5065776"/>
            <a:ext cx="640080" cy="640080"/>
          </a:xfrm>
          <a:prstGeom prst="ellipse">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2600" b="1">
                <a:solidFill>
                  <a:srgbClr val="FFFFFF"/>
                </a:solidFill>
                <a:latin typeface="Calibri"/>
              </a:rPr>
              <a:t>3</a:t>
            </a:r>
          </a:p>
        </p:txBody>
      </p:sp>
      <p:sp>
        <p:nvSpPr>
          <p:cNvPr id="17" name="TextBox 16"/>
          <p:cNvSpPr txBox="1"/>
          <p:nvPr/>
        </p:nvSpPr>
        <p:spPr>
          <a:xfrm>
            <a:off x="1737360" y="4901184"/>
            <a:ext cx="9692640" cy="457200"/>
          </a:xfrm>
          <a:prstGeom prst="rect">
            <a:avLst/>
          </a:prstGeom>
          <a:noFill/>
        </p:spPr>
        <p:txBody>
          <a:bodyPr wrap="square" anchor="t" lIns="25400" rIns="25400" tIns="12700" bIns="12700">
            <a:spAutoFit/>
          </a:bodyPr>
          <a:lstStyle/>
          <a:p>
            <a:pPr algn="l">
              <a:spcBef>
                <a:spcPts val="0"/>
              </a:spcBef>
              <a:spcAft>
                <a:spcPts val="400"/>
              </a:spcAft>
            </a:pPr>
            <a:r>
              <a:rPr sz="1900" b="1">
                <a:solidFill>
                  <a:srgbClr val="162A22"/>
                </a:solidFill>
                <a:latin typeface="Calibri"/>
              </a:rPr>
              <a:t>Orquestación del Dashboard</a:t>
            </a:r>
          </a:p>
        </p:txBody>
      </p:sp>
      <p:sp>
        <p:nvSpPr>
          <p:cNvPr id="18" name="TextBox 17"/>
          <p:cNvSpPr txBox="1"/>
          <p:nvPr/>
        </p:nvSpPr>
        <p:spPr>
          <a:xfrm>
            <a:off x="1737360" y="5358384"/>
            <a:ext cx="9692640" cy="640080"/>
          </a:xfrm>
          <a:prstGeom prst="rect">
            <a:avLst/>
          </a:prstGeom>
          <a:noFill/>
        </p:spPr>
        <p:txBody>
          <a:bodyPr wrap="square" anchor="t" lIns="25400" rIns="25400" tIns="12700" bIns="12700">
            <a:spAutoFit/>
          </a:bodyPr>
          <a:lstStyle/>
          <a:p>
            <a:pPr algn="l">
              <a:spcBef>
                <a:spcPts val="0"/>
              </a:spcBef>
              <a:spcAft>
                <a:spcPts val="400"/>
              </a:spcAft>
            </a:pPr>
            <a:r>
              <a:rPr sz="1350" b="0">
                <a:solidFill>
                  <a:srgbClr val="5A6B63"/>
                </a:solidFill>
                <a:latin typeface="Calibri"/>
              </a:rPr>
              <a:t>El cliente consulta al BFF → ejecuta llamadas concurrentes no bloqueantes vía WebClient a los servicios core → ensambla un payload unificado y optimizado.</a:t>
            </a:r>
          </a:p>
        </p:txBody>
      </p:sp>
      <p:sp>
        <p:nvSpPr>
          <p:cNvPr id="19" name="TextBox 18"/>
          <p:cNvSpPr txBox="1"/>
          <p:nvPr/>
        </p:nvSpPr>
        <p:spPr>
          <a:xfrm>
            <a:off x="502920" y="6473952"/>
            <a:ext cx="5486400" cy="274320"/>
          </a:xfrm>
          <a:prstGeom prst="rect">
            <a:avLst/>
          </a:prstGeom>
          <a:noFill/>
        </p:spPr>
        <p:txBody>
          <a:bodyPr wrap="square" anchor="t" lIns="25400" rIns="25400" tIns="12700" bIns="12700">
            <a:spAutoFit/>
          </a:bodyPr>
          <a:lstStyle/>
          <a:p>
            <a:pPr algn="l">
              <a:spcBef>
                <a:spcPts val="0"/>
              </a:spcBef>
              <a:spcAft>
                <a:spcPts val="400"/>
              </a:spcAft>
            </a:pPr>
            <a:r>
              <a:rPr sz="900" b="0">
                <a:solidFill>
                  <a:srgbClr val="5A6B63"/>
                </a:solidFill>
                <a:latin typeface="Calibri"/>
              </a:rPr>
              <a:t>VeloUrbe · Informe Técnico de Arquitectura</a:t>
            </a:r>
          </a:p>
        </p:txBody>
      </p:sp>
      <p:sp>
        <p:nvSpPr>
          <p:cNvPr id="20" name="Rectangle 19"/>
          <p:cNvSpPr/>
          <p:nvPr/>
        </p:nvSpPr>
        <p:spPr>
          <a:xfrm>
            <a:off x="11475720" y="6437376"/>
            <a:ext cx="457200" cy="310896"/>
          </a:xfrm>
          <a:prstGeom prst="rect">
            <a:avLst/>
          </a:prstGeom>
          <a:solidFill>
            <a:srgbClr val="E8F1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000" b="1">
                <a:solidFill>
                  <a:srgbClr val="2E9E5B"/>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162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38100"/>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365760"/>
          </a:xfrm>
          <a:prstGeom prst="rect">
            <a:avLst/>
          </a:prstGeom>
          <a:noFill/>
        </p:spPr>
        <p:txBody>
          <a:bodyPr wrap="square" anchor="t" lIns="25400" rIns="25400" tIns="12700" bIns="12700">
            <a:spAutoFit/>
          </a:bodyPr>
          <a:lstStyle/>
          <a:p>
            <a:pPr algn="l">
              <a:spcBef>
                <a:spcPts val="0"/>
              </a:spcBef>
              <a:spcAft>
                <a:spcPts val="400"/>
              </a:spcAft>
            </a:pPr>
            <a:r>
              <a:rPr sz="1200" b="1">
                <a:solidFill>
                  <a:srgbClr val="7FC83D"/>
                </a:solidFill>
                <a:latin typeface="Calibri"/>
              </a:rPr>
              <a:t>2.2 · ARQUITECTURA</a:t>
            </a:r>
          </a:p>
        </p:txBody>
      </p:sp>
      <p:sp>
        <p:nvSpPr>
          <p:cNvPr id="5" name="TextBox 4"/>
          <p:cNvSpPr txBox="1"/>
          <p:nvPr/>
        </p:nvSpPr>
        <p:spPr>
          <a:xfrm>
            <a:off x="502920" y="457200"/>
            <a:ext cx="10515600" cy="566928"/>
          </a:xfrm>
          <a:prstGeom prst="rect">
            <a:avLst/>
          </a:prstGeom>
          <a:noFill/>
        </p:spPr>
        <p:txBody>
          <a:bodyPr wrap="square" anchor="t" lIns="25400" rIns="25400" tIns="12700" bIns="12700">
            <a:spAutoFit/>
          </a:bodyPr>
          <a:lstStyle/>
          <a:p>
            <a:pPr algn="l">
              <a:spcBef>
                <a:spcPts val="0"/>
              </a:spcBef>
              <a:spcAft>
                <a:spcPts val="400"/>
              </a:spcAft>
            </a:pPr>
            <a:r>
              <a:rPr sz="2700" b="1">
                <a:solidFill>
                  <a:srgbClr val="FFFFFF"/>
                </a:solidFill>
                <a:latin typeface="Calibri"/>
              </a:rPr>
              <a:t>Microservicios de la Plataforma</a:t>
            </a:r>
          </a:p>
        </p:txBody>
      </p:sp>
      <p:sp>
        <p:nvSpPr>
          <p:cNvPr id="6" name="Oval 5"/>
          <p:cNvSpPr/>
          <p:nvPr/>
        </p:nvSpPr>
        <p:spPr>
          <a:xfrm>
            <a:off x="11018520" y="274320"/>
            <a:ext cx="713232" cy="71323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2200" b="1">
                <a:solidFill>
                  <a:srgbClr val="FFFFFF"/>
                </a:solidFill>
                <a:latin typeface="Calibri"/>
              </a:rPr>
              <a:t>MS</a:t>
            </a:r>
          </a:p>
        </p:txBody>
      </p:sp>
      <p:sp>
        <p:nvSpPr>
          <p:cNvPr id="7" name="Rectangle 6"/>
          <p:cNvSpPr/>
          <p:nvPr/>
        </p:nvSpPr>
        <p:spPr>
          <a:xfrm>
            <a:off x="502920" y="1463040"/>
            <a:ext cx="2724912" cy="4206240"/>
          </a:xfrm>
          <a:prstGeom prst="rect">
            <a:avLst/>
          </a:prstGeom>
          <a:solidFill>
            <a:srgbClr val="FFFFFF"/>
          </a:solidFill>
          <a:ln w="1524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463040"/>
            <a:ext cx="2724912" cy="914400"/>
          </a:xfrm>
          <a:prstGeom prst="rect">
            <a:avLst/>
          </a:prstGeom>
          <a:solidFill>
            <a:srgbClr val="162A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450" b="1">
                <a:solidFill>
                  <a:srgbClr val="FFFFFF"/>
                </a:solidFill>
                <a:latin typeface="Calibri"/>
              </a:rPr>
              <a:t>API Gateway</a:t>
            </a:r>
          </a:p>
          <a:p>
            <a:pPr algn="ctr">
              <a:spcBef>
                <a:spcPts val="0"/>
              </a:spcBef>
              <a:spcAft>
                <a:spcPts val="200"/>
              </a:spcAft>
            </a:pPr>
            <a:r>
              <a:rPr sz="1200" b="1">
                <a:solidFill>
                  <a:srgbClr val="DDF0E6"/>
                </a:solidFill>
                <a:latin typeface="Calibri"/>
              </a:rPr>
              <a:t>Puerto 8080</a:t>
            </a:r>
          </a:p>
        </p:txBody>
      </p:sp>
      <p:sp>
        <p:nvSpPr>
          <p:cNvPr id="9" name="TextBox 8"/>
          <p:cNvSpPr txBox="1"/>
          <p:nvPr/>
        </p:nvSpPr>
        <p:spPr>
          <a:xfrm>
            <a:off x="685800" y="2542032"/>
            <a:ext cx="2359152" cy="365760"/>
          </a:xfrm>
          <a:prstGeom prst="rect">
            <a:avLst/>
          </a:prstGeom>
          <a:noFill/>
        </p:spPr>
        <p:txBody>
          <a:bodyPr wrap="square" anchor="t" lIns="25400" rIns="25400" tIns="12700" bIns="12700">
            <a:spAutoFit/>
          </a:bodyPr>
          <a:lstStyle/>
          <a:p>
            <a:pPr algn="l">
              <a:spcBef>
                <a:spcPts val="0"/>
              </a:spcBef>
              <a:spcAft>
                <a:spcPts val="400"/>
              </a:spcAft>
            </a:pPr>
            <a:r>
              <a:rPr sz="1250" b="1">
                <a:solidFill>
                  <a:srgbClr val="162A22"/>
                </a:solidFill>
                <a:latin typeface="Calibri"/>
              </a:rPr>
              <a:t>Spring Cloud Gateway</a:t>
            </a:r>
          </a:p>
        </p:txBody>
      </p:sp>
      <p:sp>
        <p:nvSpPr>
          <p:cNvPr id="10" name="TextBox 9"/>
          <p:cNvSpPr txBox="1"/>
          <p:nvPr/>
        </p:nvSpPr>
        <p:spPr>
          <a:xfrm>
            <a:off x="685800" y="3017520"/>
            <a:ext cx="2359152" cy="1463040"/>
          </a:xfrm>
          <a:prstGeom prst="rect">
            <a:avLst/>
          </a:prstGeom>
          <a:noFill/>
        </p:spPr>
        <p:txBody>
          <a:bodyPr wrap="square" anchor="t" lIns="25400" rIns="25400" tIns="12700" bIns="12700">
            <a:spAutoFit/>
          </a:bodyPr>
          <a:lstStyle/>
          <a:p>
            <a:pPr algn="l">
              <a:spcBef>
                <a:spcPts val="0"/>
              </a:spcBef>
              <a:spcAft>
                <a:spcPts val="300"/>
              </a:spcAft>
            </a:pPr>
            <a:r>
              <a:rPr sz="1250" b="0">
                <a:solidFill>
                  <a:srgbClr val="5A6B63"/>
                </a:solidFill>
                <a:latin typeface="Calibri"/>
              </a:rPr>
              <a:t>Punto de entrada único, sin código.</a:t>
            </a:r>
          </a:p>
          <a:p>
            <a:pPr algn="l">
              <a:spcBef>
                <a:spcPts val="0"/>
              </a:spcBef>
              <a:spcAft>
                <a:spcPts val="300"/>
              </a:spcAft>
            </a:pPr>
            <a:r>
              <a:rPr sz="1250" b="0">
                <a:solidFill>
                  <a:srgbClr val="5A6B63"/>
                </a:solidFill>
                <a:latin typeface="Calibri"/>
              </a:rPr>
              <a:t>Solo configuración: enruta /api/** al BFF.</a:t>
            </a:r>
          </a:p>
        </p:txBody>
      </p:sp>
      <p:sp>
        <p:nvSpPr>
          <p:cNvPr id="11" name="Rectangle 10"/>
          <p:cNvSpPr/>
          <p:nvPr/>
        </p:nvSpPr>
        <p:spPr>
          <a:xfrm>
            <a:off x="685800" y="4892040"/>
            <a:ext cx="2359152" cy="640080"/>
          </a:xfrm>
          <a:prstGeom prst="rect">
            <a:avLst/>
          </a:prstGeom>
          <a:solidFill>
            <a:srgbClr val="E8F1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000" b="1">
                <a:solidFill>
                  <a:srgbClr val="162A22"/>
                </a:solidFill>
                <a:latin typeface="Calibri"/>
              </a:rPr>
              <a:t>BD</a:t>
            </a:r>
          </a:p>
          <a:p>
            <a:pPr algn="ctr">
              <a:spcBef>
                <a:spcPts val="0"/>
              </a:spcBef>
              <a:spcAft>
                <a:spcPts val="200"/>
              </a:spcAft>
            </a:pPr>
            <a:r>
              <a:rPr sz="1150" b="1">
                <a:solidFill>
                  <a:srgbClr val="162A22"/>
                </a:solidFill>
                <a:latin typeface="Calibri"/>
              </a:rPr>
              <a:t>—</a:t>
            </a:r>
          </a:p>
        </p:txBody>
      </p:sp>
      <p:sp>
        <p:nvSpPr>
          <p:cNvPr id="12" name="Rectangle 11"/>
          <p:cNvSpPr/>
          <p:nvPr/>
        </p:nvSpPr>
        <p:spPr>
          <a:xfrm>
            <a:off x="3337560" y="1463040"/>
            <a:ext cx="2724912" cy="4206240"/>
          </a:xfrm>
          <a:prstGeom prst="rect">
            <a:avLst/>
          </a:prstGeom>
          <a:solidFill>
            <a:srgbClr val="FFFFFF"/>
          </a:solidFill>
          <a:ln w="1524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37560" y="1463040"/>
            <a:ext cx="2724912" cy="914400"/>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450" b="1">
                <a:solidFill>
                  <a:srgbClr val="FFFFFF"/>
                </a:solidFill>
                <a:latin typeface="Calibri"/>
              </a:rPr>
              <a:t>user-auth-service</a:t>
            </a:r>
          </a:p>
          <a:p>
            <a:pPr algn="ctr">
              <a:spcBef>
                <a:spcPts val="0"/>
              </a:spcBef>
              <a:spcAft>
                <a:spcPts val="200"/>
              </a:spcAft>
            </a:pPr>
            <a:r>
              <a:rPr sz="1200" b="1">
                <a:solidFill>
                  <a:srgbClr val="DDF0E6"/>
                </a:solidFill>
                <a:latin typeface="Calibri"/>
              </a:rPr>
              <a:t>Puerto 8081</a:t>
            </a:r>
          </a:p>
        </p:txBody>
      </p:sp>
      <p:sp>
        <p:nvSpPr>
          <p:cNvPr id="14" name="TextBox 13"/>
          <p:cNvSpPr txBox="1"/>
          <p:nvPr/>
        </p:nvSpPr>
        <p:spPr>
          <a:xfrm>
            <a:off x="3520440" y="2542032"/>
            <a:ext cx="2359152" cy="365760"/>
          </a:xfrm>
          <a:prstGeom prst="rect">
            <a:avLst/>
          </a:prstGeom>
          <a:noFill/>
        </p:spPr>
        <p:txBody>
          <a:bodyPr wrap="square" anchor="t" lIns="25400" rIns="25400" tIns="12700" bIns="12700">
            <a:spAutoFit/>
          </a:bodyPr>
          <a:lstStyle/>
          <a:p>
            <a:pPr algn="l">
              <a:spcBef>
                <a:spcPts val="0"/>
              </a:spcBef>
              <a:spcAft>
                <a:spcPts val="400"/>
              </a:spcAft>
            </a:pPr>
            <a:r>
              <a:rPr sz="1250" b="1">
                <a:solidFill>
                  <a:srgbClr val="2E9E5B"/>
                </a:solidFill>
                <a:latin typeface="Calibri"/>
              </a:rPr>
              <a:t>Spring Boot 3.5</a:t>
            </a:r>
          </a:p>
        </p:txBody>
      </p:sp>
      <p:sp>
        <p:nvSpPr>
          <p:cNvPr id="15" name="TextBox 14"/>
          <p:cNvSpPr txBox="1"/>
          <p:nvPr/>
        </p:nvSpPr>
        <p:spPr>
          <a:xfrm>
            <a:off x="3520440" y="3017520"/>
            <a:ext cx="2359152" cy="1463040"/>
          </a:xfrm>
          <a:prstGeom prst="rect">
            <a:avLst/>
          </a:prstGeom>
          <a:noFill/>
        </p:spPr>
        <p:txBody>
          <a:bodyPr wrap="square" anchor="t" lIns="25400" rIns="25400" tIns="12700" bIns="12700">
            <a:spAutoFit/>
          </a:bodyPr>
          <a:lstStyle/>
          <a:p>
            <a:pPr algn="l">
              <a:spcBef>
                <a:spcPts val="0"/>
              </a:spcBef>
              <a:spcAft>
                <a:spcPts val="300"/>
              </a:spcAft>
            </a:pPr>
            <a:r>
              <a:rPr sz="1250" b="0">
                <a:solidFill>
                  <a:srgbClr val="5A6B63"/>
                </a:solidFill>
                <a:latin typeface="Calibri"/>
              </a:rPr>
              <a:t>Dominio de identidades.</a:t>
            </a:r>
          </a:p>
          <a:p>
            <a:pPr algn="l">
              <a:spcBef>
                <a:spcPts val="0"/>
              </a:spcBef>
              <a:spcAft>
                <a:spcPts val="300"/>
              </a:spcAft>
            </a:pPr>
            <a:r>
              <a:rPr sz="1250" b="0">
                <a:solidFill>
                  <a:srgbClr val="5A6B63"/>
                </a:solidFill>
                <a:latin typeface="Calibri"/>
              </a:rPr>
              <a:t>Registro, login y emisión de JWT.</a:t>
            </a:r>
          </a:p>
        </p:txBody>
      </p:sp>
      <p:sp>
        <p:nvSpPr>
          <p:cNvPr id="16" name="Rectangle 15"/>
          <p:cNvSpPr/>
          <p:nvPr/>
        </p:nvSpPr>
        <p:spPr>
          <a:xfrm>
            <a:off x="3520440" y="4892040"/>
            <a:ext cx="2359152" cy="640080"/>
          </a:xfrm>
          <a:prstGeom prst="rect">
            <a:avLst/>
          </a:prstGeom>
          <a:solidFill>
            <a:srgbClr val="E8F1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000" b="1">
                <a:solidFill>
                  <a:srgbClr val="2E9E5B"/>
                </a:solidFill>
                <a:latin typeface="Calibri"/>
              </a:rPr>
              <a:t>BD</a:t>
            </a:r>
          </a:p>
          <a:p>
            <a:pPr algn="ctr">
              <a:spcBef>
                <a:spcPts val="0"/>
              </a:spcBef>
              <a:spcAft>
                <a:spcPts val="200"/>
              </a:spcAft>
            </a:pPr>
            <a:r>
              <a:rPr sz="1150" b="1">
                <a:solidFill>
                  <a:srgbClr val="162A22"/>
                </a:solidFill>
                <a:latin typeface="Calibri"/>
              </a:rPr>
              <a:t>db_scooter_users</a:t>
            </a:r>
          </a:p>
        </p:txBody>
      </p:sp>
      <p:sp>
        <p:nvSpPr>
          <p:cNvPr id="17" name="Rectangle 16"/>
          <p:cNvSpPr/>
          <p:nvPr/>
        </p:nvSpPr>
        <p:spPr>
          <a:xfrm>
            <a:off x="6172200" y="1463040"/>
            <a:ext cx="2724912" cy="4206240"/>
          </a:xfrm>
          <a:prstGeom prst="rect">
            <a:avLst/>
          </a:prstGeom>
          <a:solidFill>
            <a:srgbClr val="FFFFFF"/>
          </a:solidFill>
          <a:ln w="1524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72200" y="1463040"/>
            <a:ext cx="2724912" cy="9144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450" b="1">
                <a:solidFill>
                  <a:srgbClr val="FFFFFF"/>
                </a:solidFill>
                <a:latin typeface="Calibri"/>
              </a:rPr>
              <a:t>scooter-rental-service</a:t>
            </a:r>
          </a:p>
          <a:p>
            <a:pPr algn="ctr">
              <a:spcBef>
                <a:spcPts val="0"/>
              </a:spcBef>
              <a:spcAft>
                <a:spcPts val="200"/>
              </a:spcAft>
            </a:pPr>
            <a:r>
              <a:rPr sz="1200" b="1">
                <a:solidFill>
                  <a:srgbClr val="DDF0E6"/>
                </a:solidFill>
                <a:latin typeface="Calibri"/>
              </a:rPr>
              <a:t>Puerto 8082</a:t>
            </a:r>
          </a:p>
        </p:txBody>
      </p:sp>
      <p:sp>
        <p:nvSpPr>
          <p:cNvPr id="19" name="TextBox 18"/>
          <p:cNvSpPr txBox="1"/>
          <p:nvPr/>
        </p:nvSpPr>
        <p:spPr>
          <a:xfrm>
            <a:off x="6355080" y="2542032"/>
            <a:ext cx="2359152" cy="365760"/>
          </a:xfrm>
          <a:prstGeom prst="rect">
            <a:avLst/>
          </a:prstGeom>
          <a:noFill/>
        </p:spPr>
        <p:txBody>
          <a:bodyPr wrap="square" anchor="t" lIns="25400" rIns="25400" tIns="12700" bIns="12700">
            <a:spAutoFit/>
          </a:bodyPr>
          <a:lstStyle/>
          <a:p>
            <a:pPr algn="l">
              <a:spcBef>
                <a:spcPts val="0"/>
              </a:spcBef>
              <a:spcAft>
                <a:spcPts val="400"/>
              </a:spcAft>
            </a:pPr>
            <a:r>
              <a:rPr sz="1250" b="1">
                <a:solidFill>
                  <a:srgbClr val="00897B"/>
                </a:solidFill>
                <a:latin typeface="Calibri"/>
              </a:rPr>
              <a:t>Spring Boot 3.5</a:t>
            </a:r>
          </a:p>
        </p:txBody>
      </p:sp>
      <p:sp>
        <p:nvSpPr>
          <p:cNvPr id="20" name="TextBox 19"/>
          <p:cNvSpPr txBox="1"/>
          <p:nvPr/>
        </p:nvSpPr>
        <p:spPr>
          <a:xfrm>
            <a:off x="6355080" y="3017520"/>
            <a:ext cx="2359152" cy="1463040"/>
          </a:xfrm>
          <a:prstGeom prst="rect">
            <a:avLst/>
          </a:prstGeom>
          <a:noFill/>
        </p:spPr>
        <p:txBody>
          <a:bodyPr wrap="square" anchor="t" lIns="25400" rIns="25400" tIns="12700" bIns="12700">
            <a:spAutoFit/>
          </a:bodyPr>
          <a:lstStyle/>
          <a:p>
            <a:pPr algn="l">
              <a:spcBef>
                <a:spcPts val="0"/>
              </a:spcBef>
              <a:spcAft>
                <a:spcPts val="300"/>
              </a:spcAft>
            </a:pPr>
            <a:r>
              <a:rPr sz="1250" b="0">
                <a:solidFill>
                  <a:srgbClr val="5A6B63"/>
                </a:solidFill>
                <a:latin typeface="Calibri"/>
              </a:rPr>
              <a:t>Microservicio core. Flota y</a:t>
            </a:r>
          </a:p>
          <a:p>
            <a:pPr algn="l">
              <a:spcBef>
                <a:spcPts val="0"/>
              </a:spcBef>
              <a:spcAft>
                <a:spcPts val="300"/>
              </a:spcAft>
            </a:pPr>
            <a:r>
              <a:rPr sz="1250" b="0">
                <a:solidFill>
                  <a:srgbClr val="5A6B63"/>
                </a:solidFill>
                <a:latin typeface="Calibri"/>
              </a:rPr>
              <a:t>lógica ACID de arriendos.</a:t>
            </a:r>
          </a:p>
        </p:txBody>
      </p:sp>
      <p:sp>
        <p:nvSpPr>
          <p:cNvPr id="21" name="Rectangle 20"/>
          <p:cNvSpPr/>
          <p:nvPr/>
        </p:nvSpPr>
        <p:spPr>
          <a:xfrm>
            <a:off x="6355080" y="4892040"/>
            <a:ext cx="2359152" cy="640080"/>
          </a:xfrm>
          <a:prstGeom prst="rect">
            <a:avLst/>
          </a:prstGeom>
          <a:solidFill>
            <a:srgbClr val="E8F1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000" b="1">
                <a:solidFill>
                  <a:srgbClr val="00897B"/>
                </a:solidFill>
                <a:latin typeface="Calibri"/>
              </a:rPr>
              <a:t>BD</a:t>
            </a:r>
          </a:p>
          <a:p>
            <a:pPr algn="ctr">
              <a:spcBef>
                <a:spcPts val="0"/>
              </a:spcBef>
              <a:spcAft>
                <a:spcPts val="200"/>
              </a:spcAft>
            </a:pPr>
            <a:r>
              <a:rPr sz="1150" b="1">
                <a:solidFill>
                  <a:srgbClr val="162A22"/>
                </a:solidFill>
                <a:latin typeface="Calibri"/>
              </a:rPr>
              <a:t>db_scooter_rentals</a:t>
            </a:r>
          </a:p>
        </p:txBody>
      </p:sp>
      <p:sp>
        <p:nvSpPr>
          <p:cNvPr id="22" name="Rectangle 21"/>
          <p:cNvSpPr/>
          <p:nvPr/>
        </p:nvSpPr>
        <p:spPr>
          <a:xfrm>
            <a:off x="9006840" y="1463040"/>
            <a:ext cx="2724912" cy="4206240"/>
          </a:xfrm>
          <a:prstGeom prst="rect">
            <a:avLst/>
          </a:prstGeom>
          <a:solidFill>
            <a:srgbClr val="FFFFFF"/>
          </a:solidFill>
          <a:ln w="1524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06840" y="1463040"/>
            <a:ext cx="2724912" cy="914400"/>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450" b="1">
                <a:solidFill>
                  <a:srgbClr val="FFFFFF"/>
                </a:solidFill>
                <a:latin typeface="Calibri"/>
              </a:rPr>
              <a:t>bff-service</a:t>
            </a:r>
          </a:p>
          <a:p>
            <a:pPr algn="ctr">
              <a:spcBef>
                <a:spcPts val="0"/>
              </a:spcBef>
              <a:spcAft>
                <a:spcPts val="200"/>
              </a:spcAft>
            </a:pPr>
            <a:r>
              <a:rPr sz="1200" b="1">
                <a:solidFill>
                  <a:srgbClr val="DDF0E6"/>
                </a:solidFill>
                <a:latin typeface="Calibri"/>
              </a:rPr>
              <a:t>Puerto 8083</a:t>
            </a:r>
          </a:p>
        </p:txBody>
      </p:sp>
      <p:sp>
        <p:nvSpPr>
          <p:cNvPr id="24" name="TextBox 23"/>
          <p:cNvSpPr txBox="1"/>
          <p:nvPr/>
        </p:nvSpPr>
        <p:spPr>
          <a:xfrm>
            <a:off x="9189720" y="2542032"/>
            <a:ext cx="2359152" cy="365760"/>
          </a:xfrm>
          <a:prstGeom prst="rect">
            <a:avLst/>
          </a:prstGeom>
          <a:noFill/>
        </p:spPr>
        <p:txBody>
          <a:bodyPr wrap="square" anchor="t" lIns="25400" rIns="25400" tIns="12700" bIns="12700">
            <a:spAutoFit/>
          </a:bodyPr>
          <a:lstStyle/>
          <a:p>
            <a:pPr algn="l">
              <a:spcBef>
                <a:spcPts val="0"/>
              </a:spcBef>
              <a:spcAft>
                <a:spcPts val="400"/>
              </a:spcAft>
            </a:pPr>
            <a:r>
              <a:rPr sz="1250" b="1">
                <a:solidFill>
                  <a:srgbClr val="2D6CDF"/>
                </a:solidFill>
                <a:latin typeface="Calibri"/>
              </a:rPr>
              <a:t>Spring WebFlux</a:t>
            </a:r>
          </a:p>
        </p:txBody>
      </p:sp>
      <p:sp>
        <p:nvSpPr>
          <p:cNvPr id="25" name="TextBox 24"/>
          <p:cNvSpPr txBox="1"/>
          <p:nvPr/>
        </p:nvSpPr>
        <p:spPr>
          <a:xfrm>
            <a:off x="9189720" y="3017520"/>
            <a:ext cx="2359152" cy="1463040"/>
          </a:xfrm>
          <a:prstGeom prst="rect">
            <a:avLst/>
          </a:prstGeom>
          <a:noFill/>
        </p:spPr>
        <p:txBody>
          <a:bodyPr wrap="square" anchor="t" lIns="25400" rIns="25400" tIns="12700" bIns="12700">
            <a:spAutoFit/>
          </a:bodyPr>
          <a:lstStyle/>
          <a:p>
            <a:pPr algn="l">
              <a:spcBef>
                <a:spcPts val="0"/>
              </a:spcBef>
              <a:spcAft>
                <a:spcPts val="300"/>
              </a:spcAft>
            </a:pPr>
            <a:r>
              <a:rPr sz="1250" b="0">
                <a:solidFill>
                  <a:srgbClr val="5A6B63"/>
                </a:solidFill>
                <a:latin typeface="Calibri"/>
              </a:rPr>
              <a:t>Backend for Frontend.</a:t>
            </a:r>
          </a:p>
          <a:p>
            <a:pPr algn="l">
              <a:spcBef>
                <a:spcPts val="0"/>
              </a:spcBef>
              <a:spcAft>
                <a:spcPts val="300"/>
              </a:spcAft>
            </a:pPr>
            <a:r>
              <a:rPr sz="1250" b="0">
                <a:solidFill>
                  <a:srgbClr val="5A6B63"/>
                </a:solidFill>
                <a:latin typeface="Calibri"/>
              </a:rPr>
              <a:t>Proxy + agregación a los 10 servicios.</a:t>
            </a:r>
          </a:p>
        </p:txBody>
      </p:sp>
      <p:sp>
        <p:nvSpPr>
          <p:cNvPr id="26" name="Rectangle 25"/>
          <p:cNvSpPr/>
          <p:nvPr/>
        </p:nvSpPr>
        <p:spPr>
          <a:xfrm>
            <a:off x="9189720" y="4892040"/>
            <a:ext cx="2359152" cy="640080"/>
          </a:xfrm>
          <a:prstGeom prst="rect">
            <a:avLst/>
          </a:prstGeom>
          <a:solidFill>
            <a:srgbClr val="E8F1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000" b="1">
                <a:solidFill>
                  <a:srgbClr val="2D6CDF"/>
                </a:solidFill>
                <a:latin typeface="Calibri"/>
              </a:rPr>
              <a:t>BD</a:t>
            </a:r>
          </a:p>
          <a:p>
            <a:pPr algn="ctr">
              <a:spcBef>
                <a:spcPts val="0"/>
              </a:spcBef>
              <a:spcAft>
                <a:spcPts val="200"/>
              </a:spcAft>
            </a:pPr>
            <a:r>
              <a:rPr sz="1150" b="1">
                <a:solidFill>
                  <a:srgbClr val="162A22"/>
                </a:solidFill>
                <a:latin typeface="Calibri"/>
              </a:rPr>
              <a:t>Sin persistencia</a:t>
            </a:r>
          </a:p>
        </p:txBody>
      </p:sp>
      <p:sp>
        <p:nvSpPr>
          <p:cNvPr id="27" name="TextBox 26"/>
          <p:cNvSpPr txBox="1"/>
          <p:nvPr/>
        </p:nvSpPr>
        <p:spPr>
          <a:xfrm>
            <a:off x="502920" y="5897880"/>
            <a:ext cx="11155680" cy="457200"/>
          </a:xfrm>
          <a:prstGeom prst="rect">
            <a:avLst/>
          </a:prstGeom>
          <a:noFill/>
        </p:spPr>
        <p:txBody>
          <a:bodyPr wrap="square" anchor="t" lIns="25400" rIns="25400" tIns="12700" bIns="12700">
            <a:spAutoFit/>
          </a:bodyPr>
          <a:lstStyle/>
          <a:p>
            <a:pPr algn="l">
              <a:spcBef>
                <a:spcPts val="0"/>
              </a:spcBef>
              <a:spcAft>
                <a:spcPts val="400"/>
              </a:spcAft>
            </a:pPr>
            <a:r>
              <a:rPr sz="1250" b="0">
                <a:solidFill>
                  <a:srgbClr val="5A6B63"/>
                </a:solidFill>
                <a:latin typeface="Calibri"/>
              </a:rPr>
              <a:t>10 microservicios de dominio (8081–8091): auth, rental, payment, notification, analytics, logistics, maintenance, support, station y review — cada uno con su BD PostgreSQL (Database per Service).</a:t>
            </a:r>
          </a:p>
        </p:txBody>
      </p:sp>
      <p:sp>
        <p:nvSpPr>
          <p:cNvPr id="28" name="TextBox 27"/>
          <p:cNvSpPr txBox="1"/>
          <p:nvPr/>
        </p:nvSpPr>
        <p:spPr>
          <a:xfrm>
            <a:off x="502920" y="6473952"/>
            <a:ext cx="5486400" cy="274320"/>
          </a:xfrm>
          <a:prstGeom prst="rect">
            <a:avLst/>
          </a:prstGeom>
          <a:noFill/>
        </p:spPr>
        <p:txBody>
          <a:bodyPr wrap="square" anchor="t" lIns="25400" rIns="25400" tIns="12700" bIns="12700">
            <a:spAutoFit/>
          </a:bodyPr>
          <a:lstStyle/>
          <a:p>
            <a:pPr algn="l">
              <a:spcBef>
                <a:spcPts val="0"/>
              </a:spcBef>
              <a:spcAft>
                <a:spcPts val="400"/>
              </a:spcAft>
            </a:pPr>
            <a:r>
              <a:rPr sz="900" b="0">
                <a:solidFill>
                  <a:srgbClr val="5A6B63"/>
                </a:solidFill>
                <a:latin typeface="Calibri"/>
              </a:rPr>
              <a:t>VeloUrbe · Informe Técnico de Arquitectura</a:t>
            </a:r>
          </a:p>
        </p:txBody>
      </p:sp>
      <p:sp>
        <p:nvSpPr>
          <p:cNvPr id="29" name="Rectangle 28"/>
          <p:cNvSpPr/>
          <p:nvPr/>
        </p:nvSpPr>
        <p:spPr>
          <a:xfrm>
            <a:off x="11475720" y="6437376"/>
            <a:ext cx="457200" cy="310896"/>
          </a:xfrm>
          <a:prstGeom prst="rect">
            <a:avLst/>
          </a:prstGeom>
          <a:solidFill>
            <a:srgbClr val="E8F1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000" b="1">
                <a:solidFill>
                  <a:srgbClr val="2E9E5B"/>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162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38100"/>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365760"/>
          </a:xfrm>
          <a:prstGeom prst="rect">
            <a:avLst/>
          </a:prstGeom>
          <a:noFill/>
        </p:spPr>
        <p:txBody>
          <a:bodyPr wrap="square" anchor="t" lIns="25400" rIns="25400" tIns="12700" bIns="12700">
            <a:spAutoFit/>
          </a:bodyPr>
          <a:lstStyle/>
          <a:p>
            <a:pPr algn="l">
              <a:spcBef>
                <a:spcPts val="0"/>
              </a:spcBef>
              <a:spcAft>
                <a:spcPts val="400"/>
              </a:spcAft>
            </a:pPr>
            <a:r>
              <a:rPr sz="1200" b="1">
                <a:solidFill>
                  <a:srgbClr val="7FC83D"/>
                </a:solidFill>
                <a:latin typeface="Calibri"/>
              </a:rPr>
              <a:t>2.3 · C4 MODEL</a:t>
            </a:r>
          </a:p>
        </p:txBody>
      </p:sp>
      <p:sp>
        <p:nvSpPr>
          <p:cNvPr id="5" name="TextBox 4"/>
          <p:cNvSpPr txBox="1"/>
          <p:nvPr/>
        </p:nvSpPr>
        <p:spPr>
          <a:xfrm>
            <a:off x="502920" y="457200"/>
            <a:ext cx="10515600" cy="566928"/>
          </a:xfrm>
          <a:prstGeom prst="rect">
            <a:avLst/>
          </a:prstGeom>
          <a:noFill/>
        </p:spPr>
        <p:txBody>
          <a:bodyPr wrap="square" anchor="t" lIns="25400" rIns="25400" tIns="12700" bIns="12700">
            <a:spAutoFit/>
          </a:bodyPr>
          <a:lstStyle/>
          <a:p>
            <a:pPr algn="l">
              <a:spcBef>
                <a:spcPts val="0"/>
              </a:spcBef>
              <a:spcAft>
                <a:spcPts val="400"/>
              </a:spcAft>
            </a:pPr>
            <a:r>
              <a:rPr sz="2700" b="1">
                <a:solidFill>
                  <a:srgbClr val="FFFFFF"/>
                </a:solidFill>
                <a:latin typeface="Calibri"/>
              </a:rPr>
              <a:t>Diagrama C2 — Contenedores (resumido)</a:t>
            </a:r>
          </a:p>
        </p:txBody>
      </p:sp>
      <p:sp>
        <p:nvSpPr>
          <p:cNvPr id="6" name="Oval 5"/>
          <p:cNvSpPr/>
          <p:nvPr/>
        </p:nvSpPr>
        <p:spPr>
          <a:xfrm>
            <a:off x="11018520" y="274320"/>
            <a:ext cx="713232" cy="71323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2200" b="1">
                <a:solidFill>
                  <a:srgbClr val="FFFFFF"/>
                </a:solidFill>
                <a:latin typeface="Calibri"/>
              </a:rPr>
              <a:t>C2</a:t>
            </a:r>
          </a:p>
        </p:txBody>
      </p:sp>
      <p:sp>
        <p:nvSpPr>
          <p:cNvPr id="7" name="Rounded Rectangle 6"/>
          <p:cNvSpPr/>
          <p:nvPr/>
        </p:nvSpPr>
        <p:spPr>
          <a:xfrm>
            <a:off x="4480560" y="1325880"/>
            <a:ext cx="3200400" cy="640080"/>
          </a:xfrm>
          <a:prstGeom prst="roundRect">
            <a:avLst/>
          </a:prstGeom>
          <a:solidFill>
            <a:srgbClr val="162A22"/>
          </a:solidFill>
          <a:ln>
            <a:no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300" b="1">
                <a:solidFill>
                  <a:srgbClr val="FFFFFF"/>
                </a:solidFill>
                <a:latin typeface="Calibri"/>
              </a:rPr>
              <a:t>Cliente — App Móvil / Postman</a:t>
            </a:r>
          </a:p>
        </p:txBody>
      </p:sp>
      <p:sp>
        <p:nvSpPr>
          <p:cNvPr id="8" name="Rounded Rectangle 7"/>
          <p:cNvSpPr/>
          <p:nvPr/>
        </p:nvSpPr>
        <p:spPr>
          <a:xfrm>
            <a:off x="3291840" y="2240280"/>
            <a:ext cx="5577840" cy="777240"/>
          </a:xfrm>
          <a:prstGeom prst="roundRect">
            <a:avLst/>
          </a:prstGeom>
          <a:solidFill>
            <a:srgbClr val="2E9E5B"/>
          </a:solidFill>
          <a:ln>
            <a:no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400" b="1">
                <a:solidFill>
                  <a:srgbClr val="FFFFFF"/>
                </a:solidFill>
                <a:latin typeface="Calibri"/>
              </a:rPr>
              <a:t>API Gateway · Spring Cloud Gateway · :8080</a:t>
            </a:r>
          </a:p>
          <a:p>
            <a:pPr algn="ctr">
              <a:spcBef>
                <a:spcPts val="0"/>
              </a:spcBef>
              <a:spcAft>
                <a:spcPts val="200"/>
              </a:spcAft>
            </a:pPr>
            <a:r>
              <a:rPr sz="1050" b="0">
                <a:solidFill>
                  <a:srgbClr val="E3F5EA"/>
                </a:solidFill>
                <a:latin typeface="Calibri"/>
              </a:rPr>
              <a:t>Entrada única · Solo configuración · CORS · /api/** → BFF</a:t>
            </a:r>
          </a:p>
        </p:txBody>
      </p:sp>
      <p:cxnSp>
        <p:nvCxnSpPr>
          <p:cNvPr id="9" name="Connector 8"/>
          <p:cNvCxnSpPr/>
          <p:nvPr/>
        </p:nvCxnSpPr>
        <p:spPr>
          <a:xfrm>
            <a:off x="6080760" y="1965960"/>
            <a:ext cx="0" cy="274320"/>
          </a:xfrm>
          <a:prstGeom prst="line">
            <a:avLst/>
          </a:prstGeom>
          <a:ln w="31750">
            <a:solidFill>
              <a:srgbClr val="5A6B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02920" y="3611880"/>
            <a:ext cx="3429000" cy="1051560"/>
          </a:xfrm>
          <a:prstGeom prst="roundRect">
            <a:avLst/>
          </a:prstGeom>
          <a:solidFill>
            <a:srgbClr val="00897B"/>
          </a:solidFill>
          <a:ln>
            <a:no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300" b="1">
                <a:solidFill>
                  <a:srgbClr val="FFFFFF"/>
                </a:solidFill>
                <a:latin typeface="Calibri"/>
              </a:rPr>
              <a:t>user-auth-service  :8081</a:t>
            </a:r>
          </a:p>
          <a:p>
            <a:pPr algn="ctr">
              <a:spcBef>
                <a:spcPts val="0"/>
              </a:spcBef>
              <a:spcAft>
                <a:spcPts val="200"/>
              </a:spcAft>
            </a:pPr>
            <a:r>
              <a:rPr sz="1050" b="0">
                <a:solidFill>
                  <a:srgbClr val="ECF4FA"/>
                </a:solidFill>
                <a:latin typeface="Calibri"/>
              </a:rPr>
              <a:t>Registro / Login · JWT · HATEOAS</a:t>
            </a:r>
          </a:p>
        </p:txBody>
      </p:sp>
      <p:cxnSp>
        <p:nvCxnSpPr>
          <p:cNvPr id="11" name="Connector 10"/>
          <p:cNvCxnSpPr/>
          <p:nvPr/>
        </p:nvCxnSpPr>
        <p:spPr>
          <a:xfrm>
            <a:off x="2217420" y="3017520"/>
            <a:ext cx="0" cy="594360"/>
          </a:xfrm>
          <a:prstGeom prst="line">
            <a:avLst/>
          </a:prstGeom>
          <a:ln w="27940">
            <a:solidFill>
              <a:srgbClr val="5A6B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370832" y="3611880"/>
            <a:ext cx="3429000" cy="1051560"/>
          </a:xfrm>
          <a:prstGeom prst="roundRect">
            <a:avLst/>
          </a:prstGeom>
          <a:solidFill>
            <a:srgbClr val="2D6CDF"/>
          </a:solidFill>
          <a:ln>
            <a:no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300" b="1">
                <a:solidFill>
                  <a:srgbClr val="FFFFFF"/>
                </a:solidFill>
                <a:latin typeface="Calibri"/>
              </a:rPr>
              <a:t>scooter-rental-service  :8082</a:t>
            </a:r>
          </a:p>
          <a:p>
            <a:pPr algn="ctr">
              <a:spcBef>
                <a:spcPts val="0"/>
              </a:spcBef>
              <a:spcAft>
                <a:spcPts val="200"/>
              </a:spcAft>
            </a:pPr>
            <a:r>
              <a:rPr sz="1050" b="0">
                <a:solidFill>
                  <a:srgbClr val="ECF4FA"/>
                </a:solidFill>
                <a:latin typeface="Calibri"/>
              </a:rPr>
              <a:t>Gestión de Patinetas · Arriendos</a:t>
            </a:r>
          </a:p>
        </p:txBody>
      </p:sp>
      <p:cxnSp>
        <p:nvCxnSpPr>
          <p:cNvPr id="13" name="Connector 12"/>
          <p:cNvCxnSpPr/>
          <p:nvPr/>
        </p:nvCxnSpPr>
        <p:spPr>
          <a:xfrm>
            <a:off x="6085332" y="3017520"/>
            <a:ext cx="0" cy="594360"/>
          </a:xfrm>
          <a:prstGeom prst="line">
            <a:avLst/>
          </a:prstGeom>
          <a:ln w="27940">
            <a:solidFill>
              <a:srgbClr val="5A6B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247888" y="3611880"/>
            <a:ext cx="3429000" cy="1051560"/>
          </a:xfrm>
          <a:prstGeom prst="roundRect">
            <a:avLst/>
          </a:prstGeom>
          <a:solidFill>
            <a:srgbClr val="E87A1E"/>
          </a:solidFill>
          <a:ln>
            <a:no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300" b="1">
                <a:solidFill>
                  <a:srgbClr val="FFFFFF"/>
                </a:solidFill>
                <a:latin typeface="Calibri"/>
              </a:rPr>
              <a:t>bff-service  :8083</a:t>
            </a:r>
          </a:p>
          <a:p>
            <a:pPr algn="ctr">
              <a:spcBef>
                <a:spcPts val="0"/>
              </a:spcBef>
              <a:spcAft>
                <a:spcPts val="200"/>
              </a:spcAft>
            </a:pPr>
            <a:r>
              <a:rPr sz="1050" b="0">
                <a:solidFill>
                  <a:srgbClr val="ECF4FA"/>
                </a:solidFill>
                <a:latin typeface="Calibri"/>
              </a:rPr>
              <a:t>Proxy + Dashboard (WebClient)</a:t>
            </a:r>
          </a:p>
        </p:txBody>
      </p:sp>
      <p:cxnSp>
        <p:nvCxnSpPr>
          <p:cNvPr id="15" name="Connector 14"/>
          <p:cNvCxnSpPr/>
          <p:nvPr/>
        </p:nvCxnSpPr>
        <p:spPr>
          <a:xfrm>
            <a:off x="9962388" y="3017520"/>
            <a:ext cx="0" cy="594360"/>
          </a:xfrm>
          <a:prstGeom prst="line">
            <a:avLst/>
          </a:prstGeom>
          <a:ln w="27940">
            <a:solidFill>
              <a:srgbClr val="5A6B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Can 15"/>
          <p:cNvSpPr/>
          <p:nvPr/>
        </p:nvSpPr>
        <p:spPr>
          <a:xfrm>
            <a:off x="1028700" y="5074920"/>
            <a:ext cx="2377440" cy="914400"/>
          </a:xfrm>
          <a:prstGeom prst="can">
            <a:avLst/>
          </a:prstGeom>
          <a:solidFill>
            <a:srgbClr val="FFFFFF"/>
          </a:solidFill>
          <a:ln w="17780">
            <a:solidFill>
              <a:srgbClr val="5A6B63"/>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150" b="1">
                <a:solidFill>
                  <a:srgbClr val="162A22"/>
                </a:solidFill>
                <a:latin typeface="Calibri"/>
              </a:rPr>
              <a:t>db_scooter_users</a:t>
            </a:r>
          </a:p>
          <a:p>
            <a:pPr algn="ctr">
              <a:spcBef>
                <a:spcPts val="0"/>
              </a:spcBef>
              <a:spcAft>
                <a:spcPts val="200"/>
              </a:spcAft>
            </a:pPr>
            <a:r>
              <a:rPr sz="1000" b="0">
                <a:solidFill>
                  <a:srgbClr val="5A6B63"/>
                </a:solidFill>
                <a:latin typeface="Calibri"/>
              </a:rPr>
              <a:t>PostgreSQL</a:t>
            </a:r>
          </a:p>
        </p:txBody>
      </p:sp>
      <p:cxnSp>
        <p:nvCxnSpPr>
          <p:cNvPr id="17" name="Connector 16"/>
          <p:cNvCxnSpPr/>
          <p:nvPr/>
        </p:nvCxnSpPr>
        <p:spPr>
          <a:xfrm>
            <a:off x="2217420" y="4663440"/>
            <a:ext cx="0" cy="411480"/>
          </a:xfrm>
          <a:prstGeom prst="line">
            <a:avLst/>
          </a:prstGeom>
          <a:ln w="27940">
            <a:solidFill>
              <a:srgbClr val="5A6B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Can 17"/>
          <p:cNvSpPr/>
          <p:nvPr/>
        </p:nvSpPr>
        <p:spPr>
          <a:xfrm>
            <a:off x="4896612" y="5074920"/>
            <a:ext cx="2377440" cy="914400"/>
          </a:xfrm>
          <a:prstGeom prst="can">
            <a:avLst/>
          </a:prstGeom>
          <a:solidFill>
            <a:srgbClr val="FFFFFF"/>
          </a:solidFill>
          <a:ln w="17780">
            <a:solidFill>
              <a:srgbClr val="5A6B63"/>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150" b="1">
                <a:solidFill>
                  <a:srgbClr val="162A22"/>
                </a:solidFill>
                <a:latin typeface="Calibri"/>
              </a:rPr>
              <a:t>db_scooter_rentals</a:t>
            </a:r>
          </a:p>
          <a:p>
            <a:pPr algn="ctr">
              <a:spcBef>
                <a:spcPts val="0"/>
              </a:spcBef>
              <a:spcAft>
                <a:spcPts val="200"/>
              </a:spcAft>
            </a:pPr>
            <a:r>
              <a:rPr sz="1000" b="0">
                <a:solidFill>
                  <a:srgbClr val="5A6B63"/>
                </a:solidFill>
                <a:latin typeface="Calibri"/>
              </a:rPr>
              <a:t>PostgreSQL</a:t>
            </a:r>
          </a:p>
        </p:txBody>
      </p:sp>
      <p:cxnSp>
        <p:nvCxnSpPr>
          <p:cNvPr id="19" name="Connector 18"/>
          <p:cNvCxnSpPr/>
          <p:nvPr/>
        </p:nvCxnSpPr>
        <p:spPr>
          <a:xfrm>
            <a:off x="6085332" y="4663440"/>
            <a:ext cx="0" cy="411480"/>
          </a:xfrm>
          <a:prstGeom prst="line">
            <a:avLst/>
          </a:prstGeom>
          <a:ln w="27940">
            <a:solidFill>
              <a:srgbClr val="5A6B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2217420" y="4563440"/>
            <a:ext cx="7744968" cy="0"/>
          </a:xfrm>
          <a:prstGeom prst="line">
            <a:avLst/>
          </a:prstGeom>
          <a:ln w="2032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092440" y="6080760"/>
            <a:ext cx="3840480" cy="365760"/>
          </a:xfrm>
          <a:prstGeom prst="rect">
            <a:avLst/>
          </a:prstGeom>
          <a:noFill/>
        </p:spPr>
        <p:txBody>
          <a:bodyPr wrap="square" anchor="t" lIns="25400" rIns="25400" tIns="12700" bIns="12700">
            <a:spAutoFit/>
          </a:bodyPr>
          <a:lstStyle/>
          <a:p>
            <a:pPr algn="l">
              <a:spcBef>
                <a:spcPts val="0"/>
              </a:spcBef>
              <a:spcAft>
                <a:spcPts val="400"/>
              </a:spcAft>
            </a:pPr>
            <a:r>
              <a:rPr sz="1050" b="1">
                <a:solidFill>
                  <a:srgbClr val="E87A1E"/>
                </a:solidFill>
                <a:latin typeface="Calibri"/>
              </a:rPr>
              <a:t>Gateway → BFF → 10 microservicios (8081–8091)</a:t>
            </a:r>
          </a:p>
        </p:txBody>
      </p:sp>
      <p:sp>
        <p:nvSpPr>
          <p:cNvPr id="22" name="TextBox 21"/>
          <p:cNvSpPr txBox="1"/>
          <p:nvPr/>
        </p:nvSpPr>
        <p:spPr>
          <a:xfrm>
            <a:off x="502920" y="6473952"/>
            <a:ext cx="5486400" cy="274320"/>
          </a:xfrm>
          <a:prstGeom prst="rect">
            <a:avLst/>
          </a:prstGeom>
          <a:noFill/>
        </p:spPr>
        <p:txBody>
          <a:bodyPr wrap="square" anchor="t" lIns="25400" rIns="25400" tIns="12700" bIns="12700">
            <a:spAutoFit/>
          </a:bodyPr>
          <a:lstStyle/>
          <a:p>
            <a:pPr algn="l">
              <a:spcBef>
                <a:spcPts val="0"/>
              </a:spcBef>
              <a:spcAft>
                <a:spcPts val="400"/>
              </a:spcAft>
            </a:pPr>
            <a:r>
              <a:rPr sz="900" b="0">
                <a:solidFill>
                  <a:srgbClr val="5A6B63"/>
                </a:solidFill>
                <a:latin typeface="Calibri"/>
              </a:rPr>
              <a:t>VeloUrbe · Informe Técnico de Arquitectura</a:t>
            </a:r>
          </a:p>
        </p:txBody>
      </p:sp>
      <p:sp>
        <p:nvSpPr>
          <p:cNvPr id="23" name="Rectangle 22"/>
          <p:cNvSpPr/>
          <p:nvPr/>
        </p:nvSpPr>
        <p:spPr>
          <a:xfrm>
            <a:off x="11475720" y="6437376"/>
            <a:ext cx="457200" cy="310896"/>
          </a:xfrm>
          <a:prstGeom prst="rect">
            <a:avLst/>
          </a:prstGeom>
          <a:solidFill>
            <a:srgbClr val="E8F1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000" b="1">
                <a:solidFill>
                  <a:srgbClr val="2E9E5B"/>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162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38100"/>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365760"/>
          </a:xfrm>
          <a:prstGeom prst="rect">
            <a:avLst/>
          </a:prstGeom>
          <a:noFill/>
        </p:spPr>
        <p:txBody>
          <a:bodyPr wrap="square" anchor="t" lIns="25400" rIns="25400" tIns="12700" bIns="12700">
            <a:spAutoFit/>
          </a:bodyPr>
          <a:lstStyle/>
          <a:p>
            <a:pPr algn="l">
              <a:spcBef>
                <a:spcPts val="0"/>
              </a:spcBef>
              <a:spcAft>
                <a:spcPts val="400"/>
              </a:spcAft>
            </a:pPr>
            <a:r>
              <a:rPr sz="1200" b="1">
                <a:solidFill>
                  <a:srgbClr val="7FC83D"/>
                </a:solidFill>
                <a:latin typeface="Calibri"/>
              </a:rPr>
              <a:t>2.3 · C4 MODEL</a:t>
            </a:r>
          </a:p>
        </p:txBody>
      </p:sp>
      <p:sp>
        <p:nvSpPr>
          <p:cNvPr id="5" name="TextBox 4"/>
          <p:cNvSpPr txBox="1"/>
          <p:nvPr/>
        </p:nvSpPr>
        <p:spPr>
          <a:xfrm>
            <a:off x="502920" y="457200"/>
            <a:ext cx="10515600" cy="566928"/>
          </a:xfrm>
          <a:prstGeom prst="rect">
            <a:avLst/>
          </a:prstGeom>
          <a:noFill/>
        </p:spPr>
        <p:txBody>
          <a:bodyPr wrap="square" anchor="t" lIns="25400" rIns="25400" tIns="12700" bIns="12700">
            <a:spAutoFit/>
          </a:bodyPr>
          <a:lstStyle/>
          <a:p>
            <a:pPr algn="l">
              <a:spcBef>
                <a:spcPts val="0"/>
              </a:spcBef>
              <a:spcAft>
                <a:spcPts val="400"/>
              </a:spcAft>
            </a:pPr>
            <a:r>
              <a:rPr sz="2700" b="1">
                <a:solidFill>
                  <a:srgbClr val="FFFFFF"/>
                </a:solidFill>
                <a:latin typeface="Calibri"/>
              </a:rPr>
              <a:t>Diagrama C3 — Componentes (scooter-rental-service)</a:t>
            </a:r>
          </a:p>
        </p:txBody>
      </p:sp>
      <p:sp>
        <p:nvSpPr>
          <p:cNvPr id="6" name="Oval 5"/>
          <p:cNvSpPr/>
          <p:nvPr/>
        </p:nvSpPr>
        <p:spPr>
          <a:xfrm>
            <a:off x="11018520" y="274320"/>
            <a:ext cx="713232" cy="71323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2200" b="1">
                <a:solidFill>
                  <a:srgbClr val="FFFFFF"/>
                </a:solidFill>
                <a:latin typeface="Calibri"/>
              </a:rPr>
              <a:t>C3</a:t>
            </a:r>
          </a:p>
        </p:txBody>
      </p:sp>
      <p:sp>
        <p:nvSpPr>
          <p:cNvPr id="7" name="Rounded Rectangle 6"/>
          <p:cNvSpPr/>
          <p:nvPr/>
        </p:nvSpPr>
        <p:spPr>
          <a:xfrm>
            <a:off x="502920" y="1371600"/>
            <a:ext cx="7315200" cy="4983480"/>
          </a:xfrm>
          <a:prstGeom prst="roundRect">
            <a:avLst/>
          </a:prstGeom>
          <a:solidFill>
            <a:srgbClr val="F1F6F3"/>
          </a:solidFill>
          <a:ln w="20320">
            <a:solidFill>
              <a:srgbClr val="2D6C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63040"/>
            <a:ext cx="6858000" cy="320040"/>
          </a:xfrm>
          <a:prstGeom prst="rect">
            <a:avLst/>
          </a:prstGeom>
          <a:noFill/>
        </p:spPr>
        <p:txBody>
          <a:bodyPr wrap="square" anchor="t" lIns="25400" rIns="25400" tIns="12700" bIns="12700">
            <a:spAutoFit/>
          </a:bodyPr>
          <a:lstStyle/>
          <a:p>
            <a:pPr algn="l">
              <a:spcBef>
                <a:spcPts val="0"/>
              </a:spcBef>
              <a:spcAft>
                <a:spcPts val="400"/>
              </a:spcAft>
            </a:pPr>
            <a:r>
              <a:rPr sz="1400" b="1">
                <a:solidFill>
                  <a:srgbClr val="2D6CDF"/>
                </a:solidFill>
                <a:latin typeface="Calibri"/>
              </a:rPr>
              <a:t>scooter-rental-service  (:8082)</a:t>
            </a:r>
          </a:p>
        </p:txBody>
      </p:sp>
      <p:sp>
        <p:nvSpPr>
          <p:cNvPr id="9" name="Rounded Rectangle 8"/>
          <p:cNvSpPr/>
          <p:nvPr/>
        </p:nvSpPr>
        <p:spPr>
          <a:xfrm>
            <a:off x="685800" y="1810512"/>
            <a:ext cx="6949440" cy="603504"/>
          </a:xfrm>
          <a:prstGeom prst="roundRect">
            <a:avLst/>
          </a:prstGeom>
          <a:solidFill>
            <a:srgbClr val="2E9E5B"/>
          </a:solidFill>
          <a:ln>
            <a:no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l"/>
            <a:r>
              <a:rPr sz="1400" b="1">
                <a:solidFill>
                  <a:srgbClr val="FFFFFF"/>
                </a:solidFill>
              </a:rPr>
              <a:t>Security · JwtAuthFilter</a:t>
            </a:r>
          </a:p>
          <a:p>
            <a:pPr algn="l"/>
            <a:r>
              <a:rPr sz="1050">
                <a:solidFill>
                  <a:srgbClr val="ECF4F0"/>
                </a:solidFill>
              </a:rPr>
              <a:t>Valida la firma del token y extrae claims (sub, role). Stateless.</a:t>
            </a:r>
          </a:p>
        </p:txBody>
      </p:sp>
      <p:sp>
        <p:nvSpPr>
          <p:cNvPr id="10" name="Rounded Rectangle 9"/>
          <p:cNvSpPr/>
          <p:nvPr/>
        </p:nvSpPr>
        <p:spPr>
          <a:xfrm>
            <a:off x="685800" y="2523744"/>
            <a:ext cx="6949440" cy="603504"/>
          </a:xfrm>
          <a:prstGeom prst="roundRect">
            <a:avLst/>
          </a:prstGeom>
          <a:solidFill>
            <a:srgbClr val="00897B"/>
          </a:solidFill>
          <a:ln>
            <a:no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l"/>
            <a:r>
              <a:rPr sz="1400" b="1">
                <a:solidFill>
                  <a:srgbClr val="FFFFFF"/>
                </a:solidFill>
              </a:rPr>
              <a:t>Controller</a:t>
            </a:r>
          </a:p>
          <a:p>
            <a:pPr algn="l"/>
            <a:r>
              <a:rPr sz="1050">
                <a:solidFill>
                  <a:srgbClr val="ECF4F0"/>
                </a:solidFill>
              </a:rPr>
              <a:t>ScooterController / RentalController · mapeo REST + HATEOAS</a:t>
            </a:r>
          </a:p>
        </p:txBody>
      </p:sp>
      <p:cxnSp>
        <p:nvCxnSpPr>
          <p:cNvPr id="11" name="Connector 10"/>
          <p:cNvCxnSpPr/>
          <p:nvPr/>
        </p:nvCxnSpPr>
        <p:spPr>
          <a:xfrm>
            <a:off x="4160520" y="2414016"/>
            <a:ext cx="0" cy="109728"/>
          </a:xfrm>
          <a:prstGeom prst="line">
            <a:avLst/>
          </a:prstGeom>
          <a:ln w="22860">
            <a:solidFill>
              <a:srgbClr val="5A6B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85800" y="3236976"/>
            <a:ext cx="6949440" cy="603504"/>
          </a:xfrm>
          <a:prstGeom prst="roundRect">
            <a:avLst/>
          </a:prstGeom>
          <a:solidFill>
            <a:srgbClr val="2D6CDF"/>
          </a:solidFill>
          <a:ln>
            <a:no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l"/>
            <a:r>
              <a:rPr sz="1400" b="1">
                <a:solidFill>
                  <a:srgbClr val="FFFFFF"/>
                </a:solidFill>
              </a:rPr>
              <a:t>Service</a:t>
            </a:r>
          </a:p>
          <a:p>
            <a:pPr algn="l"/>
            <a:r>
              <a:rPr sz="1050">
                <a:solidFill>
                  <a:srgbClr val="ECF4F0"/>
                </a:solidFill>
              </a:rPr>
              <a:t>Reglas de negocio: estado de flota, tiempos, batería</a:t>
            </a:r>
          </a:p>
        </p:txBody>
      </p:sp>
      <p:cxnSp>
        <p:nvCxnSpPr>
          <p:cNvPr id="13" name="Connector 12"/>
          <p:cNvCxnSpPr/>
          <p:nvPr/>
        </p:nvCxnSpPr>
        <p:spPr>
          <a:xfrm>
            <a:off x="4160520" y="3127248"/>
            <a:ext cx="0" cy="109728"/>
          </a:xfrm>
          <a:prstGeom prst="line">
            <a:avLst/>
          </a:prstGeom>
          <a:ln w="22860">
            <a:solidFill>
              <a:srgbClr val="5A6B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85800" y="3950208"/>
            <a:ext cx="6949440" cy="603504"/>
          </a:xfrm>
          <a:prstGeom prst="roundRect">
            <a:avLst/>
          </a:prstGeom>
          <a:solidFill>
            <a:srgbClr val="6A4C93"/>
          </a:solidFill>
          <a:ln>
            <a:no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l"/>
            <a:r>
              <a:rPr sz="1400" b="1">
                <a:solidFill>
                  <a:srgbClr val="FFFFFF"/>
                </a:solidFill>
              </a:rPr>
              <a:t>Repository · Spring Data JPA</a:t>
            </a:r>
          </a:p>
          <a:p>
            <a:pPr algn="l"/>
            <a:r>
              <a:rPr sz="1050">
                <a:solidFill>
                  <a:srgbClr val="ECF4F0"/>
                </a:solidFill>
              </a:rPr>
              <a:t>Acceso a datos · ORM Hibernate</a:t>
            </a:r>
          </a:p>
        </p:txBody>
      </p:sp>
      <p:cxnSp>
        <p:nvCxnSpPr>
          <p:cNvPr id="15" name="Connector 14"/>
          <p:cNvCxnSpPr/>
          <p:nvPr/>
        </p:nvCxnSpPr>
        <p:spPr>
          <a:xfrm>
            <a:off x="4160520" y="3840480"/>
            <a:ext cx="0" cy="109728"/>
          </a:xfrm>
          <a:prstGeom prst="line">
            <a:avLst/>
          </a:prstGeom>
          <a:ln w="22860">
            <a:solidFill>
              <a:srgbClr val="5A6B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85800" y="4663440"/>
            <a:ext cx="6949440" cy="603504"/>
          </a:xfrm>
          <a:prstGeom prst="roundRect">
            <a:avLst/>
          </a:prstGeom>
          <a:solidFill>
            <a:srgbClr val="E87A1E"/>
          </a:solidFill>
          <a:ln>
            <a:no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l"/>
            <a:r>
              <a:rPr sz="1400" b="1">
                <a:solidFill>
                  <a:srgbClr val="FFFFFF"/>
                </a:solidFill>
              </a:rPr>
              <a:t>Flyway</a:t>
            </a:r>
          </a:p>
          <a:p>
            <a:pPr algn="l"/>
            <a:r>
              <a:rPr sz="1050">
                <a:solidFill>
                  <a:srgbClr val="ECF4F0"/>
                </a:solidFill>
              </a:rPr>
              <a:t>Versionado del esquema DDL (V1, V2)</a:t>
            </a:r>
          </a:p>
        </p:txBody>
      </p:sp>
      <p:cxnSp>
        <p:nvCxnSpPr>
          <p:cNvPr id="17" name="Connector 16"/>
          <p:cNvCxnSpPr/>
          <p:nvPr/>
        </p:nvCxnSpPr>
        <p:spPr>
          <a:xfrm>
            <a:off x="4160520" y="4553712"/>
            <a:ext cx="0" cy="109728"/>
          </a:xfrm>
          <a:prstGeom prst="line">
            <a:avLst/>
          </a:prstGeom>
          <a:ln w="22860">
            <a:solidFill>
              <a:srgbClr val="5A6B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863840" y="3246120"/>
            <a:ext cx="0" cy="0"/>
          </a:xfrm>
          <a:prstGeom prst="rect">
            <a:avLst/>
          </a:prstGeom>
          <a:noFill/>
        </p:spPr>
        <p:txBody>
          <a:bodyPr wrap="square" anchor="t" lIns="25400" rIns="25400" tIns="12700" bIns="12700">
            <a:spAutoFit/>
          </a:bodyPr>
          <a:lstStyle/>
          <a:p>
            <a:pPr algn="l">
              <a:spcBef>
                <a:spcPts val="0"/>
              </a:spcBef>
              <a:spcAft>
                <a:spcPts val="400"/>
              </a:spcAft>
            </a:pPr>
            <a:r>
              <a:rPr sz="100" b="0">
                <a:solidFill>
                  <a:srgbClr val="FFFFFF"/>
                </a:solidFill>
                <a:latin typeface="Calibri"/>
              </a:rPr>
              <a:t/>
            </a:r>
          </a:p>
        </p:txBody>
      </p:sp>
      <p:sp>
        <p:nvSpPr>
          <p:cNvPr id="19" name="Can 18"/>
          <p:cNvSpPr/>
          <p:nvPr/>
        </p:nvSpPr>
        <p:spPr>
          <a:xfrm>
            <a:off x="2834640" y="5468112"/>
            <a:ext cx="2651760" cy="640080"/>
          </a:xfrm>
          <a:prstGeom prst="can">
            <a:avLst/>
          </a:prstGeom>
          <a:solidFill>
            <a:srgbClr val="FFFFFF"/>
          </a:solidFill>
          <a:ln w="17780">
            <a:solidFill>
              <a:srgbClr val="5A6B63"/>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050" b="1">
                <a:solidFill>
                  <a:srgbClr val="162A22"/>
                </a:solidFill>
                <a:latin typeface="Calibri"/>
              </a:rPr>
              <a:t>PostgreSQL · db_scooter_rentals</a:t>
            </a:r>
          </a:p>
        </p:txBody>
      </p:sp>
      <p:cxnSp>
        <p:nvCxnSpPr>
          <p:cNvPr id="20" name="Connector 19"/>
          <p:cNvCxnSpPr/>
          <p:nvPr/>
        </p:nvCxnSpPr>
        <p:spPr>
          <a:xfrm>
            <a:off x="4160520" y="5266944"/>
            <a:ext cx="0" cy="201168"/>
          </a:xfrm>
          <a:prstGeom prst="line">
            <a:avLst/>
          </a:prstGeom>
          <a:ln w="22860">
            <a:solidFill>
              <a:srgbClr val="5A6B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8092440" y="1371600"/>
            <a:ext cx="3611880" cy="2331720"/>
          </a:xfrm>
          <a:prstGeom prst="rect">
            <a:avLst/>
          </a:prstGeom>
          <a:solidFill>
            <a:srgbClr val="E8F1EC"/>
          </a:solidFill>
          <a:ln w="1524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93608" y="1481328"/>
            <a:ext cx="3246120" cy="365760"/>
          </a:xfrm>
          <a:prstGeom prst="rect">
            <a:avLst/>
          </a:prstGeom>
          <a:noFill/>
        </p:spPr>
        <p:txBody>
          <a:bodyPr wrap="square" anchor="t" lIns="25400" rIns="25400" tIns="12700" bIns="12700">
            <a:spAutoFit/>
          </a:bodyPr>
          <a:lstStyle/>
          <a:p>
            <a:pPr algn="l">
              <a:spcBef>
                <a:spcPts val="0"/>
              </a:spcBef>
              <a:spcAft>
                <a:spcPts val="400"/>
              </a:spcAft>
            </a:pPr>
            <a:r>
              <a:rPr sz="1350" b="1">
                <a:solidFill>
                  <a:srgbClr val="162A22"/>
                </a:solidFill>
                <a:latin typeface="Calibri"/>
              </a:rPr>
              <a:t>Comunicación interna</a:t>
            </a:r>
          </a:p>
        </p:txBody>
      </p:sp>
      <p:sp>
        <p:nvSpPr>
          <p:cNvPr id="23" name="TextBox 22"/>
          <p:cNvSpPr txBox="1"/>
          <p:nvPr/>
        </p:nvSpPr>
        <p:spPr>
          <a:xfrm>
            <a:off x="8293608" y="1874519"/>
            <a:ext cx="3200400" cy="1828800"/>
          </a:xfrm>
          <a:prstGeom prst="rect">
            <a:avLst/>
          </a:prstGeom>
          <a:noFill/>
        </p:spPr>
        <p:txBody>
          <a:bodyPr wrap="square" anchor="t" lIns="25400" rIns="25400" tIns="12700" bIns="12700">
            <a:spAutoFit/>
          </a:bodyPr>
          <a:lstStyle/>
          <a:p>
            <a:pPr algn="l">
              <a:spcBef>
                <a:spcPts val="0"/>
              </a:spcBef>
              <a:spcAft>
                <a:spcPts val="600"/>
              </a:spcAft>
            </a:pPr>
            <a:r>
              <a:rPr sz="1200" b="0">
                <a:solidFill>
                  <a:srgbClr val="5A6B63"/>
                </a:solidFill>
                <a:latin typeface="Calibri"/>
              </a:rPr>
              <a:t>• Las capas se comunican mediante DTOs inmutables (Java Records).</a:t>
            </a:r>
          </a:p>
          <a:p>
            <a:pPr algn="l">
              <a:spcBef>
                <a:spcPts val="0"/>
              </a:spcBef>
              <a:spcAft>
                <a:spcPts val="600"/>
              </a:spcAft>
            </a:pPr>
            <a:r>
              <a:rPr sz="1200" b="0">
                <a:solidFill>
                  <a:srgbClr val="5A6B63"/>
                </a:solidFill>
                <a:latin typeface="Calibri"/>
              </a:rPr>
              <a:t>• Las Entities solo viven entre Service y Repository.</a:t>
            </a:r>
          </a:p>
          <a:p>
            <a:pPr algn="l">
              <a:spcBef>
                <a:spcPts val="0"/>
              </a:spcBef>
              <a:spcAft>
                <a:spcPts val="600"/>
              </a:spcAft>
            </a:pPr>
            <a:r>
              <a:rPr sz="1200" b="0">
                <a:solidFill>
                  <a:srgbClr val="5A6B63"/>
                </a:solidFill>
                <a:latin typeface="Calibri"/>
              </a:rPr>
              <a:t>• Controllers sin lógica de negocio (SRP).</a:t>
            </a:r>
          </a:p>
        </p:txBody>
      </p:sp>
      <p:sp>
        <p:nvSpPr>
          <p:cNvPr id="24" name="Rectangle 23"/>
          <p:cNvSpPr/>
          <p:nvPr/>
        </p:nvSpPr>
        <p:spPr>
          <a:xfrm>
            <a:off x="8092440" y="3886200"/>
            <a:ext cx="3611880" cy="2468880"/>
          </a:xfrm>
          <a:prstGeom prst="rect">
            <a:avLst/>
          </a:prstGeom>
          <a:solidFill>
            <a:srgbClr val="FFFFFF"/>
          </a:solidFill>
          <a:ln w="17780">
            <a:solidFill>
              <a:srgbClr val="E87A1E"/>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93608" y="3995928"/>
            <a:ext cx="3246120" cy="365760"/>
          </a:xfrm>
          <a:prstGeom prst="rect">
            <a:avLst/>
          </a:prstGeom>
          <a:noFill/>
        </p:spPr>
        <p:txBody>
          <a:bodyPr wrap="square" anchor="t" lIns="25400" rIns="25400" tIns="12700" bIns="12700">
            <a:spAutoFit/>
          </a:bodyPr>
          <a:lstStyle/>
          <a:p>
            <a:pPr algn="l">
              <a:spcBef>
                <a:spcPts val="0"/>
              </a:spcBef>
              <a:spcAft>
                <a:spcPts val="400"/>
              </a:spcAft>
            </a:pPr>
            <a:r>
              <a:rPr sz="1350" b="1">
                <a:solidFill>
                  <a:srgbClr val="E87A1E"/>
                </a:solidFill>
                <a:latin typeface="Calibri"/>
              </a:rPr>
              <a:t>Comunicación externa</a:t>
            </a:r>
          </a:p>
        </p:txBody>
      </p:sp>
      <p:sp>
        <p:nvSpPr>
          <p:cNvPr id="26" name="TextBox 25"/>
          <p:cNvSpPr txBox="1"/>
          <p:nvPr/>
        </p:nvSpPr>
        <p:spPr>
          <a:xfrm>
            <a:off x="8293608" y="4389120"/>
            <a:ext cx="3200400" cy="1828800"/>
          </a:xfrm>
          <a:prstGeom prst="rect">
            <a:avLst/>
          </a:prstGeom>
          <a:noFill/>
        </p:spPr>
        <p:txBody>
          <a:bodyPr wrap="square" anchor="t" lIns="25400" rIns="25400" tIns="12700" bIns="12700">
            <a:spAutoFit/>
          </a:bodyPr>
          <a:lstStyle/>
          <a:p>
            <a:pPr algn="l">
              <a:spcBef>
                <a:spcPts val="0"/>
              </a:spcBef>
              <a:spcAft>
                <a:spcPts val="600"/>
              </a:spcAft>
            </a:pPr>
            <a:r>
              <a:rPr sz="1250" b="1">
                <a:solidFill>
                  <a:srgbClr val="162A22"/>
                </a:solidFill>
                <a:latin typeface="Calibri"/>
              </a:rPr>
              <a:t>Client (WebClient / Feign)</a:t>
            </a:r>
          </a:p>
          <a:p>
            <a:pPr algn="l">
              <a:spcBef>
                <a:spcPts val="0"/>
              </a:spcBef>
              <a:spcAft>
                <a:spcPts val="600"/>
              </a:spcAft>
            </a:pPr>
            <a:r>
              <a:rPr sz="1200" b="0">
                <a:solidFill>
                  <a:srgbClr val="5A6B63"/>
                </a:solidFill>
                <a:latin typeface="Calibri"/>
              </a:rPr>
              <a:t>El BFF y los servicios se comunican entre sí intercambiando DTOs sobre HTTP.</a:t>
            </a:r>
          </a:p>
          <a:p>
            <a:pPr algn="l">
              <a:spcBef>
                <a:spcPts val="0"/>
              </a:spcBef>
              <a:spcAft>
                <a:spcPts val="600"/>
              </a:spcAft>
            </a:pPr>
            <a:r>
              <a:rPr sz="1200" b="0">
                <a:solidFill>
                  <a:srgbClr val="5A6B63"/>
                </a:solidFill>
                <a:latin typeface="Calibri"/>
              </a:rPr>
              <a:t>Todo entra por el JwtAuthFilter → 403 sin token válido.</a:t>
            </a:r>
          </a:p>
        </p:txBody>
      </p:sp>
      <p:sp>
        <p:nvSpPr>
          <p:cNvPr id="27" name="TextBox 26"/>
          <p:cNvSpPr txBox="1"/>
          <p:nvPr/>
        </p:nvSpPr>
        <p:spPr>
          <a:xfrm>
            <a:off x="502920" y="6473952"/>
            <a:ext cx="5486400" cy="274320"/>
          </a:xfrm>
          <a:prstGeom prst="rect">
            <a:avLst/>
          </a:prstGeom>
          <a:noFill/>
        </p:spPr>
        <p:txBody>
          <a:bodyPr wrap="square" anchor="t" lIns="25400" rIns="25400" tIns="12700" bIns="12700">
            <a:spAutoFit/>
          </a:bodyPr>
          <a:lstStyle/>
          <a:p>
            <a:pPr algn="l">
              <a:spcBef>
                <a:spcPts val="0"/>
              </a:spcBef>
              <a:spcAft>
                <a:spcPts val="400"/>
              </a:spcAft>
            </a:pPr>
            <a:r>
              <a:rPr sz="900" b="0">
                <a:solidFill>
                  <a:srgbClr val="5A6B63"/>
                </a:solidFill>
                <a:latin typeface="Calibri"/>
              </a:rPr>
              <a:t>VeloUrbe · Informe Técnico de Arquitectura</a:t>
            </a:r>
          </a:p>
        </p:txBody>
      </p:sp>
      <p:sp>
        <p:nvSpPr>
          <p:cNvPr id="28" name="Rectangle 27"/>
          <p:cNvSpPr/>
          <p:nvPr/>
        </p:nvSpPr>
        <p:spPr>
          <a:xfrm>
            <a:off x="11475720" y="6437376"/>
            <a:ext cx="457200" cy="310896"/>
          </a:xfrm>
          <a:prstGeom prst="rect">
            <a:avLst/>
          </a:prstGeom>
          <a:solidFill>
            <a:srgbClr val="E8F1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000" b="1">
                <a:solidFill>
                  <a:srgbClr val="2E9E5B"/>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162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38100"/>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365760"/>
          </a:xfrm>
          <a:prstGeom prst="rect">
            <a:avLst/>
          </a:prstGeom>
          <a:noFill/>
        </p:spPr>
        <p:txBody>
          <a:bodyPr wrap="square" anchor="t" lIns="25400" rIns="25400" tIns="12700" bIns="12700">
            <a:spAutoFit/>
          </a:bodyPr>
          <a:lstStyle/>
          <a:p>
            <a:pPr algn="l">
              <a:spcBef>
                <a:spcPts val="0"/>
              </a:spcBef>
              <a:spcAft>
                <a:spcPts val="400"/>
              </a:spcAft>
            </a:pPr>
            <a:r>
              <a:rPr sz="1200" b="1">
                <a:solidFill>
                  <a:srgbClr val="7FC83D"/>
                </a:solidFill>
                <a:latin typeface="Calibri"/>
              </a:rPr>
              <a:t>2.4 · ESTÁNDARES</a:t>
            </a:r>
          </a:p>
        </p:txBody>
      </p:sp>
      <p:sp>
        <p:nvSpPr>
          <p:cNvPr id="5" name="TextBox 4"/>
          <p:cNvSpPr txBox="1"/>
          <p:nvPr/>
        </p:nvSpPr>
        <p:spPr>
          <a:xfrm>
            <a:off x="502920" y="457200"/>
            <a:ext cx="10515600" cy="566928"/>
          </a:xfrm>
          <a:prstGeom prst="rect">
            <a:avLst/>
          </a:prstGeom>
          <a:noFill/>
        </p:spPr>
        <p:txBody>
          <a:bodyPr wrap="square" anchor="t" lIns="25400" rIns="25400" tIns="12700" bIns="12700">
            <a:spAutoFit/>
          </a:bodyPr>
          <a:lstStyle/>
          <a:p>
            <a:pPr algn="l">
              <a:spcBef>
                <a:spcPts val="0"/>
              </a:spcBef>
              <a:spcAft>
                <a:spcPts val="400"/>
              </a:spcAft>
            </a:pPr>
            <a:r>
              <a:rPr sz="2700" b="1">
                <a:solidFill>
                  <a:srgbClr val="FFFFFF"/>
                </a:solidFill>
                <a:latin typeface="Calibri"/>
              </a:rPr>
              <a:t>Clean Code y Buenas Prácticas</a:t>
            </a:r>
          </a:p>
        </p:txBody>
      </p:sp>
      <p:sp>
        <p:nvSpPr>
          <p:cNvPr id="6" name="Oval 5"/>
          <p:cNvSpPr/>
          <p:nvPr/>
        </p:nvSpPr>
        <p:spPr>
          <a:xfrm>
            <a:off x="11018520" y="274320"/>
            <a:ext cx="713232" cy="71323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2200" b="1">
                <a:solidFill>
                  <a:srgbClr val="FFFFFF"/>
                </a:solidFill>
                <a:latin typeface="Calibri"/>
              </a:rPr>
              <a:t>CC</a:t>
            </a:r>
          </a:p>
        </p:txBody>
      </p:sp>
      <p:sp>
        <p:nvSpPr>
          <p:cNvPr id="7" name="Rectangle 6"/>
          <p:cNvSpPr/>
          <p:nvPr/>
        </p:nvSpPr>
        <p:spPr>
          <a:xfrm>
            <a:off x="502920" y="1417320"/>
            <a:ext cx="5440680" cy="1078992"/>
          </a:xfrm>
          <a:prstGeom prst="rect">
            <a:avLst/>
          </a:prstGeom>
          <a:solidFill>
            <a:srgbClr val="FFFFFF"/>
          </a:solidFill>
          <a:ln w="1397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417320"/>
            <a:ext cx="100584" cy="1078992"/>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45336"/>
            <a:ext cx="4983480" cy="365760"/>
          </a:xfrm>
          <a:prstGeom prst="rect">
            <a:avLst/>
          </a:prstGeom>
          <a:noFill/>
        </p:spPr>
        <p:txBody>
          <a:bodyPr wrap="square" anchor="t" lIns="25400" rIns="25400" tIns="12700" bIns="12700">
            <a:spAutoFit/>
          </a:bodyPr>
          <a:lstStyle/>
          <a:p>
            <a:pPr algn="l">
              <a:spcBef>
                <a:spcPts val="0"/>
              </a:spcBef>
              <a:spcAft>
                <a:spcPts val="400"/>
              </a:spcAft>
            </a:pPr>
            <a:r>
              <a:rPr sz="1500" b="1">
                <a:solidFill>
                  <a:srgbClr val="2E9E5B"/>
                </a:solidFill>
                <a:latin typeface="Calibri"/>
              </a:rPr>
              <a:t>Idioma inglés</a:t>
            </a:r>
          </a:p>
        </p:txBody>
      </p:sp>
      <p:sp>
        <p:nvSpPr>
          <p:cNvPr id="10" name="TextBox 9"/>
          <p:cNvSpPr txBox="1"/>
          <p:nvPr/>
        </p:nvSpPr>
        <p:spPr>
          <a:xfrm>
            <a:off x="777240" y="1920240"/>
            <a:ext cx="4937760" cy="548640"/>
          </a:xfrm>
          <a:prstGeom prst="rect">
            <a:avLst/>
          </a:prstGeom>
          <a:noFill/>
        </p:spPr>
        <p:txBody>
          <a:bodyPr wrap="square" anchor="t" lIns="25400" rIns="25400" tIns="12700" bIns="12700">
            <a:spAutoFit/>
          </a:bodyPr>
          <a:lstStyle/>
          <a:p>
            <a:pPr algn="l">
              <a:spcBef>
                <a:spcPts val="0"/>
              </a:spcBef>
              <a:spcAft>
                <a:spcPts val="400"/>
              </a:spcAft>
            </a:pPr>
            <a:r>
              <a:rPr sz="1200" b="0">
                <a:solidFill>
                  <a:srgbClr val="5A6B63"/>
                </a:solidFill>
                <a:latin typeface="Calibri"/>
              </a:rPr>
              <a:t>Clases, variables, métodos y tablas escritos íntegramente en inglés.</a:t>
            </a:r>
          </a:p>
        </p:txBody>
      </p:sp>
      <p:sp>
        <p:nvSpPr>
          <p:cNvPr id="11" name="Rectangle 10"/>
          <p:cNvSpPr/>
          <p:nvPr/>
        </p:nvSpPr>
        <p:spPr>
          <a:xfrm>
            <a:off x="6108192" y="1417320"/>
            <a:ext cx="5440680" cy="1078992"/>
          </a:xfrm>
          <a:prstGeom prst="rect">
            <a:avLst/>
          </a:prstGeom>
          <a:solidFill>
            <a:srgbClr val="FFFFFF"/>
          </a:solidFill>
          <a:ln w="1397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08192" y="1417320"/>
            <a:ext cx="100584" cy="1078992"/>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1545336"/>
            <a:ext cx="4983480" cy="365760"/>
          </a:xfrm>
          <a:prstGeom prst="rect">
            <a:avLst/>
          </a:prstGeom>
          <a:noFill/>
        </p:spPr>
        <p:txBody>
          <a:bodyPr wrap="square" anchor="t" lIns="25400" rIns="25400" tIns="12700" bIns="12700">
            <a:spAutoFit/>
          </a:bodyPr>
          <a:lstStyle/>
          <a:p>
            <a:pPr algn="l">
              <a:spcBef>
                <a:spcPts val="0"/>
              </a:spcBef>
              <a:spcAft>
                <a:spcPts val="400"/>
              </a:spcAft>
            </a:pPr>
            <a:r>
              <a:rPr sz="1500" b="1">
                <a:solidFill>
                  <a:srgbClr val="00897B"/>
                </a:solidFill>
                <a:latin typeface="Calibri"/>
              </a:rPr>
              <a:t>Javadoc</a:t>
            </a:r>
          </a:p>
        </p:txBody>
      </p:sp>
      <p:sp>
        <p:nvSpPr>
          <p:cNvPr id="14" name="TextBox 13"/>
          <p:cNvSpPr txBox="1"/>
          <p:nvPr/>
        </p:nvSpPr>
        <p:spPr>
          <a:xfrm>
            <a:off x="6382512" y="1920240"/>
            <a:ext cx="4937760" cy="548640"/>
          </a:xfrm>
          <a:prstGeom prst="rect">
            <a:avLst/>
          </a:prstGeom>
          <a:noFill/>
        </p:spPr>
        <p:txBody>
          <a:bodyPr wrap="square" anchor="t" lIns="25400" rIns="25400" tIns="12700" bIns="12700">
            <a:spAutoFit/>
          </a:bodyPr>
          <a:lstStyle/>
          <a:p>
            <a:pPr algn="l">
              <a:spcBef>
                <a:spcPts val="0"/>
              </a:spcBef>
              <a:spcAft>
                <a:spcPts val="400"/>
              </a:spcAft>
            </a:pPr>
            <a:r>
              <a:rPr sz="1200" b="0">
                <a:solidFill>
                  <a:srgbClr val="5A6B63"/>
                </a:solidFill>
                <a:latin typeface="Calibri"/>
              </a:rPr>
              <a:t>Documentación con comentarios de bloque limpios, sin // redundantes.</a:t>
            </a:r>
          </a:p>
        </p:txBody>
      </p:sp>
      <p:sp>
        <p:nvSpPr>
          <p:cNvPr id="15" name="Rectangle 14"/>
          <p:cNvSpPr/>
          <p:nvPr/>
        </p:nvSpPr>
        <p:spPr>
          <a:xfrm>
            <a:off x="502920" y="2642616"/>
            <a:ext cx="5440680" cy="1078992"/>
          </a:xfrm>
          <a:prstGeom prst="rect">
            <a:avLst/>
          </a:prstGeom>
          <a:solidFill>
            <a:srgbClr val="FFFFFF"/>
          </a:solidFill>
          <a:ln w="1397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2642616"/>
            <a:ext cx="100584" cy="1078992"/>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70632"/>
            <a:ext cx="4983480" cy="365760"/>
          </a:xfrm>
          <a:prstGeom prst="rect">
            <a:avLst/>
          </a:prstGeom>
          <a:noFill/>
        </p:spPr>
        <p:txBody>
          <a:bodyPr wrap="square" anchor="t" lIns="25400" rIns="25400" tIns="12700" bIns="12700">
            <a:spAutoFit/>
          </a:bodyPr>
          <a:lstStyle/>
          <a:p>
            <a:pPr algn="l">
              <a:spcBef>
                <a:spcPts val="0"/>
              </a:spcBef>
              <a:spcAft>
                <a:spcPts val="400"/>
              </a:spcAft>
            </a:pPr>
            <a:r>
              <a:rPr sz="1500" b="1">
                <a:solidFill>
                  <a:srgbClr val="2D6CDF"/>
                </a:solidFill>
                <a:latin typeface="Calibri"/>
              </a:rPr>
              <a:t>Java Records</a:t>
            </a:r>
          </a:p>
        </p:txBody>
      </p:sp>
      <p:sp>
        <p:nvSpPr>
          <p:cNvPr id="18" name="TextBox 17"/>
          <p:cNvSpPr txBox="1"/>
          <p:nvPr/>
        </p:nvSpPr>
        <p:spPr>
          <a:xfrm>
            <a:off x="777240" y="3145536"/>
            <a:ext cx="4937760" cy="548640"/>
          </a:xfrm>
          <a:prstGeom prst="rect">
            <a:avLst/>
          </a:prstGeom>
          <a:noFill/>
        </p:spPr>
        <p:txBody>
          <a:bodyPr wrap="square" anchor="t" lIns="25400" rIns="25400" tIns="12700" bIns="12700">
            <a:spAutoFit/>
          </a:bodyPr>
          <a:lstStyle/>
          <a:p>
            <a:pPr algn="l">
              <a:spcBef>
                <a:spcPts val="0"/>
              </a:spcBef>
              <a:spcAft>
                <a:spcPts val="400"/>
              </a:spcAft>
            </a:pPr>
            <a:r>
              <a:rPr sz="1200" b="0">
                <a:solidFill>
                  <a:srgbClr val="5A6B63"/>
                </a:solidFill>
                <a:latin typeface="Calibri"/>
              </a:rPr>
              <a:t>DTOs inmutables con record para transferencia de datos sin mutabilidad.</a:t>
            </a:r>
          </a:p>
        </p:txBody>
      </p:sp>
      <p:sp>
        <p:nvSpPr>
          <p:cNvPr id="19" name="Rectangle 18"/>
          <p:cNvSpPr/>
          <p:nvPr/>
        </p:nvSpPr>
        <p:spPr>
          <a:xfrm>
            <a:off x="6108192" y="2642616"/>
            <a:ext cx="5440680" cy="1078992"/>
          </a:xfrm>
          <a:prstGeom prst="rect">
            <a:avLst/>
          </a:prstGeom>
          <a:solidFill>
            <a:srgbClr val="FFFFFF"/>
          </a:solidFill>
          <a:ln w="1397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08192" y="2642616"/>
            <a:ext cx="100584" cy="1078992"/>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82512" y="2770632"/>
            <a:ext cx="4983480" cy="365760"/>
          </a:xfrm>
          <a:prstGeom prst="rect">
            <a:avLst/>
          </a:prstGeom>
          <a:noFill/>
        </p:spPr>
        <p:txBody>
          <a:bodyPr wrap="square" anchor="t" lIns="25400" rIns="25400" tIns="12700" bIns="12700">
            <a:spAutoFit/>
          </a:bodyPr>
          <a:lstStyle/>
          <a:p>
            <a:pPr algn="l">
              <a:spcBef>
                <a:spcPts val="0"/>
              </a:spcBef>
              <a:spcAft>
                <a:spcPts val="400"/>
              </a:spcAft>
            </a:pPr>
            <a:r>
              <a:rPr sz="1500" b="1">
                <a:solidFill>
                  <a:srgbClr val="E87A1E"/>
                </a:solidFill>
                <a:latin typeface="Calibri"/>
              </a:rPr>
              <a:t>API de Streams</a:t>
            </a:r>
          </a:p>
        </p:txBody>
      </p:sp>
      <p:sp>
        <p:nvSpPr>
          <p:cNvPr id="22" name="TextBox 21"/>
          <p:cNvSpPr txBox="1"/>
          <p:nvPr/>
        </p:nvSpPr>
        <p:spPr>
          <a:xfrm>
            <a:off x="6382512" y="3145536"/>
            <a:ext cx="4937760" cy="548640"/>
          </a:xfrm>
          <a:prstGeom prst="rect">
            <a:avLst/>
          </a:prstGeom>
          <a:noFill/>
        </p:spPr>
        <p:txBody>
          <a:bodyPr wrap="square" anchor="t" lIns="25400" rIns="25400" tIns="12700" bIns="12700">
            <a:spAutoFit/>
          </a:bodyPr>
          <a:lstStyle/>
          <a:p>
            <a:pPr algn="l">
              <a:spcBef>
                <a:spcPts val="0"/>
              </a:spcBef>
              <a:spcAft>
                <a:spcPts val="400"/>
              </a:spcAft>
            </a:pPr>
            <a:r>
              <a:rPr sz="1200" b="0">
                <a:solidFill>
                  <a:srgbClr val="5A6B63"/>
                </a:solidFill>
                <a:latin typeface="Calibri"/>
              </a:rPr>
              <a:t>Transformación declarativa de colecciones; se evitan bucles imperativos.</a:t>
            </a:r>
          </a:p>
        </p:txBody>
      </p:sp>
      <p:sp>
        <p:nvSpPr>
          <p:cNvPr id="23" name="Rectangle 22"/>
          <p:cNvSpPr/>
          <p:nvPr/>
        </p:nvSpPr>
        <p:spPr>
          <a:xfrm>
            <a:off x="502920" y="3867912"/>
            <a:ext cx="5440680" cy="1078992"/>
          </a:xfrm>
          <a:prstGeom prst="rect">
            <a:avLst/>
          </a:prstGeom>
          <a:solidFill>
            <a:srgbClr val="FFFFFF"/>
          </a:solidFill>
          <a:ln w="1397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2920" y="3867912"/>
            <a:ext cx="100584" cy="1078992"/>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3995928"/>
            <a:ext cx="4983480" cy="365760"/>
          </a:xfrm>
          <a:prstGeom prst="rect">
            <a:avLst/>
          </a:prstGeom>
          <a:noFill/>
        </p:spPr>
        <p:txBody>
          <a:bodyPr wrap="square" anchor="t" lIns="25400" rIns="25400" tIns="12700" bIns="12700">
            <a:spAutoFit/>
          </a:bodyPr>
          <a:lstStyle/>
          <a:p>
            <a:pPr algn="l">
              <a:spcBef>
                <a:spcPts val="0"/>
              </a:spcBef>
              <a:spcAft>
                <a:spcPts val="400"/>
              </a:spcAft>
            </a:pPr>
            <a:r>
              <a:rPr sz="1500" b="1">
                <a:solidFill>
                  <a:srgbClr val="00897B"/>
                </a:solidFill>
                <a:latin typeface="Calibri"/>
              </a:rPr>
              <a:t>DRY</a:t>
            </a:r>
          </a:p>
        </p:txBody>
      </p:sp>
      <p:sp>
        <p:nvSpPr>
          <p:cNvPr id="26" name="TextBox 25"/>
          <p:cNvSpPr txBox="1"/>
          <p:nvPr/>
        </p:nvSpPr>
        <p:spPr>
          <a:xfrm>
            <a:off x="777240" y="4370832"/>
            <a:ext cx="4937760" cy="548640"/>
          </a:xfrm>
          <a:prstGeom prst="rect">
            <a:avLst/>
          </a:prstGeom>
          <a:noFill/>
        </p:spPr>
        <p:txBody>
          <a:bodyPr wrap="square" anchor="t" lIns="25400" rIns="25400" tIns="12700" bIns="12700">
            <a:spAutoFit/>
          </a:bodyPr>
          <a:lstStyle/>
          <a:p>
            <a:pPr algn="l">
              <a:spcBef>
                <a:spcPts val="0"/>
              </a:spcBef>
              <a:spcAft>
                <a:spcPts val="400"/>
              </a:spcAft>
            </a:pPr>
            <a:r>
              <a:rPr sz="1200" b="0">
                <a:solidFill>
                  <a:srgbClr val="5A6B63"/>
                </a:solidFill>
                <a:latin typeface="Calibri"/>
              </a:rPr>
              <a:t>Lógica común abstraída en utilitarios y componentes reutilizables.</a:t>
            </a:r>
          </a:p>
        </p:txBody>
      </p:sp>
      <p:sp>
        <p:nvSpPr>
          <p:cNvPr id="27" name="Rectangle 26"/>
          <p:cNvSpPr/>
          <p:nvPr/>
        </p:nvSpPr>
        <p:spPr>
          <a:xfrm>
            <a:off x="6108192" y="3867912"/>
            <a:ext cx="5440680" cy="1078992"/>
          </a:xfrm>
          <a:prstGeom prst="rect">
            <a:avLst/>
          </a:prstGeom>
          <a:solidFill>
            <a:srgbClr val="FFFFFF"/>
          </a:solidFill>
          <a:ln w="1397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08192" y="3867912"/>
            <a:ext cx="100584" cy="1078992"/>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82512" y="3995928"/>
            <a:ext cx="4983480" cy="365760"/>
          </a:xfrm>
          <a:prstGeom prst="rect">
            <a:avLst/>
          </a:prstGeom>
          <a:noFill/>
        </p:spPr>
        <p:txBody>
          <a:bodyPr wrap="square" anchor="t" lIns="25400" rIns="25400" tIns="12700" bIns="12700">
            <a:spAutoFit/>
          </a:bodyPr>
          <a:lstStyle/>
          <a:p>
            <a:pPr algn="l">
              <a:spcBef>
                <a:spcPts val="0"/>
              </a:spcBef>
              <a:spcAft>
                <a:spcPts val="400"/>
              </a:spcAft>
            </a:pPr>
            <a:r>
              <a:rPr sz="1500" b="1">
                <a:solidFill>
                  <a:srgbClr val="2E9E5B"/>
                </a:solidFill>
                <a:latin typeface="Calibri"/>
              </a:rPr>
              <a:t>Manejo Global de Errores</a:t>
            </a:r>
          </a:p>
        </p:txBody>
      </p:sp>
      <p:sp>
        <p:nvSpPr>
          <p:cNvPr id="30" name="TextBox 29"/>
          <p:cNvSpPr txBox="1"/>
          <p:nvPr/>
        </p:nvSpPr>
        <p:spPr>
          <a:xfrm>
            <a:off x="6382512" y="4370832"/>
            <a:ext cx="4937760" cy="548640"/>
          </a:xfrm>
          <a:prstGeom prst="rect">
            <a:avLst/>
          </a:prstGeom>
          <a:noFill/>
        </p:spPr>
        <p:txBody>
          <a:bodyPr wrap="square" anchor="t" lIns="25400" rIns="25400" tIns="12700" bIns="12700">
            <a:spAutoFit/>
          </a:bodyPr>
          <a:lstStyle/>
          <a:p>
            <a:pPr algn="l">
              <a:spcBef>
                <a:spcPts val="0"/>
              </a:spcBef>
              <a:spcAft>
                <a:spcPts val="400"/>
              </a:spcAft>
            </a:pPr>
            <a:r>
              <a:rPr sz="1200" b="0">
                <a:solidFill>
                  <a:srgbClr val="5A6B63"/>
                </a:solidFill>
                <a:latin typeface="Calibri"/>
              </a:rPr>
              <a:t>@RestControllerAdvice + @ExceptionHandler → respuestas JSON 404/409/401.</a:t>
            </a:r>
          </a:p>
        </p:txBody>
      </p:sp>
      <p:sp>
        <p:nvSpPr>
          <p:cNvPr id="31" name="Rectangle 30"/>
          <p:cNvSpPr/>
          <p:nvPr/>
        </p:nvSpPr>
        <p:spPr>
          <a:xfrm>
            <a:off x="502920" y="5093208"/>
            <a:ext cx="5440680" cy="1078992"/>
          </a:xfrm>
          <a:prstGeom prst="rect">
            <a:avLst/>
          </a:prstGeom>
          <a:solidFill>
            <a:srgbClr val="FFFFFF"/>
          </a:solidFill>
          <a:ln w="1397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2920" y="5093208"/>
            <a:ext cx="100584" cy="1078992"/>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5221224"/>
            <a:ext cx="4983480" cy="365760"/>
          </a:xfrm>
          <a:prstGeom prst="rect">
            <a:avLst/>
          </a:prstGeom>
          <a:noFill/>
        </p:spPr>
        <p:txBody>
          <a:bodyPr wrap="square" anchor="t" lIns="25400" rIns="25400" tIns="12700" bIns="12700">
            <a:spAutoFit/>
          </a:bodyPr>
          <a:lstStyle/>
          <a:p>
            <a:pPr algn="l">
              <a:spcBef>
                <a:spcPts val="0"/>
              </a:spcBef>
              <a:spcAft>
                <a:spcPts val="400"/>
              </a:spcAft>
            </a:pPr>
            <a:r>
              <a:rPr sz="1500" b="1">
                <a:solidFill>
                  <a:srgbClr val="2D6CDF"/>
                </a:solidFill>
                <a:latin typeface="Calibri"/>
              </a:rPr>
              <a:t>Controllers limpios</a:t>
            </a:r>
          </a:p>
        </p:txBody>
      </p:sp>
      <p:sp>
        <p:nvSpPr>
          <p:cNvPr id="34" name="TextBox 33"/>
          <p:cNvSpPr txBox="1"/>
          <p:nvPr/>
        </p:nvSpPr>
        <p:spPr>
          <a:xfrm>
            <a:off x="777240" y="5596128"/>
            <a:ext cx="4937760" cy="548640"/>
          </a:xfrm>
          <a:prstGeom prst="rect">
            <a:avLst/>
          </a:prstGeom>
          <a:noFill/>
        </p:spPr>
        <p:txBody>
          <a:bodyPr wrap="square" anchor="t" lIns="25400" rIns="25400" tIns="12700" bIns="12700">
            <a:spAutoFit/>
          </a:bodyPr>
          <a:lstStyle/>
          <a:p>
            <a:pPr algn="l">
              <a:spcBef>
                <a:spcPts val="0"/>
              </a:spcBef>
              <a:spcAft>
                <a:spcPts val="400"/>
              </a:spcAft>
            </a:pPr>
            <a:r>
              <a:rPr sz="1200" b="0">
                <a:solidFill>
                  <a:srgbClr val="5A6B63"/>
                </a:solidFill>
                <a:latin typeface="Calibri"/>
              </a:rPr>
              <a:t>Toda la lógica vive en la capa Service; Swagger queda limpio (SRP).</a:t>
            </a:r>
          </a:p>
        </p:txBody>
      </p:sp>
      <p:sp>
        <p:nvSpPr>
          <p:cNvPr id="35" name="Rectangle 34"/>
          <p:cNvSpPr/>
          <p:nvPr/>
        </p:nvSpPr>
        <p:spPr>
          <a:xfrm>
            <a:off x="6108192" y="5093208"/>
            <a:ext cx="5440680" cy="1078992"/>
          </a:xfrm>
          <a:prstGeom prst="rect">
            <a:avLst/>
          </a:prstGeom>
          <a:solidFill>
            <a:srgbClr val="FFFFFF"/>
          </a:solidFill>
          <a:ln w="1397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108192" y="5093208"/>
            <a:ext cx="100584" cy="1078992"/>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82512" y="5221224"/>
            <a:ext cx="4983480" cy="365760"/>
          </a:xfrm>
          <a:prstGeom prst="rect">
            <a:avLst/>
          </a:prstGeom>
          <a:noFill/>
        </p:spPr>
        <p:txBody>
          <a:bodyPr wrap="square" anchor="t" lIns="25400" rIns="25400" tIns="12700" bIns="12700">
            <a:spAutoFit/>
          </a:bodyPr>
          <a:lstStyle/>
          <a:p>
            <a:pPr algn="l">
              <a:spcBef>
                <a:spcPts val="0"/>
              </a:spcBef>
              <a:spcAft>
                <a:spcPts val="400"/>
              </a:spcAft>
            </a:pPr>
            <a:r>
              <a:rPr sz="1500" b="1">
                <a:solidFill>
                  <a:srgbClr val="E87A1E"/>
                </a:solidFill>
                <a:latin typeface="Calibri"/>
              </a:rPr>
              <a:t>HATEOAS</a:t>
            </a:r>
          </a:p>
        </p:txBody>
      </p:sp>
      <p:sp>
        <p:nvSpPr>
          <p:cNvPr id="38" name="TextBox 37"/>
          <p:cNvSpPr txBox="1"/>
          <p:nvPr/>
        </p:nvSpPr>
        <p:spPr>
          <a:xfrm>
            <a:off x="6382512" y="5596128"/>
            <a:ext cx="4937760" cy="548640"/>
          </a:xfrm>
          <a:prstGeom prst="rect">
            <a:avLst/>
          </a:prstGeom>
          <a:noFill/>
        </p:spPr>
        <p:txBody>
          <a:bodyPr wrap="square" anchor="t" lIns="25400" rIns="25400" tIns="12700" bIns="12700">
            <a:spAutoFit/>
          </a:bodyPr>
          <a:lstStyle/>
          <a:p>
            <a:pPr algn="l">
              <a:spcBef>
                <a:spcPts val="0"/>
              </a:spcBef>
              <a:spcAft>
                <a:spcPts val="400"/>
              </a:spcAft>
            </a:pPr>
            <a:r>
              <a:rPr sz="1200" b="0">
                <a:solidFill>
                  <a:srgbClr val="5A6B63"/>
                </a:solidFill>
                <a:latin typeface="Calibri"/>
              </a:rPr>
              <a:t>Respuestas REST enriquecidas con enlaces de hipermedia.</a:t>
            </a:r>
          </a:p>
        </p:txBody>
      </p:sp>
      <p:sp>
        <p:nvSpPr>
          <p:cNvPr id="39" name="TextBox 38"/>
          <p:cNvSpPr txBox="1"/>
          <p:nvPr/>
        </p:nvSpPr>
        <p:spPr>
          <a:xfrm>
            <a:off x="502920" y="6473952"/>
            <a:ext cx="5486400" cy="274320"/>
          </a:xfrm>
          <a:prstGeom prst="rect">
            <a:avLst/>
          </a:prstGeom>
          <a:noFill/>
        </p:spPr>
        <p:txBody>
          <a:bodyPr wrap="square" anchor="t" lIns="25400" rIns="25400" tIns="12700" bIns="12700">
            <a:spAutoFit/>
          </a:bodyPr>
          <a:lstStyle/>
          <a:p>
            <a:pPr algn="l">
              <a:spcBef>
                <a:spcPts val="0"/>
              </a:spcBef>
              <a:spcAft>
                <a:spcPts val="400"/>
              </a:spcAft>
            </a:pPr>
            <a:r>
              <a:rPr sz="900" b="0">
                <a:solidFill>
                  <a:srgbClr val="5A6B63"/>
                </a:solidFill>
                <a:latin typeface="Calibri"/>
              </a:rPr>
              <a:t>VeloUrbe · Informe Técnico de Arquitectura</a:t>
            </a:r>
          </a:p>
        </p:txBody>
      </p:sp>
      <p:sp>
        <p:nvSpPr>
          <p:cNvPr id="40" name="Rectangle 39"/>
          <p:cNvSpPr/>
          <p:nvPr/>
        </p:nvSpPr>
        <p:spPr>
          <a:xfrm>
            <a:off x="11475720" y="6437376"/>
            <a:ext cx="457200" cy="310896"/>
          </a:xfrm>
          <a:prstGeom prst="rect">
            <a:avLst/>
          </a:prstGeom>
          <a:solidFill>
            <a:srgbClr val="E8F1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000" b="1">
                <a:solidFill>
                  <a:srgbClr val="2E9E5B"/>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162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38100"/>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365760"/>
          </a:xfrm>
          <a:prstGeom prst="rect">
            <a:avLst/>
          </a:prstGeom>
          <a:noFill/>
        </p:spPr>
        <p:txBody>
          <a:bodyPr wrap="square" anchor="t" lIns="25400" rIns="25400" tIns="12700" bIns="12700">
            <a:spAutoFit/>
          </a:bodyPr>
          <a:lstStyle/>
          <a:p>
            <a:pPr algn="l">
              <a:spcBef>
                <a:spcPts val="0"/>
              </a:spcBef>
              <a:spcAft>
                <a:spcPts val="400"/>
              </a:spcAft>
            </a:pPr>
            <a:r>
              <a:rPr sz="1200" b="1">
                <a:solidFill>
                  <a:srgbClr val="7FC83D"/>
                </a:solidFill>
                <a:latin typeface="Calibri"/>
              </a:rPr>
              <a:t>3 · BASE DE DATOS</a:t>
            </a:r>
          </a:p>
        </p:txBody>
      </p:sp>
      <p:sp>
        <p:nvSpPr>
          <p:cNvPr id="5" name="TextBox 4"/>
          <p:cNvSpPr txBox="1"/>
          <p:nvPr/>
        </p:nvSpPr>
        <p:spPr>
          <a:xfrm>
            <a:off x="502920" y="457200"/>
            <a:ext cx="10515600" cy="566928"/>
          </a:xfrm>
          <a:prstGeom prst="rect">
            <a:avLst/>
          </a:prstGeom>
          <a:noFill/>
        </p:spPr>
        <p:txBody>
          <a:bodyPr wrap="square" anchor="t" lIns="25400" rIns="25400" tIns="12700" bIns="12700">
            <a:spAutoFit/>
          </a:bodyPr>
          <a:lstStyle/>
          <a:p>
            <a:pPr algn="l">
              <a:spcBef>
                <a:spcPts val="0"/>
              </a:spcBef>
              <a:spcAft>
                <a:spcPts val="400"/>
              </a:spcAft>
            </a:pPr>
            <a:r>
              <a:rPr sz="2700" b="1">
                <a:solidFill>
                  <a:srgbClr val="FFFFFF"/>
                </a:solidFill>
                <a:latin typeface="Calibri"/>
              </a:rPr>
              <a:t>Persistencia y Migraciones (Flyway)</a:t>
            </a:r>
          </a:p>
        </p:txBody>
      </p:sp>
      <p:sp>
        <p:nvSpPr>
          <p:cNvPr id="6" name="Oval 5"/>
          <p:cNvSpPr/>
          <p:nvPr/>
        </p:nvSpPr>
        <p:spPr>
          <a:xfrm>
            <a:off x="11018520" y="274320"/>
            <a:ext cx="713232" cy="71323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2200" b="1">
                <a:solidFill>
                  <a:srgbClr val="FFFFFF"/>
                </a:solidFill>
                <a:latin typeface="Calibri"/>
              </a:rPr>
              <a:t>BD</a:t>
            </a:r>
          </a:p>
        </p:txBody>
      </p:sp>
      <p:sp>
        <p:nvSpPr>
          <p:cNvPr id="7" name="TextBox 6"/>
          <p:cNvSpPr txBox="1"/>
          <p:nvPr/>
        </p:nvSpPr>
        <p:spPr>
          <a:xfrm>
            <a:off x="502920" y="1325880"/>
            <a:ext cx="10972800" cy="548640"/>
          </a:xfrm>
          <a:prstGeom prst="rect">
            <a:avLst/>
          </a:prstGeom>
          <a:noFill/>
        </p:spPr>
        <p:txBody>
          <a:bodyPr wrap="square" anchor="t" lIns="25400" rIns="25400" tIns="12700" bIns="12700">
            <a:spAutoFit/>
          </a:bodyPr>
          <a:lstStyle/>
          <a:p>
            <a:pPr algn="l">
              <a:spcBef>
                <a:spcPts val="0"/>
              </a:spcBef>
              <a:spcAft>
                <a:spcPts val="400"/>
              </a:spcAft>
            </a:pPr>
            <a:r>
              <a:rPr sz="1400" b="0">
                <a:solidFill>
                  <a:srgbClr val="162A22"/>
                </a:solidFill>
                <a:latin typeface="Calibri"/>
              </a:rPr>
              <a:t>Cada microservicio tiene su propia base de datos PostgreSQL. Flyway versiona el esquema con DDL separado del DML.</a:t>
            </a:r>
          </a:p>
        </p:txBody>
      </p:sp>
      <p:sp>
        <p:nvSpPr>
          <p:cNvPr id="8" name="Rectangle 7"/>
          <p:cNvSpPr/>
          <p:nvPr/>
        </p:nvSpPr>
        <p:spPr>
          <a:xfrm>
            <a:off x="502920" y="2057400"/>
            <a:ext cx="5440680" cy="2240280"/>
          </a:xfrm>
          <a:prstGeom prst="rect">
            <a:avLst/>
          </a:prstGeom>
          <a:solidFill>
            <a:srgbClr val="FFFFFF"/>
          </a:solidFill>
          <a:ln w="1524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2057400"/>
            <a:ext cx="5440680" cy="566928"/>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350" b="1">
                <a:solidFill>
                  <a:srgbClr val="FFFFFF"/>
                </a:solidFill>
                <a:latin typeface="Calibri"/>
              </a:rPr>
              <a:t>user-auth-service  ·  db_scooter_users</a:t>
            </a:r>
          </a:p>
        </p:txBody>
      </p:sp>
      <p:sp>
        <p:nvSpPr>
          <p:cNvPr id="10" name="TextBox 9"/>
          <p:cNvSpPr txBox="1"/>
          <p:nvPr/>
        </p:nvSpPr>
        <p:spPr>
          <a:xfrm>
            <a:off x="777240" y="2788920"/>
            <a:ext cx="4937760" cy="1463040"/>
          </a:xfrm>
          <a:prstGeom prst="rect">
            <a:avLst/>
          </a:prstGeom>
          <a:noFill/>
        </p:spPr>
        <p:txBody>
          <a:bodyPr wrap="square" anchor="t" lIns="25400" rIns="25400" tIns="12700" bIns="12700">
            <a:spAutoFit/>
          </a:bodyPr>
          <a:lstStyle/>
          <a:p>
            <a:pPr algn="l">
              <a:spcBef>
                <a:spcPts val="0"/>
              </a:spcBef>
              <a:spcAft>
                <a:spcPts val="500"/>
              </a:spcAft>
            </a:pPr>
            <a:r>
              <a:rPr sz="1300" b="0">
                <a:solidFill>
                  <a:srgbClr val="162A22"/>
                </a:solidFill>
                <a:latin typeface="Calibri"/>
              </a:rPr>
              <a:t>V1 → tabla users (DDL)</a:t>
            </a:r>
          </a:p>
          <a:p>
            <a:pPr algn="l">
              <a:spcBef>
                <a:spcPts val="0"/>
              </a:spcBef>
              <a:spcAft>
                <a:spcPts val="500"/>
              </a:spcAft>
            </a:pPr>
            <a:r>
              <a:rPr sz="1300" b="0">
                <a:solidFill>
                  <a:srgbClr val="162A22"/>
                </a:solidFill>
                <a:latin typeface="Calibri"/>
              </a:rPr>
              <a:t>V2 → seed admin (DML)</a:t>
            </a:r>
          </a:p>
          <a:p>
            <a:pPr algn="l">
              <a:spcBef>
                <a:spcPts val="0"/>
              </a:spcBef>
              <a:spcAft>
                <a:spcPts val="500"/>
              </a:spcAft>
            </a:pPr>
            <a:r>
              <a:rPr sz="1300" b="0">
                <a:solidFill>
                  <a:srgbClr val="162A22"/>
                </a:solidFill>
                <a:latin typeface="Calibri"/>
              </a:rPr>
              <a:t>V3 → fix password</a:t>
            </a:r>
          </a:p>
        </p:txBody>
      </p:sp>
      <p:sp>
        <p:nvSpPr>
          <p:cNvPr id="11" name="Rectangle 10"/>
          <p:cNvSpPr/>
          <p:nvPr/>
        </p:nvSpPr>
        <p:spPr>
          <a:xfrm>
            <a:off x="6263640" y="2057400"/>
            <a:ext cx="5440680" cy="2240280"/>
          </a:xfrm>
          <a:prstGeom prst="rect">
            <a:avLst/>
          </a:prstGeom>
          <a:solidFill>
            <a:srgbClr val="FFFFFF"/>
          </a:solidFill>
          <a:ln w="1524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2057400"/>
            <a:ext cx="5440680" cy="566928"/>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350" b="1">
                <a:solidFill>
                  <a:srgbClr val="FFFFFF"/>
                </a:solidFill>
                <a:latin typeface="Calibri"/>
              </a:rPr>
              <a:t>scooter-rental-service  ·  db_scooter_rentals</a:t>
            </a:r>
          </a:p>
        </p:txBody>
      </p:sp>
      <p:sp>
        <p:nvSpPr>
          <p:cNvPr id="13" name="TextBox 12"/>
          <p:cNvSpPr txBox="1"/>
          <p:nvPr/>
        </p:nvSpPr>
        <p:spPr>
          <a:xfrm>
            <a:off x="6537960" y="2788920"/>
            <a:ext cx="4937760" cy="1463040"/>
          </a:xfrm>
          <a:prstGeom prst="rect">
            <a:avLst/>
          </a:prstGeom>
          <a:noFill/>
        </p:spPr>
        <p:txBody>
          <a:bodyPr wrap="square" anchor="t" lIns="25400" rIns="25400" tIns="12700" bIns="12700">
            <a:spAutoFit/>
          </a:bodyPr>
          <a:lstStyle/>
          <a:p>
            <a:pPr algn="l">
              <a:spcBef>
                <a:spcPts val="0"/>
              </a:spcBef>
              <a:spcAft>
                <a:spcPts val="500"/>
              </a:spcAft>
            </a:pPr>
            <a:r>
              <a:rPr sz="1300" b="0">
                <a:solidFill>
                  <a:srgbClr val="162A22"/>
                </a:solidFill>
                <a:latin typeface="Calibri"/>
              </a:rPr>
              <a:t>V1 → tabla scooters (DDL)</a:t>
            </a:r>
          </a:p>
          <a:p>
            <a:pPr algn="l">
              <a:spcBef>
                <a:spcPts val="0"/>
              </a:spcBef>
              <a:spcAft>
                <a:spcPts val="500"/>
              </a:spcAft>
            </a:pPr>
            <a:r>
              <a:rPr sz="1300" b="0">
                <a:solidFill>
                  <a:srgbClr val="162A22"/>
                </a:solidFill>
                <a:latin typeface="Calibri"/>
              </a:rPr>
              <a:t>V2 → tabla rentals (DDL)</a:t>
            </a:r>
          </a:p>
        </p:txBody>
      </p:sp>
      <p:sp>
        <p:nvSpPr>
          <p:cNvPr id="14" name="Rectangle 13"/>
          <p:cNvSpPr/>
          <p:nvPr/>
        </p:nvSpPr>
        <p:spPr>
          <a:xfrm>
            <a:off x="502920" y="4572000"/>
            <a:ext cx="11201400" cy="1417320"/>
          </a:xfrm>
          <a:prstGeom prst="rect">
            <a:avLst/>
          </a:prstGeom>
          <a:solidFill>
            <a:srgbClr val="E8F1EC"/>
          </a:solidFill>
          <a:ln w="17780">
            <a:solidFill>
              <a:srgbClr val="E87A1E"/>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709160"/>
            <a:ext cx="10789920" cy="411480"/>
          </a:xfrm>
          <a:prstGeom prst="rect">
            <a:avLst/>
          </a:prstGeom>
          <a:noFill/>
        </p:spPr>
        <p:txBody>
          <a:bodyPr wrap="square" anchor="t" lIns="25400" rIns="25400" tIns="12700" bIns="12700">
            <a:spAutoFit/>
          </a:bodyPr>
          <a:lstStyle/>
          <a:p>
            <a:pPr algn="l">
              <a:spcBef>
                <a:spcPts val="0"/>
              </a:spcBef>
              <a:spcAft>
                <a:spcPts val="400"/>
              </a:spcAft>
            </a:pPr>
            <a:r>
              <a:rPr sz="1500" b="1">
                <a:solidFill>
                  <a:srgbClr val="E87A1E"/>
                </a:solidFill>
                <a:latin typeface="Calibri"/>
              </a:rPr>
              <a:t>Separación estricta DDL / DML</a:t>
            </a:r>
          </a:p>
        </p:txBody>
      </p:sp>
      <p:sp>
        <p:nvSpPr>
          <p:cNvPr id="16" name="TextBox 15"/>
          <p:cNvSpPr txBox="1"/>
          <p:nvPr/>
        </p:nvSpPr>
        <p:spPr>
          <a:xfrm>
            <a:off x="731520" y="5120640"/>
            <a:ext cx="10789920" cy="822960"/>
          </a:xfrm>
          <a:prstGeom prst="rect">
            <a:avLst/>
          </a:prstGeom>
          <a:noFill/>
        </p:spPr>
        <p:txBody>
          <a:bodyPr wrap="square" anchor="t" lIns="25400" rIns="25400" tIns="12700" bIns="12700">
            <a:spAutoFit/>
          </a:bodyPr>
          <a:lstStyle/>
          <a:p>
            <a:pPr algn="l">
              <a:spcBef>
                <a:spcPts val="0"/>
              </a:spcBef>
              <a:spcAft>
                <a:spcPts val="400"/>
              </a:spcAft>
            </a:pPr>
            <a:r>
              <a:rPr sz="1300" b="0">
                <a:solidFill>
                  <a:srgbClr val="5A6B63"/>
                </a:solidFill>
                <a:latin typeface="Calibri"/>
              </a:rPr>
              <a:t>Está prohibido mezclar estructura (CREATE TABLE) con datos de prueba (INSERT) en un mismo archivo. Los datos de prueba se generan con DataFaker solo bajo el perfil 'dev', garantizando despliegues limpios en producción.</a:t>
            </a:r>
          </a:p>
        </p:txBody>
      </p:sp>
      <p:sp>
        <p:nvSpPr>
          <p:cNvPr id="17" name="TextBox 16"/>
          <p:cNvSpPr txBox="1"/>
          <p:nvPr/>
        </p:nvSpPr>
        <p:spPr>
          <a:xfrm>
            <a:off x="502920" y="6473952"/>
            <a:ext cx="5486400" cy="274320"/>
          </a:xfrm>
          <a:prstGeom prst="rect">
            <a:avLst/>
          </a:prstGeom>
          <a:noFill/>
        </p:spPr>
        <p:txBody>
          <a:bodyPr wrap="square" anchor="t" lIns="25400" rIns="25400" tIns="12700" bIns="12700">
            <a:spAutoFit/>
          </a:bodyPr>
          <a:lstStyle/>
          <a:p>
            <a:pPr algn="l">
              <a:spcBef>
                <a:spcPts val="0"/>
              </a:spcBef>
              <a:spcAft>
                <a:spcPts val="400"/>
              </a:spcAft>
            </a:pPr>
            <a:r>
              <a:rPr sz="900" b="0">
                <a:solidFill>
                  <a:srgbClr val="5A6B63"/>
                </a:solidFill>
                <a:latin typeface="Calibri"/>
              </a:rPr>
              <a:t>VeloUrbe · Informe Técnico de Arquitectura</a:t>
            </a:r>
          </a:p>
        </p:txBody>
      </p:sp>
      <p:sp>
        <p:nvSpPr>
          <p:cNvPr id="18" name="Rectangle 17"/>
          <p:cNvSpPr/>
          <p:nvPr/>
        </p:nvSpPr>
        <p:spPr>
          <a:xfrm>
            <a:off x="11475720" y="6437376"/>
            <a:ext cx="457200" cy="310896"/>
          </a:xfrm>
          <a:prstGeom prst="rect">
            <a:avLst/>
          </a:prstGeom>
          <a:solidFill>
            <a:srgbClr val="E8F1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000" b="1">
                <a:solidFill>
                  <a:srgbClr val="2E9E5B"/>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162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38100"/>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365760"/>
          </a:xfrm>
          <a:prstGeom prst="rect">
            <a:avLst/>
          </a:prstGeom>
          <a:noFill/>
        </p:spPr>
        <p:txBody>
          <a:bodyPr wrap="square" anchor="t" lIns="25400" rIns="25400" tIns="12700" bIns="12700">
            <a:spAutoFit/>
          </a:bodyPr>
          <a:lstStyle/>
          <a:p>
            <a:pPr algn="l">
              <a:spcBef>
                <a:spcPts val="0"/>
              </a:spcBef>
              <a:spcAft>
                <a:spcPts val="400"/>
              </a:spcAft>
            </a:pPr>
            <a:r>
              <a:rPr sz="1200" b="1">
                <a:solidFill>
                  <a:srgbClr val="7FC83D"/>
                </a:solidFill>
                <a:latin typeface="Calibri"/>
              </a:rPr>
              <a:t>5 · PRUEBAS</a:t>
            </a:r>
          </a:p>
        </p:txBody>
      </p:sp>
      <p:sp>
        <p:nvSpPr>
          <p:cNvPr id="5" name="TextBox 4"/>
          <p:cNvSpPr txBox="1"/>
          <p:nvPr/>
        </p:nvSpPr>
        <p:spPr>
          <a:xfrm>
            <a:off x="502920" y="457200"/>
            <a:ext cx="10515600" cy="566928"/>
          </a:xfrm>
          <a:prstGeom prst="rect">
            <a:avLst/>
          </a:prstGeom>
          <a:noFill/>
        </p:spPr>
        <p:txBody>
          <a:bodyPr wrap="square" anchor="t" lIns="25400" rIns="25400" tIns="12700" bIns="12700">
            <a:spAutoFit/>
          </a:bodyPr>
          <a:lstStyle/>
          <a:p>
            <a:pPr algn="l">
              <a:spcBef>
                <a:spcPts val="0"/>
              </a:spcBef>
              <a:spcAft>
                <a:spcPts val="400"/>
              </a:spcAft>
            </a:pPr>
            <a:r>
              <a:rPr sz="2700" b="1">
                <a:solidFill>
                  <a:srgbClr val="FFFFFF"/>
                </a:solidFill>
                <a:latin typeface="Calibri"/>
              </a:rPr>
              <a:t>Estrategia de Testing</a:t>
            </a:r>
          </a:p>
        </p:txBody>
      </p:sp>
      <p:sp>
        <p:nvSpPr>
          <p:cNvPr id="6" name="Oval 5"/>
          <p:cNvSpPr/>
          <p:nvPr/>
        </p:nvSpPr>
        <p:spPr>
          <a:xfrm>
            <a:off x="11018520" y="274320"/>
            <a:ext cx="713232" cy="71323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2200" b="1">
                <a:solidFill>
                  <a:srgbClr val="FFFFFF"/>
                </a:solidFill>
                <a:latin typeface="Calibri"/>
              </a:rPr>
              <a:t>TS</a:t>
            </a:r>
          </a:p>
        </p:txBody>
      </p:sp>
      <p:sp>
        <p:nvSpPr>
          <p:cNvPr id="7" name="Rectangle 6"/>
          <p:cNvSpPr/>
          <p:nvPr/>
        </p:nvSpPr>
        <p:spPr>
          <a:xfrm>
            <a:off x="502920" y="1463040"/>
            <a:ext cx="3639312" cy="2377440"/>
          </a:xfrm>
          <a:prstGeom prst="rect">
            <a:avLst/>
          </a:prstGeom>
          <a:solidFill>
            <a:srgbClr val="FFFFFF"/>
          </a:solidFill>
          <a:ln w="1524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463040"/>
            <a:ext cx="3639312" cy="841248"/>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700" b="1">
                <a:solidFill>
                  <a:srgbClr val="FFFFFF"/>
                </a:solidFill>
                <a:latin typeface="Calibri"/>
              </a:rPr>
              <a:t>Servicio</a:t>
            </a:r>
          </a:p>
          <a:p>
            <a:pPr algn="ctr">
              <a:spcBef>
                <a:spcPts val="0"/>
              </a:spcBef>
              <a:spcAft>
                <a:spcPts val="200"/>
              </a:spcAft>
            </a:pPr>
            <a:r>
              <a:rPr sz="1000" b="1">
                <a:solidFill>
                  <a:srgbClr val="E8F4EE"/>
                </a:solidFill>
                <a:latin typeface="Calibri"/>
              </a:rPr>
              <a:t>@ExtendWith(MockitoExtension)</a:t>
            </a:r>
          </a:p>
        </p:txBody>
      </p:sp>
      <p:sp>
        <p:nvSpPr>
          <p:cNvPr id="9" name="TextBox 8"/>
          <p:cNvSpPr txBox="1"/>
          <p:nvPr/>
        </p:nvSpPr>
        <p:spPr>
          <a:xfrm>
            <a:off x="731520" y="2468880"/>
            <a:ext cx="3182112" cy="1280160"/>
          </a:xfrm>
          <a:prstGeom prst="rect">
            <a:avLst/>
          </a:prstGeom>
          <a:noFill/>
        </p:spPr>
        <p:txBody>
          <a:bodyPr wrap="square" anchor="t" lIns="25400" rIns="25400" tIns="12700" bIns="12700">
            <a:spAutoFit/>
          </a:bodyPr>
          <a:lstStyle/>
          <a:p>
            <a:pPr algn="l">
              <a:spcBef>
                <a:spcPts val="0"/>
              </a:spcBef>
              <a:spcAft>
                <a:spcPts val="400"/>
              </a:spcAft>
            </a:pPr>
            <a:r>
              <a:rPr sz="1300" b="0">
                <a:solidFill>
                  <a:srgbClr val="5A6B63"/>
                </a:solidFill>
                <a:latin typeface="Calibri"/>
              </a:rPr>
              <a:t>Lógica de negocio aislada con dependencias simuladas (Mockito), sin contexto Spring.</a:t>
            </a:r>
          </a:p>
        </p:txBody>
      </p:sp>
      <p:sp>
        <p:nvSpPr>
          <p:cNvPr id="10" name="Rectangle 9"/>
          <p:cNvSpPr/>
          <p:nvPr/>
        </p:nvSpPr>
        <p:spPr>
          <a:xfrm>
            <a:off x="4288536" y="1463040"/>
            <a:ext cx="3639312" cy="2377440"/>
          </a:xfrm>
          <a:prstGeom prst="rect">
            <a:avLst/>
          </a:prstGeom>
          <a:solidFill>
            <a:srgbClr val="FFFFFF"/>
          </a:solidFill>
          <a:ln w="1524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88536" y="1463040"/>
            <a:ext cx="3639312" cy="841248"/>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700" b="1">
                <a:solidFill>
                  <a:srgbClr val="FFFFFF"/>
                </a:solidFill>
                <a:latin typeface="Calibri"/>
              </a:rPr>
              <a:t>Controller</a:t>
            </a:r>
          </a:p>
          <a:p>
            <a:pPr algn="ctr">
              <a:spcBef>
                <a:spcPts val="0"/>
              </a:spcBef>
              <a:spcAft>
                <a:spcPts val="200"/>
              </a:spcAft>
            </a:pPr>
            <a:r>
              <a:rPr sz="1000" b="1">
                <a:solidFill>
                  <a:srgbClr val="E8F4EE"/>
                </a:solidFill>
                <a:latin typeface="Calibri"/>
              </a:rPr>
              <a:t>MockMvc standalone + Mockito</a:t>
            </a:r>
          </a:p>
        </p:txBody>
      </p:sp>
      <p:sp>
        <p:nvSpPr>
          <p:cNvPr id="12" name="TextBox 11"/>
          <p:cNvSpPr txBox="1"/>
          <p:nvPr/>
        </p:nvSpPr>
        <p:spPr>
          <a:xfrm>
            <a:off x="4517136" y="2468880"/>
            <a:ext cx="3182112" cy="1280160"/>
          </a:xfrm>
          <a:prstGeom prst="rect">
            <a:avLst/>
          </a:prstGeom>
          <a:noFill/>
        </p:spPr>
        <p:txBody>
          <a:bodyPr wrap="square" anchor="t" lIns="25400" rIns="25400" tIns="12700" bIns="12700">
            <a:spAutoFit/>
          </a:bodyPr>
          <a:lstStyle/>
          <a:p>
            <a:pPr algn="l">
              <a:spcBef>
                <a:spcPts val="0"/>
              </a:spcBef>
              <a:spcAft>
                <a:spcPts val="400"/>
              </a:spcAft>
            </a:pPr>
            <a:r>
              <a:rPr sz="1300" b="0">
                <a:solidFill>
                  <a:srgbClr val="5A6B63"/>
                </a:solidFill>
                <a:latin typeface="Calibri"/>
              </a:rPr>
              <a:t>Mapeo HTTP, códigos de estado (201/200/404/401) y serialización JSON.</a:t>
            </a:r>
          </a:p>
        </p:txBody>
      </p:sp>
      <p:sp>
        <p:nvSpPr>
          <p:cNvPr id="13" name="Rectangle 12"/>
          <p:cNvSpPr/>
          <p:nvPr/>
        </p:nvSpPr>
        <p:spPr>
          <a:xfrm>
            <a:off x="8074152" y="1463040"/>
            <a:ext cx="3639312" cy="2377440"/>
          </a:xfrm>
          <a:prstGeom prst="rect">
            <a:avLst/>
          </a:prstGeom>
          <a:solidFill>
            <a:srgbClr val="FFFFFF"/>
          </a:solidFill>
          <a:ln w="1524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74152" y="1463040"/>
            <a:ext cx="3639312" cy="841248"/>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700" b="1">
                <a:solidFill>
                  <a:srgbClr val="FFFFFF"/>
                </a:solidFill>
                <a:latin typeface="Calibri"/>
              </a:rPr>
              <a:t>Contexto</a:t>
            </a:r>
          </a:p>
          <a:p>
            <a:pPr algn="ctr">
              <a:spcBef>
                <a:spcPts val="0"/>
              </a:spcBef>
              <a:spcAft>
                <a:spcPts val="200"/>
              </a:spcAft>
            </a:pPr>
            <a:r>
              <a:rPr sz="1000" b="1">
                <a:solidFill>
                  <a:srgbClr val="E8F4EE"/>
                </a:solidFill>
                <a:latin typeface="Calibri"/>
              </a:rPr>
              <a:t>@SpringBootTest @ActiveProfiles(test)</a:t>
            </a:r>
          </a:p>
        </p:txBody>
      </p:sp>
      <p:sp>
        <p:nvSpPr>
          <p:cNvPr id="15" name="TextBox 14"/>
          <p:cNvSpPr txBox="1"/>
          <p:nvPr/>
        </p:nvSpPr>
        <p:spPr>
          <a:xfrm>
            <a:off x="8302752" y="2468880"/>
            <a:ext cx="3182112" cy="1280160"/>
          </a:xfrm>
          <a:prstGeom prst="rect">
            <a:avLst/>
          </a:prstGeom>
          <a:noFill/>
        </p:spPr>
        <p:txBody>
          <a:bodyPr wrap="square" anchor="t" lIns="25400" rIns="25400" tIns="12700" bIns="12700">
            <a:spAutoFit/>
          </a:bodyPr>
          <a:lstStyle/>
          <a:p>
            <a:pPr algn="l">
              <a:spcBef>
                <a:spcPts val="0"/>
              </a:spcBef>
              <a:spcAft>
                <a:spcPts val="400"/>
              </a:spcAft>
            </a:pPr>
            <a:r>
              <a:rPr sz="1300" b="0">
                <a:solidFill>
                  <a:srgbClr val="5A6B63"/>
                </a:solidFill>
                <a:latin typeface="Calibri"/>
              </a:rPr>
              <a:t>Verifica que el contexto levanta usando H2 en memoria — la suite corre sin PostgreSQL.</a:t>
            </a:r>
          </a:p>
        </p:txBody>
      </p:sp>
      <p:sp>
        <p:nvSpPr>
          <p:cNvPr id="16" name="Rectangle 15"/>
          <p:cNvSpPr/>
          <p:nvPr/>
        </p:nvSpPr>
        <p:spPr>
          <a:xfrm>
            <a:off x="502920" y="4114800"/>
            <a:ext cx="11201400" cy="1874519"/>
          </a:xfrm>
          <a:prstGeom prst="rect">
            <a:avLst/>
          </a:prstGeom>
          <a:solidFill>
            <a:srgbClr val="E8F1EC"/>
          </a:solidFill>
          <a:ln>
            <a:no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224528"/>
            <a:ext cx="10789920" cy="365760"/>
          </a:xfrm>
          <a:prstGeom prst="rect">
            <a:avLst/>
          </a:prstGeom>
          <a:noFill/>
        </p:spPr>
        <p:txBody>
          <a:bodyPr wrap="square" anchor="t" lIns="25400" rIns="25400" tIns="12700" bIns="12700">
            <a:spAutoFit/>
          </a:bodyPr>
          <a:lstStyle/>
          <a:p>
            <a:pPr algn="l">
              <a:spcBef>
                <a:spcPts val="0"/>
              </a:spcBef>
              <a:spcAft>
                <a:spcPts val="400"/>
              </a:spcAft>
            </a:pPr>
            <a:r>
              <a:rPr sz="1450" b="1">
                <a:solidFill>
                  <a:srgbClr val="162A22"/>
                </a:solidFill>
                <a:latin typeface="Calibri"/>
              </a:rPr>
              <a:t>Cobertura por servicio (11 clases de test)</a:t>
            </a:r>
          </a:p>
        </p:txBody>
      </p:sp>
      <p:sp>
        <p:nvSpPr>
          <p:cNvPr id="18" name="TextBox 17"/>
          <p:cNvSpPr txBox="1"/>
          <p:nvPr/>
        </p:nvSpPr>
        <p:spPr>
          <a:xfrm>
            <a:off x="731520" y="4617720"/>
            <a:ext cx="5394960" cy="1371600"/>
          </a:xfrm>
          <a:prstGeom prst="rect">
            <a:avLst/>
          </a:prstGeom>
          <a:noFill/>
        </p:spPr>
        <p:txBody>
          <a:bodyPr wrap="square" anchor="t" lIns="25400" rIns="25400" tIns="12700" bIns="12700">
            <a:spAutoFit/>
          </a:bodyPr>
          <a:lstStyle/>
          <a:p>
            <a:pPr algn="l">
              <a:spcBef>
                <a:spcPts val="0"/>
              </a:spcBef>
              <a:spcAft>
                <a:spcPts val="400"/>
              </a:spcAft>
            </a:pPr>
            <a:r>
              <a:rPr sz="1300" b="1">
                <a:solidFill>
                  <a:srgbClr val="2E9E5B"/>
                </a:solidFill>
                <a:latin typeface="Calibri"/>
              </a:rPr>
              <a:t>user-auth-service</a:t>
            </a:r>
          </a:p>
          <a:p>
            <a:pPr algn="l">
              <a:spcBef>
                <a:spcPts val="0"/>
              </a:spcBef>
              <a:spcAft>
                <a:spcPts val="300"/>
              </a:spcAft>
            </a:pPr>
            <a:r>
              <a:rPr sz="1200" b="0">
                <a:solidFill>
                  <a:srgbClr val="5A6B63"/>
                </a:solidFill>
                <a:latin typeface="Calibri"/>
              </a:rPr>
              <a:t>AuthServiceTest · UserServiceTest</a:t>
            </a:r>
          </a:p>
          <a:p>
            <a:pPr algn="l">
              <a:spcBef>
                <a:spcPts val="0"/>
              </a:spcBef>
              <a:spcAft>
                <a:spcPts val="300"/>
              </a:spcAft>
            </a:pPr>
            <a:r>
              <a:rPr sz="1200" b="0">
                <a:solidFill>
                  <a:srgbClr val="5A6B63"/>
                </a:solidFill>
                <a:latin typeface="Calibri"/>
              </a:rPr>
              <a:t>AuthControllerTest · UserControllerTest</a:t>
            </a:r>
          </a:p>
          <a:p>
            <a:pPr algn="l">
              <a:spcBef>
                <a:spcPts val="0"/>
              </a:spcBef>
              <a:spcAft>
                <a:spcPts val="400"/>
              </a:spcAft>
            </a:pPr>
            <a:r>
              <a:rPr sz="1150" b="0">
                <a:solidFill>
                  <a:srgbClr val="5A6B63"/>
                </a:solidFill>
                <a:latin typeface="Calibri"/>
              </a:rPr>
              <a:t>Registro, login, email duplicado, 401 inválido…</a:t>
            </a:r>
          </a:p>
        </p:txBody>
      </p:sp>
      <p:sp>
        <p:nvSpPr>
          <p:cNvPr id="19" name="TextBox 18"/>
          <p:cNvSpPr txBox="1"/>
          <p:nvPr/>
        </p:nvSpPr>
        <p:spPr>
          <a:xfrm>
            <a:off x="6309360" y="4617720"/>
            <a:ext cx="5394960" cy="1371600"/>
          </a:xfrm>
          <a:prstGeom prst="rect">
            <a:avLst/>
          </a:prstGeom>
          <a:noFill/>
        </p:spPr>
        <p:txBody>
          <a:bodyPr wrap="square" anchor="t" lIns="25400" rIns="25400" tIns="12700" bIns="12700">
            <a:spAutoFit/>
          </a:bodyPr>
          <a:lstStyle/>
          <a:p>
            <a:pPr algn="l">
              <a:spcBef>
                <a:spcPts val="0"/>
              </a:spcBef>
              <a:spcAft>
                <a:spcPts val="400"/>
              </a:spcAft>
            </a:pPr>
            <a:r>
              <a:rPr sz="1300" b="1">
                <a:solidFill>
                  <a:srgbClr val="00897B"/>
                </a:solidFill>
                <a:latin typeface="Calibri"/>
              </a:rPr>
              <a:t>scooter-rental-service</a:t>
            </a:r>
          </a:p>
          <a:p>
            <a:pPr algn="l">
              <a:spcBef>
                <a:spcPts val="0"/>
              </a:spcBef>
              <a:spcAft>
                <a:spcPts val="300"/>
              </a:spcAft>
            </a:pPr>
            <a:r>
              <a:rPr sz="1200" b="0">
                <a:solidFill>
                  <a:srgbClr val="5A6B63"/>
                </a:solidFill>
                <a:latin typeface="Calibri"/>
              </a:rPr>
              <a:t>ScooterServiceTest · RentalServiceTest</a:t>
            </a:r>
          </a:p>
          <a:p>
            <a:pPr algn="l">
              <a:spcBef>
                <a:spcPts val="0"/>
              </a:spcBef>
              <a:spcAft>
                <a:spcPts val="300"/>
              </a:spcAft>
            </a:pPr>
            <a:r>
              <a:rPr sz="1200" b="0">
                <a:solidFill>
                  <a:srgbClr val="5A6B63"/>
                </a:solidFill>
                <a:latin typeface="Calibri"/>
              </a:rPr>
              <a:t>ScooterControllerTest · RentalControllerTest</a:t>
            </a:r>
          </a:p>
          <a:p>
            <a:pPr algn="l">
              <a:spcBef>
                <a:spcPts val="0"/>
              </a:spcBef>
              <a:spcAft>
                <a:spcPts val="400"/>
              </a:spcAft>
            </a:pPr>
            <a:r>
              <a:rPr sz="1150" b="0">
                <a:solidFill>
                  <a:srgbClr val="5A6B63"/>
                </a:solidFill>
                <a:latin typeface="Calibri"/>
              </a:rPr>
              <a:t>Crear/listar/eliminar, iniciar/finalizar arriendo…</a:t>
            </a:r>
          </a:p>
        </p:txBody>
      </p:sp>
      <p:sp>
        <p:nvSpPr>
          <p:cNvPr id="20" name="TextBox 19"/>
          <p:cNvSpPr txBox="1"/>
          <p:nvPr/>
        </p:nvSpPr>
        <p:spPr>
          <a:xfrm>
            <a:off x="502920" y="6473952"/>
            <a:ext cx="5486400" cy="274320"/>
          </a:xfrm>
          <a:prstGeom prst="rect">
            <a:avLst/>
          </a:prstGeom>
          <a:noFill/>
        </p:spPr>
        <p:txBody>
          <a:bodyPr wrap="square" anchor="t" lIns="25400" rIns="25400" tIns="12700" bIns="12700">
            <a:spAutoFit/>
          </a:bodyPr>
          <a:lstStyle/>
          <a:p>
            <a:pPr algn="l">
              <a:spcBef>
                <a:spcPts val="0"/>
              </a:spcBef>
              <a:spcAft>
                <a:spcPts val="400"/>
              </a:spcAft>
            </a:pPr>
            <a:r>
              <a:rPr sz="900" b="0">
                <a:solidFill>
                  <a:srgbClr val="5A6B63"/>
                </a:solidFill>
                <a:latin typeface="Calibri"/>
              </a:rPr>
              <a:t>VeloUrbe · Informe Técnico de Arquitectura</a:t>
            </a:r>
          </a:p>
        </p:txBody>
      </p:sp>
      <p:sp>
        <p:nvSpPr>
          <p:cNvPr id="21" name="Rectangle 20"/>
          <p:cNvSpPr/>
          <p:nvPr/>
        </p:nvSpPr>
        <p:spPr>
          <a:xfrm>
            <a:off x="11475720" y="6437376"/>
            <a:ext cx="457200" cy="310896"/>
          </a:xfrm>
          <a:prstGeom prst="rect">
            <a:avLst/>
          </a:prstGeom>
          <a:solidFill>
            <a:srgbClr val="E8F1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000" b="1">
                <a:solidFill>
                  <a:srgbClr val="2E9E5B"/>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162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38100"/>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365760"/>
          </a:xfrm>
          <a:prstGeom prst="rect">
            <a:avLst/>
          </a:prstGeom>
          <a:noFill/>
        </p:spPr>
        <p:txBody>
          <a:bodyPr wrap="square" anchor="t" lIns="25400" rIns="25400" tIns="12700" bIns="12700">
            <a:spAutoFit/>
          </a:bodyPr>
          <a:lstStyle/>
          <a:p>
            <a:pPr algn="l">
              <a:spcBef>
                <a:spcPts val="0"/>
              </a:spcBef>
              <a:spcAft>
                <a:spcPts val="400"/>
              </a:spcAft>
            </a:pPr>
            <a:r>
              <a:rPr sz="1200" b="1">
                <a:solidFill>
                  <a:srgbClr val="7FC83D"/>
                </a:solidFill>
                <a:latin typeface="Calibri"/>
              </a:rPr>
              <a:t>6 · DOCUMENTACIÓN API</a:t>
            </a:r>
          </a:p>
        </p:txBody>
      </p:sp>
      <p:sp>
        <p:nvSpPr>
          <p:cNvPr id="5" name="TextBox 4"/>
          <p:cNvSpPr txBox="1"/>
          <p:nvPr/>
        </p:nvSpPr>
        <p:spPr>
          <a:xfrm>
            <a:off x="502920" y="457200"/>
            <a:ext cx="10515600" cy="566928"/>
          </a:xfrm>
          <a:prstGeom prst="rect">
            <a:avLst/>
          </a:prstGeom>
          <a:noFill/>
        </p:spPr>
        <p:txBody>
          <a:bodyPr wrap="square" anchor="t" lIns="25400" rIns="25400" tIns="12700" bIns="12700">
            <a:spAutoFit/>
          </a:bodyPr>
          <a:lstStyle/>
          <a:p>
            <a:pPr algn="l">
              <a:spcBef>
                <a:spcPts val="0"/>
              </a:spcBef>
              <a:spcAft>
                <a:spcPts val="400"/>
              </a:spcAft>
            </a:pPr>
            <a:r>
              <a:rPr sz="2700" b="1">
                <a:solidFill>
                  <a:srgbClr val="FFFFFF"/>
                </a:solidFill>
                <a:latin typeface="Calibri"/>
              </a:rPr>
              <a:t>Swagger / OpenAPI + Postman</a:t>
            </a:r>
          </a:p>
        </p:txBody>
      </p:sp>
      <p:sp>
        <p:nvSpPr>
          <p:cNvPr id="6" name="Oval 5"/>
          <p:cNvSpPr/>
          <p:nvPr/>
        </p:nvSpPr>
        <p:spPr>
          <a:xfrm>
            <a:off x="11018520" y="274320"/>
            <a:ext cx="713232" cy="71323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2200" b="1">
                <a:solidFill>
                  <a:srgbClr val="FFFFFF"/>
                </a:solidFill>
                <a:latin typeface="Calibri"/>
              </a:rPr>
              <a:t>API</a:t>
            </a:r>
          </a:p>
        </p:txBody>
      </p:sp>
      <p:sp>
        <p:nvSpPr>
          <p:cNvPr id="7" name="TextBox 6"/>
          <p:cNvSpPr txBox="1"/>
          <p:nvPr/>
        </p:nvSpPr>
        <p:spPr>
          <a:xfrm>
            <a:off x="502920" y="1371600"/>
            <a:ext cx="10972800" cy="548640"/>
          </a:xfrm>
          <a:prstGeom prst="rect">
            <a:avLst/>
          </a:prstGeom>
          <a:noFill/>
        </p:spPr>
        <p:txBody>
          <a:bodyPr wrap="square" anchor="t" lIns="25400" rIns="25400" tIns="12700" bIns="12700">
            <a:spAutoFit/>
          </a:bodyPr>
          <a:lstStyle/>
          <a:p>
            <a:pPr algn="l">
              <a:spcBef>
                <a:spcPts val="0"/>
              </a:spcBef>
              <a:spcAft>
                <a:spcPts val="400"/>
              </a:spcAft>
            </a:pPr>
            <a:r>
              <a:rPr sz="1400" b="0">
                <a:solidFill>
                  <a:srgbClr val="162A22"/>
                </a:solidFill>
                <a:latin typeface="Calibri"/>
              </a:rPr>
              <a:t>Swagger centralizado en el Gateway agrupa la documentación de los 11 servicios; además cada microservicio expone su propio Swagger UI (SpringDoc OpenAPI).</a:t>
            </a:r>
          </a:p>
        </p:txBody>
      </p:sp>
      <p:sp>
        <p:nvSpPr>
          <p:cNvPr id="8" name="Rectangle 7"/>
          <p:cNvSpPr/>
          <p:nvPr/>
        </p:nvSpPr>
        <p:spPr>
          <a:xfrm>
            <a:off x="502920" y="2148840"/>
            <a:ext cx="3639312" cy="1371600"/>
          </a:xfrm>
          <a:prstGeom prst="rect">
            <a:avLst/>
          </a:prstGeom>
          <a:solidFill>
            <a:srgbClr val="FFFFFF"/>
          </a:solidFill>
          <a:ln w="1524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2148840"/>
            <a:ext cx="3639312" cy="109728"/>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77440"/>
            <a:ext cx="3200400" cy="457200"/>
          </a:xfrm>
          <a:prstGeom prst="rect">
            <a:avLst/>
          </a:prstGeom>
          <a:noFill/>
        </p:spPr>
        <p:txBody>
          <a:bodyPr wrap="square" anchor="t" lIns="25400" rIns="25400" tIns="12700" bIns="12700">
            <a:spAutoFit/>
          </a:bodyPr>
          <a:lstStyle/>
          <a:p>
            <a:pPr algn="l">
              <a:spcBef>
                <a:spcPts val="0"/>
              </a:spcBef>
              <a:spcAft>
                <a:spcPts val="400"/>
              </a:spcAft>
            </a:pPr>
            <a:r>
              <a:rPr sz="1400" b="1">
                <a:solidFill>
                  <a:srgbClr val="2E9E5B"/>
                </a:solidFill>
                <a:latin typeface="Calibri"/>
              </a:rPr>
              <a:t>Swagger centralizado — Gateway</a:t>
            </a:r>
          </a:p>
        </p:txBody>
      </p:sp>
      <p:sp>
        <p:nvSpPr>
          <p:cNvPr id="11" name="TextBox 10"/>
          <p:cNvSpPr txBox="1"/>
          <p:nvPr/>
        </p:nvSpPr>
        <p:spPr>
          <a:xfrm>
            <a:off x="731520" y="2834640"/>
            <a:ext cx="3246120" cy="548640"/>
          </a:xfrm>
          <a:prstGeom prst="rect">
            <a:avLst/>
          </a:prstGeom>
          <a:noFill/>
        </p:spPr>
        <p:txBody>
          <a:bodyPr wrap="square" anchor="t" lIns="25400" rIns="25400" tIns="12700" bIns="12700">
            <a:spAutoFit/>
          </a:bodyPr>
          <a:lstStyle/>
          <a:p>
            <a:pPr algn="l">
              <a:spcBef>
                <a:spcPts val="0"/>
              </a:spcBef>
              <a:spcAft>
                <a:spcPts val="400"/>
              </a:spcAft>
            </a:pPr>
            <a:r>
              <a:rPr sz="1150" b="0">
                <a:solidFill>
                  <a:srgbClr val="5A6B63"/>
                </a:solidFill>
                <a:latin typeface="Calibri"/>
              </a:rPr>
              <a:t>localhost:8080/swagger-ui.html</a:t>
            </a:r>
          </a:p>
        </p:txBody>
      </p:sp>
      <p:sp>
        <p:nvSpPr>
          <p:cNvPr id="12" name="Rectangle 11"/>
          <p:cNvSpPr/>
          <p:nvPr/>
        </p:nvSpPr>
        <p:spPr>
          <a:xfrm>
            <a:off x="4288536" y="2148840"/>
            <a:ext cx="3639312" cy="1371600"/>
          </a:xfrm>
          <a:prstGeom prst="rect">
            <a:avLst/>
          </a:prstGeom>
          <a:solidFill>
            <a:srgbClr val="FFFFFF"/>
          </a:solidFill>
          <a:ln w="1524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88536" y="2148840"/>
            <a:ext cx="3639312" cy="109728"/>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7136" y="2377440"/>
            <a:ext cx="3200400" cy="457200"/>
          </a:xfrm>
          <a:prstGeom prst="rect">
            <a:avLst/>
          </a:prstGeom>
          <a:noFill/>
        </p:spPr>
        <p:txBody>
          <a:bodyPr wrap="square" anchor="t" lIns="25400" rIns="25400" tIns="12700" bIns="12700">
            <a:spAutoFit/>
          </a:bodyPr>
          <a:lstStyle/>
          <a:p>
            <a:pPr algn="l">
              <a:spcBef>
                <a:spcPts val="0"/>
              </a:spcBef>
              <a:spcAft>
                <a:spcPts val="400"/>
              </a:spcAft>
            </a:pPr>
            <a:r>
              <a:rPr sz="1400" b="1">
                <a:solidFill>
                  <a:srgbClr val="00897B"/>
                </a:solidFill>
                <a:latin typeface="Calibri"/>
              </a:rPr>
              <a:t>10 microservicios de dominio</a:t>
            </a:r>
          </a:p>
        </p:txBody>
      </p:sp>
      <p:sp>
        <p:nvSpPr>
          <p:cNvPr id="15" name="TextBox 14"/>
          <p:cNvSpPr txBox="1"/>
          <p:nvPr/>
        </p:nvSpPr>
        <p:spPr>
          <a:xfrm>
            <a:off x="4517136" y="2834640"/>
            <a:ext cx="3246120" cy="548640"/>
          </a:xfrm>
          <a:prstGeom prst="rect">
            <a:avLst/>
          </a:prstGeom>
          <a:noFill/>
        </p:spPr>
        <p:txBody>
          <a:bodyPr wrap="square" anchor="t" lIns="25400" rIns="25400" tIns="12700" bIns="12700">
            <a:spAutoFit/>
          </a:bodyPr>
          <a:lstStyle/>
          <a:p>
            <a:pPr algn="l">
              <a:spcBef>
                <a:spcPts val="0"/>
              </a:spcBef>
              <a:spcAft>
                <a:spcPts val="400"/>
              </a:spcAft>
            </a:pPr>
            <a:r>
              <a:rPr sz="1150" b="0">
                <a:solidFill>
                  <a:srgbClr val="5A6B63"/>
                </a:solidFill>
                <a:latin typeface="Calibri"/>
              </a:rPr>
              <a:t>localhost:8081…8091/swagger-ui.html</a:t>
            </a:r>
          </a:p>
        </p:txBody>
      </p:sp>
      <p:sp>
        <p:nvSpPr>
          <p:cNvPr id="16" name="Rectangle 15"/>
          <p:cNvSpPr/>
          <p:nvPr/>
        </p:nvSpPr>
        <p:spPr>
          <a:xfrm>
            <a:off x="8074152" y="2148840"/>
            <a:ext cx="3639312" cy="1371600"/>
          </a:xfrm>
          <a:prstGeom prst="rect">
            <a:avLst/>
          </a:prstGeom>
          <a:solidFill>
            <a:srgbClr val="FFFFFF"/>
          </a:solidFill>
          <a:ln w="1524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4152" y="2148840"/>
            <a:ext cx="3639312" cy="109728"/>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2752" y="2377440"/>
            <a:ext cx="3200400" cy="457200"/>
          </a:xfrm>
          <a:prstGeom prst="rect">
            <a:avLst/>
          </a:prstGeom>
          <a:noFill/>
        </p:spPr>
        <p:txBody>
          <a:bodyPr wrap="square" anchor="t" lIns="25400" rIns="25400" tIns="12700" bIns="12700">
            <a:spAutoFit/>
          </a:bodyPr>
          <a:lstStyle/>
          <a:p>
            <a:pPr algn="l">
              <a:spcBef>
                <a:spcPts val="0"/>
              </a:spcBef>
              <a:spcAft>
                <a:spcPts val="400"/>
              </a:spcAft>
            </a:pPr>
            <a:r>
              <a:rPr sz="1400" b="1">
                <a:solidFill>
                  <a:srgbClr val="2D6CDF"/>
                </a:solidFill>
                <a:latin typeface="Calibri"/>
              </a:rPr>
              <a:t>bff-service</a:t>
            </a:r>
          </a:p>
        </p:txBody>
      </p:sp>
      <p:sp>
        <p:nvSpPr>
          <p:cNvPr id="19" name="TextBox 18"/>
          <p:cNvSpPr txBox="1"/>
          <p:nvPr/>
        </p:nvSpPr>
        <p:spPr>
          <a:xfrm>
            <a:off x="8302752" y="2834640"/>
            <a:ext cx="3246120" cy="548640"/>
          </a:xfrm>
          <a:prstGeom prst="rect">
            <a:avLst/>
          </a:prstGeom>
          <a:noFill/>
        </p:spPr>
        <p:txBody>
          <a:bodyPr wrap="square" anchor="t" lIns="25400" rIns="25400" tIns="12700" bIns="12700">
            <a:spAutoFit/>
          </a:bodyPr>
          <a:lstStyle/>
          <a:p>
            <a:pPr algn="l">
              <a:spcBef>
                <a:spcPts val="0"/>
              </a:spcBef>
              <a:spcAft>
                <a:spcPts val="400"/>
              </a:spcAft>
            </a:pPr>
            <a:r>
              <a:rPr sz="1150" b="0">
                <a:solidFill>
                  <a:srgbClr val="5A6B63"/>
                </a:solidFill>
                <a:latin typeface="Calibri"/>
              </a:rPr>
              <a:t>localhost:8083/swagger-ui.html</a:t>
            </a:r>
          </a:p>
        </p:txBody>
      </p:sp>
      <p:sp>
        <p:nvSpPr>
          <p:cNvPr id="20" name="Rectangle 19"/>
          <p:cNvSpPr/>
          <p:nvPr/>
        </p:nvSpPr>
        <p:spPr>
          <a:xfrm>
            <a:off x="502920" y="3840480"/>
            <a:ext cx="11201400" cy="2148840"/>
          </a:xfrm>
          <a:prstGeom prst="rect">
            <a:avLst/>
          </a:prstGeom>
          <a:solidFill>
            <a:srgbClr val="E8F1EC"/>
          </a:solidFill>
          <a:ln>
            <a:no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977639"/>
            <a:ext cx="10789920" cy="365760"/>
          </a:xfrm>
          <a:prstGeom prst="rect">
            <a:avLst/>
          </a:prstGeom>
          <a:noFill/>
        </p:spPr>
        <p:txBody>
          <a:bodyPr wrap="square" anchor="t" lIns="25400" rIns="25400" tIns="12700" bIns="12700">
            <a:spAutoFit/>
          </a:bodyPr>
          <a:lstStyle/>
          <a:p>
            <a:pPr algn="l">
              <a:spcBef>
                <a:spcPts val="0"/>
              </a:spcBef>
              <a:spcAft>
                <a:spcPts val="400"/>
              </a:spcAft>
            </a:pPr>
            <a:r>
              <a:rPr sz="1450" b="1">
                <a:solidFill>
                  <a:srgbClr val="162A22"/>
                </a:solidFill>
                <a:latin typeface="Calibri"/>
              </a:rPr>
              <a:t>Colección Postman (carpeta /postman)</a:t>
            </a:r>
          </a:p>
        </p:txBody>
      </p:sp>
      <p:sp>
        <p:nvSpPr>
          <p:cNvPr id="22" name="TextBox 21"/>
          <p:cNvSpPr txBox="1"/>
          <p:nvPr/>
        </p:nvSpPr>
        <p:spPr>
          <a:xfrm>
            <a:off x="731520" y="4434840"/>
            <a:ext cx="10789920" cy="1463040"/>
          </a:xfrm>
          <a:prstGeom prst="rect">
            <a:avLst/>
          </a:prstGeom>
          <a:noFill/>
        </p:spPr>
        <p:txBody>
          <a:bodyPr wrap="square" anchor="t" lIns="25400" rIns="25400" tIns="12700" bIns="12700">
            <a:spAutoFit/>
          </a:bodyPr>
          <a:lstStyle/>
          <a:p>
            <a:pPr algn="l">
              <a:spcBef>
                <a:spcPts val="0"/>
              </a:spcBef>
              <a:spcAft>
                <a:spcPts val="600"/>
              </a:spcAft>
            </a:pPr>
            <a:r>
              <a:rPr sz="1300" b="0">
                <a:solidFill>
                  <a:srgbClr val="5A6B63"/>
                </a:solidFill>
                <a:latin typeface="Calibri"/>
              </a:rPr>
              <a:t>VeloUrbe.postman_collection.json — endpoints por servicio + carpetas BFF (8083) y Vía API Gateway (8080)</a:t>
            </a:r>
          </a:p>
          <a:p>
            <a:pPr algn="l">
              <a:spcBef>
                <a:spcPts val="0"/>
              </a:spcBef>
              <a:spcAft>
                <a:spcPts val="600"/>
              </a:spcAft>
            </a:pPr>
            <a:r>
              <a:rPr sz="1300" b="0">
                <a:solidFill>
                  <a:srgbClr val="5A6B63"/>
                </a:solidFill>
                <a:latin typeface="Calibri"/>
              </a:rPr>
              <a:t>VeloUrbe.postman_environment.json — variables localhost (auth_url, rental_url, bff_url, gateway_url, tokens)</a:t>
            </a:r>
          </a:p>
          <a:p>
            <a:pPr algn="l">
              <a:spcBef>
                <a:spcPts val="0"/>
              </a:spcBef>
              <a:spcAft>
                <a:spcPts val="400"/>
              </a:spcAft>
            </a:pPr>
            <a:r>
              <a:rPr sz="1300" b="1">
                <a:solidFill>
                  <a:srgbClr val="162A22"/>
                </a:solidFill>
                <a:latin typeface="Calibri"/>
              </a:rPr>
              <a:t>Flujo: Login Admin → Crear patineta → Registrar cliente → Iniciar arriendo → BFF Dashboard → Finalizar</a:t>
            </a:r>
          </a:p>
        </p:txBody>
      </p:sp>
      <p:sp>
        <p:nvSpPr>
          <p:cNvPr id="23" name="TextBox 22"/>
          <p:cNvSpPr txBox="1"/>
          <p:nvPr/>
        </p:nvSpPr>
        <p:spPr>
          <a:xfrm>
            <a:off x="502920" y="6473952"/>
            <a:ext cx="5486400" cy="274320"/>
          </a:xfrm>
          <a:prstGeom prst="rect">
            <a:avLst/>
          </a:prstGeom>
          <a:noFill/>
        </p:spPr>
        <p:txBody>
          <a:bodyPr wrap="square" anchor="t" lIns="25400" rIns="25400" tIns="12700" bIns="12700">
            <a:spAutoFit/>
          </a:bodyPr>
          <a:lstStyle/>
          <a:p>
            <a:pPr algn="l">
              <a:spcBef>
                <a:spcPts val="0"/>
              </a:spcBef>
              <a:spcAft>
                <a:spcPts val="400"/>
              </a:spcAft>
            </a:pPr>
            <a:r>
              <a:rPr sz="900" b="0">
                <a:solidFill>
                  <a:srgbClr val="5A6B63"/>
                </a:solidFill>
                <a:latin typeface="Calibri"/>
              </a:rPr>
              <a:t>VeloUrbe · Informe Técnico de Arquitectura</a:t>
            </a:r>
          </a:p>
        </p:txBody>
      </p:sp>
      <p:sp>
        <p:nvSpPr>
          <p:cNvPr id="24" name="Rectangle 23"/>
          <p:cNvSpPr/>
          <p:nvPr/>
        </p:nvSpPr>
        <p:spPr>
          <a:xfrm>
            <a:off x="11475720" y="6437376"/>
            <a:ext cx="457200" cy="310896"/>
          </a:xfrm>
          <a:prstGeom prst="rect">
            <a:avLst/>
          </a:prstGeom>
          <a:solidFill>
            <a:srgbClr val="E8F1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000" b="1">
                <a:solidFill>
                  <a:srgbClr val="2E9E5B"/>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162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38100"/>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365760"/>
          </a:xfrm>
          <a:prstGeom prst="rect">
            <a:avLst/>
          </a:prstGeom>
          <a:noFill/>
        </p:spPr>
        <p:txBody>
          <a:bodyPr wrap="square" anchor="t" lIns="25400" rIns="25400" tIns="12700" bIns="12700">
            <a:spAutoFit/>
          </a:bodyPr>
          <a:lstStyle/>
          <a:p>
            <a:pPr algn="l">
              <a:spcBef>
                <a:spcPts val="0"/>
              </a:spcBef>
              <a:spcAft>
                <a:spcPts val="400"/>
              </a:spcAft>
            </a:pPr>
            <a:r>
              <a:rPr sz="1200" b="1">
                <a:solidFill>
                  <a:srgbClr val="7FC83D"/>
                </a:solidFill>
                <a:latin typeface="Calibri"/>
              </a:rPr>
              <a:t>5 · REPOSITORIO</a:t>
            </a:r>
          </a:p>
        </p:txBody>
      </p:sp>
      <p:sp>
        <p:nvSpPr>
          <p:cNvPr id="5" name="TextBox 4"/>
          <p:cNvSpPr txBox="1"/>
          <p:nvPr/>
        </p:nvSpPr>
        <p:spPr>
          <a:xfrm>
            <a:off x="502920" y="457200"/>
            <a:ext cx="10515600" cy="566928"/>
          </a:xfrm>
          <a:prstGeom prst="rect">
            <a:avLst/>
          </a:prstGeom>
          <a:noFill/>
        </p:spPr>
        <p:txBody>
          <a:bodyPr wrap="square" anchor="t" lIns="25400" rIns="25400" tIns="12700" bIns="12700">
            <a:spAutoFit/>
          </a:bodyPr>
          <a:lstStyle/>
          <a:p>
            <a:pPr algn="l">
              <a:spcBef>
                <a:spcPts val="0"/>
              </a:spcBef>
              <a:spcAft>
                <a:spcPts val="400"/>
              </a:spcAft>
            </a:pPr>
            <a:r>
              <a:rPr sz="2700" b="1">
                <a:solidFill>
                  <a:srgbClr val="FFFFFF"/>
                </a:solidFill>
                <a:latin typeface="Calibri"/>
              </a:rPr>
              <a:t>Estrategia de Branching (Git)</a:t>
            </a:r>
          </a:p>
        </p:txBody>
      </p:sp>
      <p:sp>
        <p:nvSpPr>
          <p:cNvPr id="6" name="Oval 5"/>
          <p:cNvSpPr/>
          <p:nvPr/>
        </p:nvSpPr>
        <p:spPr>
          <a:xfrm>
            <a:off x="11018520" y="274320"/>
            <a:ext cx="713232" cy="71323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2200" b="1">
                <a:solidFill>
                  <a:srgbClr val="FFFFFF"/>
                </a:solidFill>
                <a:latin typeface="Calibri"/>
              </a:rPr>
              <a:t>GIT</a:t>
            </a:r>
          </a:p>
        </p:txBody>
      </p:sp>
      <p:sp>
        <p:nvSpPr>
          <p:cNvPr id="7" name="TextBox 6"/>
          <p:cNvSpPr txBox="1"/>
          <p:nvPr/>
        </p:nvSpPr>
        <p:spPr>
          <a:xfrm>
            <a:off x="502920" y="1371600"/>
            <a:ext cx="10972800" cy="457200"/>
          </a:xfrm>
          <a:prstGeom prst="rect">
            <a:avLst/>
          </a:prstGeom>
          <a:noFill/>
        </p:spPr>
        <p:txBody>
          <a:bodyPr wrap="square" anchor="t" lIns="25400" rIns="25400" tIns="12700" bIns="12700">
            <a:spAutoFit/>
          </a:bodyPr>
          <a:lstStyle/>
          <a:p>
            <a:pPr algn="l">
              <a:spcBef>
                <a:spcPts val="0"/>
              </a:spcBef>
              <a:spcAft>
                <a:spcPts val="400"/>
              </a:spcAft>
            </a:pPr>
            <a:r>
              <a:rPr sz="1400" b="0">
                <a:solidFill>
                  <a:srgbClr val="162A22"/>
                </a:solidFill>
                <a:latin typeface="Calibri"/>
              </a:rPr>
              <a:t>Repositorio ordenado con un flujo basado en ramas de funcionalidad que se integran a main.</a:t>
            </a:r>
          </a:p>
        </p:txBody>
      </p:sp>
      <p:sp>
        <p:nvSpPr>
          <p:cNvPr id="8" name="Rectangle 7"/>
          <p:cNvSpPr/>
          <p:nvPr/>
        </p:nvSpPr>
        <p:spPr>
          <a:xfrm>
            <a:off x="502920" y="2011680"/>
            <a:ext cx="11201400" cy="960120"/>
          </a:xfrm>
          <a:prstGeom prst="rect">
            <a:avLst/>
          </a:prstGeom>
          <a:solidFill>
            <a:srgbClr val="FFFFFF"/>
          </a:solidFill>
          <a:ln w="1524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2011680"/>
            <a:ext cx="2194560" cy="960120"/>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600" b="1">
                <a:solidFill>
                  <a:srgbClr val="FFFFFF"/>
                </a:solidFill>
                <a:latin typeface="Calibri"/>
              </a:rPr>
              <a:t>main</a:t>
            </a:r>
          </a:p>
        </p:txBody>
      </p:sp>
      <p:sp>
        <p:nvSpPr>
          <p:cNvPr id="10" name="TextBox 9"/>
          <p:cNvSpPr txBox="1"/>
          <p:nvPr/>
        </p:nvSpPr>
        <p:spPr>
          <a:xfrm>
            <a:off x="2926080" y="2304288"/>
            <a:ext cx="8503920" cy="457200"/>
          </a:xfrm>
          <a:prstGeom prst="rect">
            <a:avLst/>
          </a:prstGeom>
          <a:noFill/>
        </p:spPr>
        <p:txBody>
          <a:bodyPr wrap="square" anchor="t" lIns="25400" rIns="25400" tIns="12700" bIns="12700">
            <a:spAutoFit/>
          </a:bodyPr>
          <a:lstStyle/>
          <a:p>
            <a:pPr algn="l">
              <a:spcBef>
                <a:spcPts val="0"/>
              </a:spcBef>
              <a:spcAft>
                <a:spcPts val="400"/>
              </a:spcAft>
            </a:pPr>
            <a:r>
              <a:rPr sz="1350" b="0">
                <a:solidFill>
                  <a:srgbClr val="5A6B63"/>
                </a:solidFill>
                <a:latin typeface="Calibri"/>
              </a:rPr>
              <a:t>Rama estable y siempre desplegable. Contiene la versión integrada de los 12 servicios.</a:t>
            </a:r>
          </a:p>
        </p:txBody>
      </p:sp>
      <p:sp>
        <p:nvSpPr>
          <p:cNvPr id="11" name="Rectangle 10"/>
          <p:cNvSpPr/>
          <p:nvPr/>
        </p:nvSpPr>
        <p:spPr>
          <a:xfrm>
            <a:off x="502920" y="3118104"/>
            <a:ext cx="11201400" cy="960120"/>
          </a:xfrm>
          <a:prstGeom prst="rect">
            <a:avLst/>
          </a:prstGeom>
          <a:solidFill>
            <a:srgbClr val="FFFFFF"/>
          </a:solidFill>
          <a:ln w="1524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3118104"/>
            <a:ext cx="2194560" cy="96012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600" b="1">
                <a:solidFill>
                  <a:srgbClr val="FFFFFF"/>
                </a:solidFill>
                <a:latin typeface="Calibri"/>
              </a:rPr>
              <a:t>feature/*</a:t>
            </a:r>
          </a:p>
        </p:txBody>
      </p:sp>
      <p:sp>
        <p:nvSpPr>
          <p:cNvPr id="13" name="TextBox 12"/>
          <p:cNvSpPr txBox="1"/>
          <p:nvPr/>
        </p:nvSpPr>
        <p:spPr>
          <a:xfrm>
            <a:off x="2926080" y="3410712"/>
            <a:ext cx="8503920" cy="457200"/>
          </a:xfrm>
          <a:prstGeom prst="rect">
            <a:avLst/>
          </a:prstGeom>
          <a:noFill/>
        </p:spPr>
        <p:txBody>
          <a:bodyPr wrap="square" anchor="t" lIns="25400" rIns="25400" tIns="12700" bIns="12700">
            <a:spAutoFit/>
          </a:bodyPr>
          <a:lstStyle/>
          <a:p>
            <a:pPr algn="l">
              <a:spcBef>
                <a:spcPts val="0"/>
              </a:spcBef>
              <a:spcAft>
                <a:spcPts val="400"/>
              </a:spcAft>
            </a:pPr>
            <a:r>
              <a:rPr sz="1350" b="0">
                <a:solidFill>
                  <a:srgbClr val="5A6B63"/>
                </a:solidFill>
                <a:latin typeface="Calibri"/>
              </a:rPr>
              <a:t>Una rama por funcionalidad (auth, rentals, bff, gateway). Se mergea a main por PR.</a:t>
            </a:r>
          </a:p>
        </p:txBody>
      </p:sp>
      <p:sp>
        <p:nvSpPr>
          <p:cNvPr id="14" name="Rectangle 13"/>
          <p:cNvSpPr/>
          <p:nvPr/>
        </p:nvSpPr>
        <p:spPr>
          <a:xfrm>
            <a:off x="502920" y="4224528"/>
            <a:ext cx="11201400" cy="960120"/>
          </a:xfrm>
          <a:prstGeom prst="rect">
            <a:avLst/>
          </a:prstGeom>
          <a:solidFill>
            <a:srgbClr val="FFFFFF"/>
          </a:solidFill>
          <a:ln w="1524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4224528"/>
            <a:ext cx="2194560" cy="960120"/>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600" b="1">
                <a:solidFill>
                  <a:srgbClr val="FFFFFF"/>
                </a:solidFill>
                <a:latin typeface="Calibri"/>
              </a:rPr>
              <a:t>docs / test</a:t>
            </a:r>
          </a:p>
        </p:txBody>
      </p:sp>
      <p:sp>
        <p:nvSpPr>
          <p:cNvPr id="16" name="TextBox 15"/>
          <p:cNvSpPr txBox="1"/>
          <p:nvPr/>
        </p:nvSpPr>
        <p:spPr>
          <a:xfrm>
            <a:off x="2926080" y="4517136"/>
            <a:ext cx="8503920" cy="457200"/>
          </a:xfrm>
          <a:prstGeom prst="rect">
            <a:avLst/>
          </a:prstGeom>
          <a:noFill/>
        </p:spPr>
        <p:txBody>
          <a:bodyPr wrap="square" anchor="t" lIns="25400" rIns="25400" tIns="12700" bIns="12700">
            <a:spAutoFit/>
          </a:bodyPr>
          <a:lstStyle/>
          <a:p>
            <a:pPr algn="l">
              <a:spcBef>
                <a:spcPts val="0"/>
              </a:spcBef>
              <a:spcAft>
                <a:spcPts val="400"/>
              </a:spcAft>
            </a:pPr>
            <a:r>
              <a:rPr sz="1350" b="0">
                <a:solidFill>
                  <a:srgbClr val="5A6B63"/>
                </a:solidFill>
                <a:latin typeface="Calibri"/>
              </a:rPr>
              <a:t>Ramas de soporte para documentación, colección Postman y pruebas.</a:t>
            </a:r>
          </a:p>
        </p:txBody>
      </p:sp>
      <p:sp>
        <p:nvSpPr>
          <p:cNvPr id="17" name="Rectangle 16"/>
          <p:cNvSpPr/>
          <p:nvPr/>
        </p:nvSpPr>
        <p:spPr>
          <a:xfrm>
            <a:off x="502920" y="5486400"/>
            <a:ext cx="11201400" cy="685800"/>
          </a:xfrm>
          <a:prstGeom prst="rect">
            <a:avLst/>
          </a:prstGeom>
          <a:solidFill>
            <a:srgbClr val="E8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5596128"/>
            <a:ext cx="10789920" cy="457200"/>
          </a:xfrm>
          <a:prstGeom prst="rect">
            <a:avLst/>
          </a:prstGeom>
          <a:noFill/>
        </p:spPr>
        <p:txBody>
          <a:bodyPr wrap="square" anchor="t" lIns="25400" rIns="25400" tIns="12700" bIns="12700">
            <a:spAutoFit/>
          </a:bodyPr>
          <a:lstStyle/>
          <a:p>
            <a:pPr algn="l">
              <a:spcBef>
                <a:spcPts val="0"/>
              </a:spcBef>
              <a:spcAft>
                <a:spcPts val="400"/>
              </a:spcAft>
            </a:pPr>
            <a:r>
              <a:rPr sz="1300" b="1">
                <a:solidFill>
                  <a:srgbClr val="162A22"/>
                </a:solidFill>
                <a:latin typeface="Calibri"/>
              </a:rPr>
              <a:t>Commits semánticos: feat: · test: · docs: · merge:  — historial limpio y legible.</a:t>
            </a:r>
          </a:p>
        </p:txBody>
      </p:sp>
      <p:sp>
        <p:nvSpPr>
          <p:cNvPr id="19" name="TextBox 18"/>
          <p:cNvSpPr txBox="1"/>
          <p:nvPr/>
        </p:nvSpPr>
        <p:spPr>
          <a:xfrm>
            <a:off x="502920" y="6473952"/>
            <a:ext cx="5486400" cy="274320"/>
          </a:xfrm>
          <a:prstGeom prst="rect">
            <a:avLst/>
          </a:prstGeom>
          <a:noFill/>
        </p:spPr>
        <p:txBody>
          <a:bodyPr wrap="square" anchor="t" lIns="25400" rIns="25400" tIns="12700" bIns="12700">
            <a:spAutoFit/>
          </a:bodyPr>
          <a:lstStyle/>
          <a:p>
            <a:pPr algn="l">
              <a:spcBef>
                <a:spcPts val="0"/>
              </a:spcBef>
              <a:spcAft>
                <a:spcPts val="400"/>
              </a:spcAft>
            </a:pPr>
            <a:r>
              <a:rPr sz="900" b="0">
                <a:solidFill>
                  <a:srgbClr val="5A6B63"/>
                </a:solidFill>
                <a:latin typeface="Calibri"/>
              </a:rPr>
              <a:t>VeloUrbe · Informe Técnico de Arquitectura</a:t>
            </a:r>
          </a:p>
        </p:txBody>
      </p:sp>
      <p:sp>
        <p:nvSpPr>
          <p:cNvPr id="20" name="Rectangle 19"/>
          <p:cNvSpPr/>
          <p:nvPr/>
        </p:nvSpPr>
        <p:spPr>
          <a:xfrm>
            <a:off x="11475720" y="6437376"/>
            <a:ext cx="457200" cy="310896"/>
          </a:xfrm>
          <a:prstGeom prst="rect">
            <a:avLst/>
          </a:prstGeom>
          <a:solidFill>
            <a:srgbClr val="E8F1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000" b="1">
                <a:solidFill>
                  <a:srgbClr val="2E9E5B"/>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162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38100"/>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365760"/>
          </a:xfrm>
          <a:prstGeom prst="rect">
            <a:avLst/>
          </a:prstGeom>
          <a:noFill/>
        </p:spPr>
        <p:txBody>
          <a:bodyPr wrap="square" anchor="t" lIns="25400" rIns="25400" tIns="12700" bIns="12700">
            <a:spAutoFit/>
          </a:bodyPr>
          <a:lstStyle/>
          <a:p>
            <a:pPr algn="l">
              <a:spcBef>
                <a:spcPts val="0"/>
              </a:spcBef>
              <a:spcAft>
                <a:spcPts val="400"/>
              </a:spcAft>
            </a:pPr>
            <a:r>
              <a:rPr sz="1200" b="1">
                <a:solidFill>
                  <a:srgbClr val="7FC83D"/>
                </a:solidFill>
                <a:latin typeface="Calibri"/>
              </a:rPr>
              <a:t>8 · DEMO EN VIVO</a:t>
            </a:r>
          </a:p>
        </p:txBody>
      </p:sp>
      <p:sp>
        <p:nvSpPr>
          <p:cNvPr id="5" name="TextBox 4"/>
          <p:cNvSpPr txBox="1"/>
          <p:nvPr/>
        </p:nvSpPr>
        <p:spPr>
          <a:xfrm>
            <a:off x="502920" y="457200"/>
            <a:ext cx="10515600" cy="566928"/>
          </a:xfrm>
          <a:prstGeom prst="rect">
            <a:avLst/>
          </a:prstGeom>
          <a:noFill/>
        </p:spPr>
        <p:txBody>
          <a:bodyPr wrap="square" anchor="t" lIns="25400" rIns="25400" tIns="12700" bIns="12700">
            <a:spAutoFit/>
          </a:bodyPr>
          <a:lstStyle/>
          <a:p>
            <a:pPr algn="l">
              <a:spcBef>
                <a:spcPts val="0"/>
              </a:spcBef>
              <a:spcAft>
                <a:spcPts val="400"/>
              </a:spcAft>
            </a:pPr>
            <a:r>
              <a:rPr sz="2700" b="1">
                <a:solidFill>
                  <a:srgbClr val="FFFFFF"/>
                </a:solidFill>
                <a:latin typeface="Calibri"/>
              </a:rPr>
              <a:t>Flujo de Demostración (Docker)</a:t>
            </a:r>
          </a:p>
        </p:txBody>
      </p:sp>
      <p:sp>
        <p:nvSpPr>
          <p:cNvPr id="6" name="Oval 5"/>
          <p:cNvSpPr/>
          <p:nvPr/>
        </p:nvSpPr>
        <p:spPr>
          <a:xfrm>
            <a:off x="11018520" y="274320"/>
            <a:ext cx="713232" cy="71323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2200" b="1">
                <a:solidFill>
                  <a:srgbClr val="FFFFFF"/>
                </a:solidFill>
                <a:latin typeface="Calibri"/>
              </a:rPr>
              <a:t>DEMO</a:t>
            </a:r>
          </a:p>
        </p:txBody>
      </p:sp>
      <p:sp>
        <p:nvSpPr>
          <p:cNvPr id="7" name="TextBox 6"/>
          <p:cNvSpPr txBox="1"/>
          <p:nvPr/>
        </p:nvSpPr>
        <p:spPr>
          <a:xfrm>
            <a:off x="502920" y="1325880"/>
            <a:ext cx="10972800" cy="457200"/>
          </a:xfrm>
          <a:prstGeom prst="rect">
            <a:avLst/>
          </a:prstGeom>
          <a:noFill/>
        </p:spPr>
        <p:txBody>
          <a:bodyPr wrap="square" anchor="t" lIns="25400" rIns="25400" tIns="12700" bIns="12700">
            <a:spAutoFit/>
          </a:bodyPr>
          <a:lstStyle/>
          <a:p>
            <a:pPr algn="l">
              <a:spcBef>
                <a:spcPts val="0"/>
              </a:spcBef>
              <a:spcAft>
                <a:spcPts val="400"/>
              </a:spcAft>
            </a:pPr>
            <a:r>
              <a:rPr sz="1350" b="0">
                <a:solidFill>
                  <a:srgbClr val="162A22"/>
                </a:solidFill>
                <a:latin typeface="Calibri"/>
              </a:rPr>
              <a:t>Todo el ecosistema corre localmente con Docker Desktop (incluida la BD PostgreSQL en contenedor).</a:t>
            </a:r>
          </a:p>
        </p:txBody>
      </p:sp>
      <p:sp>
        <p:nvSpPr>
          <p:cNvPr id="8" name="Rectangle 7"/>
          <p:cNvSpPr/>
          <p:nvPr/>
        </p:nvSpPr>
        <p:spPr>
          <a:xfrm>
            <a:off x="502920" y="1965960"/>
            <a:ext cx="2724912" cy="3383280"/>
          </a:xfrm>
          <a:prstGeom prst="rect">
            <a:avLst/>
          </a:prstGeom>
          <a:solidFill>
            <a:srgbClr val="FFFFFF"/>
          </a:solidFill>
          <a:ln w="1524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53896" y="2194560"/>
            <a:ext cx="822960" cy="82296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3000" b="1">
                <a:solidFill>
                  <a:srgbClr val="FFFFFF"/>
                </a:solidFill>
                <a:latin typeface="Calibri"/>
              </a:rPr>
              <a:t>1</a:t>
            </a:r>
          </a:p>
        </p:txBody>
      </p:sp>
      <p:sp>
        <p:nvSpPr>
          <p:cNvPr id="10" name="TextBox 9"/>
          <p:cNvSpPr txBox="1"/>
          <p:nvPr/>
        </p:nvSpPr>
        <p:spPr>
          <a:xfrm>
            <a:off x="685800" y="3154680"/>
            <a:ext cx="2359152" cy="548640"/>
          </a:xfrm>
          <a:prstGeom prst="rect">
            <a:avLst/>
          </a:prstGeom>
          <a:noFill/>
        </p:spPr>
        <p:txBody>
          <a:bodyPr wrap="square" anchor="t" lIns="25400" rIns="25400" tIns="12700" bIns="12700">
            <a:spAutoFit/>
          </a:bodyPr>
          <a:lstStyle/>
          <a:p>
            <a:pPr algn="ctr">
              <a:spcBef>
                <a:spcPts val="0"/>
              </a:spcBef>
              <a:spcAft>
                <a:spcPts val="400"/>
              </a:spcAft>
            </a:pPr>
            <a:r>
              <a:rPr sz="1500" b="1">
                <a:solidFill>
                  <a:srgbClr val="162A22"/>
                </a:solidFill>
                <a:latin typeface="Calibri"/>
              </a:rPr>
              <a:t>Registro de Usuario</a:t>
            </a:r>
          </a:p>
        </p:txBody>
      </p:sp>
      <p:sp>
        <p:nvSpPr>
          <p:cNvPr id="11" name="TextBox 10"/>
          <p:cNvSpPr txBox="1"/>
          <p:nvPr/>
        </p:nvSpPr>
        <p:spPr>
          <a:xfrm>
            <a:off x="685800" y="3749039"/>
            <a:ext cx="2359152" cy="1097280"/>
          </a:xfrm>
          <a:prstGeom prst="rect">
            <a:avLst/>
          </a:prstGeom>
          <a:noFill/>
        </p:spPr>
        <p:txBody>
          <a:bodyPr wrap="square" anchor="t" lIns="25400" rIns="25400" tIns="12700" bIns="12700">
            <a:spAutoFit/>
          </a:bodyPr>
          <a:lstStyle/>
          <a:p>
            <a:pPr algn="ctr">
              <a:spcBef>
                <a:spcPts val="0"/>
              </a:spcBef>
              <a:spcAft>
                <a:spcPts val="400"/>
              </a:spcAft>
            </a:pPr>
            <a:r>
              <a:rPr sz="1200" b="0">
                <a:solidFill>
                  <a:srgbClr val="5A6B63"/>
                </a:solidFill>
                <a:latin typeface="Calibri"/>
              </a:rPr>
              <a:t>POST /api/auth/register → crea cuenta con rol CLIENT.</a:t>
            </a:r>
          </a:p>
        </p:txBody>
      </p:sp>
      <p:sp>
        <p:nvSpPr>
          <p:cNvPr id="12" name="Rounded Rectangle 11"/>
          <p:cNvSpPr/>
          <p:nvPr/>
        </p:nvSpPr>
        <p:spPr>
          <a:xfrm>
            <a:off x="950976" y="4800600"/>
            <a:ext cx="1828800" cy="411480"/>
          </a:xfrm>
          <a:prstGeom prst="round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200" b="1">
                <a:solidFill>
                  <a:srgbClr val="FFFFFF"/>
                </a:solidFill>
                <a:latin typeface="Calibri"/>
              </a:rPr>
              <a:t>200 OK</a:t>
            </a:r>
          </a:p>
        </p:txBody>
      </p:sp>
      <p:cxnSp>
        <p:nvCxnSpPr>
          <p:cNvPr id="13" name="Connector 12"/>
          <p:cNvCxnSpPr/>
          <p:nvPr/>
        </p:nvCxnSpPr>
        <p:spPr>
          <a:xfrm>
            <a:off x="3227832" y="3566160"/>
            <a:ext cx="109728" cy="0"/>
          </a:xfrm>
          <a:prstGeom prst="line">
            <a:avLst/>
          </a:prstGeom>
          <a:ln w="25400">
            <a:solidFill>
              <a:srgbClr val="5A6B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3337560" y="1965960"/>
            <a:ext cx="2724912" cy="3383280"/>
          </a:xfrm>
          <a:prstGeom prst="rect">
            <a:avLst/>
          </a:prstGeom>
          <a:solidFill>
            <a:srgbClr val="FFFFFF"/>
          </a:solidFill>
          <a:ln w="1524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288536" y="2194560"/>
            <a:ext cx="822960" cy="822960"/>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3000" b="1">
                <a:solidFill>
                  <a:srgbClr val="FFFFFF"/>
                </a:solidFill>
                <a:latin typeface="Calibri"/>
              </a:rPr>
              <a:t>2</a:t>
            </a:r>
          </a:p>
        </p:txBody>
      </p:sp>
      <p:sp>
        <p:nvSpPr>
          <p:cNvPr id="16" name="TextBox 15"/>
          <p:cNvSpPr txBox="1"/>
          <p:nvPr/>
        </p:nvSpPr>
        <p:spPr>
          <a:xfrm>
            <a:off x="3520440" y="3154680"/>
            <a:ext cx="2359152" cy="548640"/>
          </a:xfrm>
          <a:prstGeom prst="rect">
            <a:avLst/>
          </a:prstGeom>
          <a:noFill/>
        </p:spPr>
        <p:txBody>
          <a:bodyPr wrap="square" anchor="t" lIns="25400" rIns="25400" tIns="12700" bIns="12700">
            <a:spAutoFit/>
          </a:bodyPr>
          <a:lstStyle/>
          <a:p>
            <a:pPr algn="ctr">
              <a:spcBef>
                <a:spcPts val="0"/>
              </a:spcBef>
              <a:spcAft>
                <a:spcPts val="400"/>
              </a:spcAft>
            </a:pPr>
            <a:r>
              <a:rPr sz="1500" b="1">
                <a:solidFill>
                  <a:srgbClr val="162A22"/>
                </a:solidFill>
                <a:latin typeface="Calibri"/>
              </a:rPr>
              <a:t>Login</a:t>
            </a:r>
          </a:p>
        </p:txBody>
      </p:sp>
      <p:sp>
        <p:nvSpPr>
          <p:cNvPr id="17" name="TextBox 16"/>
          <p:cNvSpPr txBox="1"/>
          <p:nvPr/>
        </p:nvSpPr>
        <p:spPr>
          <a:xfrm>
            <a:off x="3520440" y="3749039"/>
            <a:ext cx="2359152" cy="1097280"/>
          </a:xfrm>
          <a:prstGeom prst="rect">
            <a:avLst/>
          </a:prstGeom>
          <a:noFill/>
        </p:spPr>
        <p:txBody>
          <a:bodyPr wrap="square" anchor="t" lIns="25400" rIns="25400" tIns="12700" bIns="12700">
            <a:spAutoFit/>
          </a:bodyPr>
          <a:lstStyle/>
          <a:p>
            <a:pPr algn="ctr">
              <a:spcBef>
                <a:spcPts val="0"/>
              </a:spcBef>
              <a:spcAft>
                <a:spcPts val="400"/>
              </a:spcAft>
            </a:pPr>
            <a:r>
              <a:rPr sz="1200" b="0">
                <a:solidFill>
                  <a:srgbClr val="5A6B63"/>
                </a:solidFill>
                <a:latin typeface="Calibri"/>
              </a:rPr>
              <a:t>POST /api/auth/login → devuelve el token JWT de seguridad.</a:t>
            </a:r>
          </a:p>
        </p:txBody>
      </p:sp>
      <p:sp>
        <p:nvSpPr>
          <p:cNvPr id="18" name="Rounded Rectangle 17"/>
          <p:cNvSpPr/>
          <p:nvPr/>
        </p:nvSpPr>
        <p:spPr>
          <a:xfrm>
            <a:off x="3785616" y="4800600"/>
            <a:ext cx="1828800" cy="411480"/>
          </a:xfrm>
          <a:prstGeom prst="round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200" b="1">
                <a:solidFill>
                  <a:srgbClr val="FFFFFF"/>
                </a:solidFill>
                <a:latin typeface="Calibri"/>
              </a:rPr>
              <a:t>200 OK</a:t>
            </a:r>
          </a:p>
        </p:txBody>
      </p:sp>
      <p:cxnSp>
        <p:nvCxnSpPr>
          <p:cNvPr id="19" name="Connector 18"/>
          <p:cNvCxnSpPr/>
          <p:nvPr/>
        </p:nvCxnSpPr>
        <p:spPr>
          <a:xfrm>
            <a:off x="6062472" y="3566160"/>
            <a:ext cx="109728" cy="0"/>
          </a:xfrm>
          <a:prstGeom prst="line">
            <a:avLst/>
          </a:prstGeom>
          <a:ln w="25400">
            <a:solidFill>
              <a:srgbClr val="5A6B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172200" y="1965960"/>
            <a:ext cx="2724912" cy="3383280"/>
          </a:xfrm>
          <a:prstGeom prst="rect">
            <a:avLst/>
          </a:prstGeom>
          <a:solidFill>
            <a:srgbClr val="FFFFFF"/>
          </a:solidFill>
          <a:ln w="1524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23176" y="2194560"/>
            <a:ext cx="822960" cy="82296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3000" b="1">
                <a:solidFill>
                  <a:srgbClr val="FFFFFF"/>
                </a:solidFill>
                <a:latin typeface="Calibri"/>
              </a:rPr>
              <a:t>3</a:t>
            </a:r>
          </a:p>
        </p:txBody>
      </p:sp>
      <p:sp>
        <p:nvSpPr>
          <p:cNvPr id="22" name="TextBox 21"/>
          <p:cNvSpPr txBox="1"/>
          <p:nvPr/>
        </p:nvSpPr>
        <p:spPr>
          <a:xfrm>
            <a:off x="6355080" y="3154680"/>
            <a:ext cx="2359152" cy="548640"/>
          </a:xfrm>
          <a:prstGeom prst="rect">
            <a:avLst/>
          </a:prstGeom>
          <a:noFill/>
        </p:spPr>
        <p:txBody>
          <a:bodyPr wrap="square" anchor="t" lIns="25400" rIns="25400" tIns="12700" bIns="12700">
            <a:spAutoFit/>
          </a:bodyPr>
          <a:lstStyle/>
          <a:p>
            <a:pPr algn="ctr">
              <a:spcBef>
                <a:spcPts val="0"/>
              </a:spcBef>
              <a:spcAft>
                <a:spcPts val="400"/>
              </a:spcAft>
            </a:pPr>
            <a:r>
              <a:rPr sz="1500" b="1">
                <a:solidFill>
                  <a:srgbClr val="162A22"/>
                </a:solidFill>
                <a:latin typeface="Calibri"/>
              </a:rPr>
              <a:t>Sin Credenciales</a:t>
            </a:r>
          </a:p>
        </p:txBody>
      </p:sp>
      <p:sp>
        <p:nvSpPr>
          <p:cNvPr id="23" name="TextBox 22"/>
          <p:cNvSpPr txBox="1"/>
          <p:nvPr/>
        </p:nvSpPr>
        <p:spPr>
          <a:xfrm>
            <a:off x="6355080" y="3749039"/>
            <a:ext cx="2359152" cy="1097280"/>
          </a:xfrm>
          <a:prstGeom prst="rect">
            <a:avLst/>
          </a:prstGeom>
          <a:noFill/>
        </p:spPr>
        <p:txBody>
          <a:bodyPr wrap="square" anchor="t" lIns="25400" rIns="25400" tIns="12700" bIns="12700">
            <a:spAutoFit/>
          </a:bodyPr>
          <a:lstStyle/>
          <a:p>
            <a:pPr algn="ctr">
              <a:spcBef>
                <a:spcPts val="0"/>
              </a:spcBef>
              <a:spcAft>
                <a:spcPts val="400"/>
              </a:spcAft>
            </a:pPr>
            <a:r>
              <a:rPr sz="1200" b="0">
                <a:solidFill>
                  <a:srgbClr val="5A6B63"/>
                </a:solidFill>
                <a:latin typeface="Calibri"/>
              </a:rPr>
              <a:t>GET endpoint protegido sin token → el sistema rechaza la petición.</a:t>
            </a:r>
          </a:p>
        </p:txBody>
      </p:sp>
      <p:sp>
        <p:nvSpPr>
          <p:cNvPr id="24" name="Rounded Rectangle 23"/>
          <p:cNvSpPr/>
          <p:nvPr/>
        </p:nvSpPr>
        <p:spPr>
          <a:xfrm>
            <a:off x="6620256" y="4800600"/>
            <a:ext cx="1828800" cy="411480"/>
          </a:xfrm>
          <a:prstGeom prst="round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200" b="1">
                <a:solidFill>
                  <a:srgbClr val="FFFFFF"/>
                </a:solidFill>
                <a:latin typeface="Calibri"/>
              </a:rPr>
              <a:t>403 Forbidden</a:t>
            </a:r>
          </a:p>
        </p:txBody>
      </p:sp>
      <p:cxnSp>
        <p:nvCxnSpPr>
          <p:cNvPr id="25" name="Connector 24"/>
          <p:cNvCxnSpPr/>
          <p:nvPr/>
        </p:nvCxnSpPr>
        <p:spPr>
          <a:xfrm>
            <a:off x="8897112" y="3566160"/>
            <a:ext cx="109728" cy="0"/>
          </a:xfrm>
          <a:prstGeom prst="line">
            <a:avLst/>
          </a:prstGeom>
          <a:ln w="25400">
            <a:solidFill>
              <a:srgbClr val="5A6B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9006840" y="1965960"/>
            <a:ext cx="2724912" cy="3383280"/>
          </a:xfrm>
          <a:prstGeom prst="rect">
            <a:avLst/>
          </a:prstGeom>
          <a:solidFill>
            <a:srgbClr val="FFFFFF"/>
          </a:solidFill>
          <a:ln w="1524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957816" y="2194560"/>
            <a:ext cx="822960" cy="822960"/>
          </a:xfrm>
          <a:prstGeom prst="ellipse">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3000" b="1">
                <a:solidFill>
                  <a:srgbClr val="FFFFFF"/>
                </a:solidFill>
                <a:latin typeface="Calibri"/>
              </a:rPr>
              <a:t>4</a:t>
            </a:r>
          </a:p>
        </p:txBody>
      </p:sp>
      <p:sp>
        <p:nvSpPr>
          <p:cNvPr id="28" name="TextBox 27"/>
          <p:cNvSpPr txBox="1"/>
          <p:nvPr/>
        </p:nvSpPr>
        <p:spPr>
          <a:xfrm>
            <a:off x="9189720" y="3154680"/>
            <a:ext cx="2359152" cy="548640"/>
          </a:xfrm>
          <a:prstGeom prst="rect">
            <a:avLst/>
          </a:prstGeom>
          <a:noFill/>
        </p:spPr>
        <p:txBody>
          <a:bodyPr wrap="square" anchor="t" lIns="25400" rIns="25400" tIns="12700" bIns="12700">
            <a:spAutoFit/>
          </a:bodyPr>
          <a:lstStyle/>
          <a:p>
            <a:pPr algn="ctr">
              <a:spcBef>
                <a:spcPts val="0"/>
              </a:spcBef>
              <a:spcAft>
                <a:spcPts val="400"/>
              </a:spcAft>
            </a:pPr>
            <a:r>
              <a:rPr sz="1500" b="1">
                <a:solidFill>
                  <a:srgbClr val="162A22"/>
                </a:solidFill>
                <a:latin typeface="Calibri"/>
              </a:rPr>
              <a:t>Operación del Negocio</a:t>
            </a:r>
          </a:p>
        </p:txBody>
      </p:sp>
      <p:sp>
        <p:nvSpPr>
          <p:cNvPr id="29" name="TextBox 28"/>
          <p:cNvSpPr txBox="1"/>
          <p:nvPr/>
        </p:nvSpPr>
        <p:spPr>
          <a:xfrm>
            <a:off x="9189720" y="3749039"/>
            <a:ext cx="2359152" cy="1097280"/>
          </a:xfrm>
          <a:prstGeom prst="rect">
            <a:avLst/>
          </a:prstGeom>
          <a:noFill/>
        </p:spPr>
        <p:txBody>
          <a:bodyPr wrap="square" anchor="t" lIns="25400" rIns="25400" tIns="12700" bIns="12700">
            <a:spAutoFit/>
          </a:bodyPr>
          <a:lstStyle/>
          <a:p>
            <a:pPr algn="ctr">
              <a:spcBef>
                <a:spcPts val="0"/>
              </a:spcBef>
              <a:spcAft>
                <a:spcPts val="400"/>
              </a:spcAft>
            </a:pPr>
            <a:r>
              <a:rPr sz="1200" b="0">
                <a:solidFill>
                  <a:srgbClr val="5A6B63"/>
                </a:solidFill>
                <a:latin typeface="Calibri"/>
              </a:rPr>
              <a:t>POST /api/rentals/start con token válido → arriendo creado con éxito.</a:t>
            </a:r>
          </a:p>
        </p:txBody>
      </p:sp>
      <p:sp>
        <p:nvSpPr>
          <p:cNvPr id="30" name="Rounded Rectangle 29"/>
          <p:cNvSpPr/>
          <p:nvPr/>
        </p:nvSpPr>
        <p:spPr>
          <a:xfrm>
            <a:off x="9454896" y="4800600"/>
            <a:ext cx="1828800" cy="411480"/>
          </a:xfrm>
          <a:prstGeom prst="round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200" b="1">
                <a:solidFill>
                  <a:srgbClr val="FFFFFF"/>
                </a:solidFill>
                <a:latin typeface="Calibri"/>
              </a:rPr>
              <a:t>201 Created</a:t>
            </a:r>
          </a:p>
        </p:txBody>
      </p:sp>
      <p:sp>
        <p:nvSpPr>
          <p:cNvPr id="31" name="TextBox 30"/>
          <p:cNvSpPr txBox="1"/>
          <p:nvPr/>
        </p:nvSpPr>
        <p:spPr>
          <a:xfrm>
            <a:off x="502920" y="5577840"/>
            <a:ext cx="10972800" cy="457200"/>
          </a:xfrm>
          <a:prstGeom prst="rect">
            <a:avLst/>
          </a:prstGeom>
          <a:noFill/>
        </p:spPr>
        <p:txBody>
          <a:bodyPr wrap="square" anchor="t" lIns="25400" rIns="25400" tIns="12700" bIns="12700">
            <a:spAutoFit/>
          </a:bodyPr>
          <a:lstStyle/>
          <a:p>
            <a:pPr algn="l">
              <a:spcBef>
                <a:spcPts val="0"/>
              </a:spcBef>
              <a:spcAft>
                <a:spcPts val="400"/>
              </a:spcAft>
            </a:pPr>
            <a:r>
              <a:rPr sz="1250" b="0">
                <a:solidFill>
                  <a:srgbClr val="5A6B63"/>
                </a:solidFill>
                <a:latin typeface="Calibri"/>
              </a:rPr>
              <a:t>El paso 3 (403 sin token) demuestra que la seguridad JWT protege el endpoint core antes de la operación válida del paso 4.</a:t>
            </a:r>
          </a:p>
        </p:txBody>
      </p:sp>
      <p:sp>
        <p:nvSpPr>
          <p:cNvPr id="32" name="TextBox 31"/>
          <p:cNvSpPr txBox="1"/>
          <p:nvPr/>
        </p:nvSpPr>
        <p:spPr>
          <a:xfrm>
            <a:off x="502920" y="6473952"/>
            <a:ext cx="5486400" cy="274320"/>
          </a:xfrm>
          <a:prstGeom prst="rect">
            <a:avLst/>
          </a:prstGeom>
          <a:noFill/>
        </p:spPr>
        <p:txBody>
          <a:bodyPr wrap="square" anchor="t" lIns="25400" rIns="25400" tIns="12700" bIns="12700">
            <a:spAutoFit/>
          </a:bodyPr>
          <a:lstStyle/>
          <a:p>
            <a:pPr algn="l">
              <a:spcBef>
                <a:spcPts val="0"/>
              </a:spcBef>
              <a:spcAft>
                <a:spcPts val="400"/>
              </a:spcAft>
            </a:pPr>
            <a:r>
              <a:rPr sz="900" b="0">
                <a:solidFill>
                  <a:srgbClr val="5A6B63"/>
                </a:solidFill>
                <a:latin typeface="Calibri"/>
              </a:rPr>
              <a:t>VeloUrbe · Informe Técnico de Arquitectura</a:t>
            </a:r>
          </a:p>
        </p:txBody>
      </p:sp>
      <p:sp>
        <p:nvSpPr>
          <p:cNvPr id="33" name="Rectangle 32"/>
          <p:cNvSpPr/>
          <p:nvPr/>
        </p:nvSpPr>
        <p:spPr>
          <a:xfrm>
            <a:off x="11475720" y="6437376"/>
            <a:ext cx="457200" cy="310896"/>
          </a:xfrm>
          <a:prstGeom prst="rect">
            <a:avLst/>
          </a:prstGeom>
          <a:solidFill>
            <a:srgbClr val="E8F1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000" b="1">
                <a:solidFill>
                  <a:srgbClr val="2E9E5B"/>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162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38100"/>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365760"/>
          </a:xfrm>
          <a:prstGeom prst="rect">
            <a:avLst/>
          </a:prstGeom>
          <a:noFill/>
        </p:spPr>
        <p:txBody>
          <a:bodyPr wrap="square" anchor="t" lIns="25400" rIns="25400" tIns="12700" bIns="12700">
            <a:spAutoFit/>
          </a:bodyPr>
          <a:lstStyle/>
          <a:p>
            <a:pPr algn="l">
              <a:spcBef>
                <a:spcPts val="0"/>
              </a:spcBef>
              <a:spcAft>
                <a:spcPts val="400"/>
              </a:spcAft>
            </a:pPr>
            <a:r>
              <a:rPr sz="1200" b="1">
                <a:solidFill>
                  <a:srgbClr val="7FC83D"/>
                </a:solidFill>
                <a:latin typeface="Calibri"/>
              </a:rPr>
              <a:t>TECNOLOGÍAS</a:t>
            </a:r>
          </a:p>
        </p:txBody>
      </p:sp>
      <p:sp>
        <p:nvSpPr>
          <p:cNvPr id="5" name="TextBox 4"/>
          <p:cNvSpPr txBox="1"/>
          <p:nvPr/>
        </p:nvSpPr>
        <p:spPr>
          <a:xfrm>
            <a:off x="502920" y="457200"/>
            <a:ext cx="10515600" cy="566928"/>
          </a:xfrm>
          <a:prstGeom prst="rect">
            <a:avLst/>
          </a:prstGeom>
          <a:noFill/>
        </p:spPr>
        <p:txBody>
          <a:bodyPr wrap="square" anchor="t" lIns="25400" rIns="25400" tIns="12700" bIns="12700">
            <a:spAutoFit/>
          </a:bodyPr>
          <a:lstStyle/>
          <a:p>
            <a:pPr algn="l">
              <a:spcBef>
                <a:spcPts val="0"/>
              </a:spcBef>
              <a:spcAft>
                <a:spcPts val="400"/>
              </a:spcAft>
            </a:pPr>
            <a:r>
              <a:rPr sz="2700" b="1">
                <a:solidFill>
                  <a:srgbClr val="FFFFFF"/>
                </a:solidFill>
                <a:latin typeface="Calibri"/>
              </a:rPr>
              <a:t>Stack Tecnológico</a:t>
            </a:r>
          </a:p>
        </p:txBody>
      </p:sp>
      <p:sp>
        <p:nvSpPr>
          <p:cNvPr id="6" name="Oval 5"/>
          <p:cNvSpPr/>
          <p:nvPr/>
        </p:nvSpPr>
        <p:spPr>
          <a:xfrm>
            <a:off x="11018520" y="274320"/>
            <a:ext cx="713232" cy="71323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2200" b="1">
                <a:solidFill>
                  <a:srgbClr val="FFFFFF"/>
                </a:solidFill>
                <a:latin typeface="Calibri"/>
              </a:rPr>
              <a:t>ST</a:t>
            </a:r>
          </a:p>
        </p:txBody>
      </p:sp>
      <p:sp>
        <p:nvSpPr>
          <p:cNvPr id="7" name="Rectangle 6"/>
          <p:cNvSpPr/>
          <p:nvPr/>
        </p:nvSpPr>
        <p:spPr>
          <a:xfrm>
            <a:off x="502920" y="1463040"/>
            <a:ext cx="2724912" cy="749808"/>
          </a:xfrm>
          <a:prstGeom prst="rect">
            <a:avLst/>
          </a:prstGeom>
          <a:solidFill>
            <a:srgbClr val="FFFFFF"/>
          </a:solidFill>
          <a:ln w="1397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463040"/>
            <a:ext cx="91440" cy="749808"/>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554480"/>
            <a:ext cx="2359152" cy="320040"/>
          </a:xfrm>
          <a:prstGeom prst="rect">
            <a:avLst/>
          </a:prstGeom>
          <a:noFill/>
        </p:spPr>
        <p:txBody>
          <a:bodyPr wrap="square" anchor="t" lIns="25400" rIns="25400" tIns="12700" bIns="12700">
            <a:spAutoFit/>
          </a:bodyPr>
          <a:lstStyle/>
          <a:p>
            <a:pPr algn="l">
              <a:spcBef>
                <a:spcPts val="0"/>
              </a:spcBef>
              <a:spcAft>
                <a:spcPts val="400"/>
              </a:spcAft>
            </a:pPr>
            <a:r>
              <a:rPr sz="1300" b="1">
                <a:solidFill>
                  <a:srgbClr val="162A22"/>
                </a:solidFill>
                <a:latin typeface="Calibri"/>
              </a:rPr>
              <a:t>Java</a:t>
            </a:r>
          </a:p>
        </p:txBody>
      </p:sp>
      <p:sp>
        <p:nvSpPr>
          <p:cNvPr id="10" name="TextBox 9"/>
          <p:cNvSpPr txBox="1"/>
          <p:nvPr/>
        </p:nvSpPr>
        <p:spPr>
          <a:xfrm>
            <a:off x="731520" y="1874520"/>
            <a:ext cx="2359152" cy="274320"/>
          </a:xfrm>
          <a:prstGeom prst="rect">
            <a:avLst/>
          </a:prstGeom>
          <a:noFill/>
        </p:spPr>
        <p:txBody>
          <a:bodyPr wrap="square" anchor="t" lIns="25400" rIns="25400" tIns="12700" bIns="12700">
            <a:spAutoFit/>
          </a:bodyPr>
          <a:lstStyle/>
          <a:p>
            <a:pPr algn="l">
              <a:spcBef>
                <a:spcPts val="0"/>
              </a:spcBef>
              <a:spcAft>
                <a:spcPts val="400"/>
              </a:spcAft>
            </a:pPr>
            <a:r>
              <a:rPr sz="1100" b="0">
                <a:solidFill>
                  <a:srgbClr val="5A6B63"/>
                </a:solidFill>
                <a:latin typeface="Calibri"/>
              </a:rPr>
              <a:t>21</a:t>
            </a:r>
          </a:p>
        </p:txBody>
      </p:sp>
      <p:sp>
        <p:nvSpPr>
          <p:cNvPr id="11" name="Rectangle 10"/>
          <p:cNvSpPr/>
          <p:nvPr/>
        </p:nvSpPr>
        <p:spPr>
          <a:xfrm>
            <a:off x="3337560" y="1463040"/>
            <a:ext cx="2724912" cy="749808"/>
          </a:xfrm>
          <a:prstGeom prst="rect">
            <a:avLst/>
          </a:prstGeom>
          <a:solidFill>
            <a:srgbClr val="FFFFFF"/>
          </a:solidFill>
          <a:ln w="1397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37560" y="1463040"/>
            <a:ext cx="91440" cy="749808"/>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66160" y="1554480"/>
            <a:ext cx="2359152" cy="320040"/>
          </a:xfrm>
          <a:prstGeom prst="rect">
            <a:avLst/>
          </a:prstGeom>
          <a:noFill/>
        </p:spPr>
        <p:txBody>
          <a:bodyPr wrap="square" anchor="t" lIns="25400" rIns="25400" tIns="12700" bIns="12700">
            <a:spAutoFit/>
          </a:bodyPr>
          <a:lstStyle/>
          <a:p>
            <a:pPr algn="l">
              <a:spcBef>
                <a:spcPts val="0"/>
              </a:spcBef>
              <a:spcAft>
                <a:spcPts val="400"/>
              </a:spcAft>
            </a:pPr>
            <a:r>
              <a:rPr sz="1300" b="1">
                <a:solidFill>
                  <a:srgbClr val="162A22"/>
                </a:solidFill>
                <a:latin typeface="Calibri"/>
              </a:rPr>
              <a:t>Spring Boot</a:t>
            </a:r>
          </a:p>
        </p:txBody>
      </p:sp>
      <p:sp>
        <p:nvSpPr>
          <p:cNvPr id="14" name="TextBox 13"/>
          <p:cNvSpPr txBox="1"/>
          <p:nvPr/>
        </p:nvSpPr>
        <p:spPr>
          <a:xfrm>
            <a:off x="3566160" y="1874520"/>
            <a:ext cx="2359152" cy="274320"/>
          </a:xfrm>
          <a:prstGeom prst="rect">
            <a:avLst/>
          </a:prstGeom>
          <a:noFill/>
        </p:spPr>
        <p:txBody>
          <a:bodyPr wrap="square" anchor="t" lIns="25400" rIns="25400" tIns="12700" bIns="12700">
            <a:spAutoFit/>
          </a:bodyPr>
          <a:lstStyle/>
          <a:p>
            <a:pPr algn="l">
              <a:spcBef>
                <a:spcPts val="0"/>
              </a:spcBef>
              <a:spcAft>
                <a:spcPts val="400"/>
              </a:spcAft>
            </a:pPr>
            <a:r>
              <a:rPr sz="1100" b="0">
                <a:solidFill>
                  <a:srgbClr val="5A6B63"/>
                </a:solidFill>
                <a:latin typeface="Calibri"/>
              </a:rPr>
              <a:t>3.5.0</a:t>
            </a:r>
          </a:p>
        </p:txBody>
      </p:sp>
      <p:sp>
        <p:nvSpPr>
          <p:cNvPr id="15" name="Rectangle 14"/>
          <p:cNvSpPr/>
          <p:nvPr/>
        </p:nvSpPr>
        <p:spPr>
          <a:xfrm>
            <a:off x="6172200" y="1463040"/>
            <a:ext cx="2724912" cy="749808"/>
          </a:xfrm>
          <a:prstGeom prst="rect">
            <a:avLst/>
          </a:prstGeom>
          <a:solidFill>
            <a:srgbClr val="FFFFFF"/>
          </a:solidFill>
          <a:ln w="1397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1463040"/>
            <a:ext cx="91440" cy="749808"/>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554480"/>
            <a:ext cx="2359152" cy="320040"/>
          </a:xfrm>
          <a:prstGeom prst="rect">
            <a:avLst/>
          </a:prstGeom>
          <a:noFill/>
        </p:spPr>
        <p:txBody>
          <a:bodyPr wrap="square" anchor="t" lIns="25400" rIns="25400" tIns="12700" bIns="12700">
            <a:spAutoFit/>
          </a:bodyPr>
          <a:lstStyle/>
          <a:p>
            <a:pPr algn="l">
              <a:spcBef>
                <a:spcPts val="0"/>
              </a:spcBef>
              <a:spcAft>
                <a:spcPts val="400"/>
              </a:spcAft>
            </a:pPr>
            <a:r>
              <a:rPr sz="1300" b="1">
                <a:solidFill>
                  <a:srgbClr val="162A22"/>
                </a:solidFill>
                <a:latin typeface="Calibri"/>
              </a:rPr>
              <a:t>Spring Cloud Gateway</a:t>
            </a:r>
          </a:p>
        </p:txBody>
      </p:sp>
      <p:sp>
        <p:nvSpPr>
          <p:cNvPr id="18" name="TextBox 17"/>
          <p:cNvSpPr txBox="1"/>
          <p:nvPr/>
        </p:nvSpPr>
        <p:spPr>
          <a:xfrm>
            <a:off x="6400800" y="1874520"/>
            <a:ext cx="2359152" cy="274320"/>
          </a:xfrm>
          <a:prstGeom prst="rect">
            <a:avLst/>
          </a:prstGeom>
          <a:noFill/>
        </p:spPr>
        <p:txBody>
          <a:bodyPr wrap="square" anchor="t" lIns="25400" rIns="25400" tIns="12700" bIns="12700">
            <a:spAutoFit/>
          </a:bodyPr>
          <a:lstStyle/>
          <a:p>
            <a:pPr algn="l">
              <a:spcBef>
                <a:spcPts val="0"/>
              </a:spcBef>
              <a:spcAft>
                <a:spcPts val="400"/>
              </a:spcAft>
            </a:pPr>
            <a:r>
              <a:rPr sz="1100" b="0">
                <a:solidFill>
                  <a:srgbClr val="5A6B63"/>
                </a:solidFill>
                <a:latin typeface="Calibri"/>
              </a:rPr>
              <a:t>2025.0.0</a:t>
            </a:r>
          </a:p>
        </p:txBody>
      </p:sp>
      <p:sp>
        <p:nvSpPr>
          <p:cNvPr id="19" name="Rectangle 18"/>
          <p:cNvSpPr/>
          <p:nvPr/>
        </p:nvSpPr>
        <p:spPr>
          <a:xfrm>
            <a:off x="9006840" y="1463040"/>
            <a:ext cx="2724912" cy="749808"/>
          </a:xfrm>
          <a:prstGeom prst="rect">
            <a:avLst/>
          </a:prstGeom>
          <a:solidFill>
            <a:srgbClr val="FFFFFF"/>
          </a:solidFill>
          <a:ln w="1397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06840" y="1463040"/>
            <a:ext cx="91440" cy="749808"/>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35440" y="1554480"/>
            <a:ext cx="2359152" cy="320040"/>
          </a:xfrm>
          <a:prstGeom prst="rect">
            <a:avLst/>
          </a:prstGeom>
          <a:noFill/>
        </p:spPr>
        <p:txBody>
          <a:bodyPr wrap="square" anchor="t" lIns="25400" rIns="25400" tIns="12700" bIns="12700">
            <a:spAutoFit/>
          </a:bodyPr>
          <a:lstStyle/>
          <a:p>
            <a:pPr algn="l">
              <a:spcBef>
                <a:spcPts val="0"/>
              </a:spcBef>
              <a:spcAft>
                <a:spcPts val="400"/>
              </a:spcAft>
            </a:pPr>
            <a:r>
              <a:rPr sz="1300" b="1">
                <a:solidFill>
                  <a:srgbClr val="162A22"/>
                </a:solidFill>
                <a:latin typeface="Calibri"/>
              </a:rPr>
              <a:t>Spring Security</a:t>
            </a:r>
          </a:p>
        </p:txBody>
      </p:sp>
      <p:sp>
        <p:nvSpPr>
          <p:cNvPr id="22" name="TextBox 21"/>
          <p:cNvSpPr txBox="1"/>
          <p:nvPr/>
        </p:nvSpPr>
        <p:spPr>
          <a:xfrm>
            <a:off x="9235440" y="1874520"/>
            <a:ext cx="2359152" cy="274320"/>
          </a:xfrm>
          <a:prstGeom prst="rect">
            <a:avLst/>
          </a:prstGeom>
          <a:noFill/>
        </p:spPr>
        <p:txBody>
          <a:bodyPr wrap="square" anchor="t" lIns="25400" rIns="25400" tIns="12700" bIns="12700">
            <a:spAutoFit/>
          </a:bodyPr>
          <a:lstStyle/>
          <a:p>
            <a:pPr algn="l">
              <a:spcBef>
                <a:spcPts val="0"/>
              </a:spcBef>
              <a:spcAft>
                <a:spcPts val="400"/>
              </a:spcAft>
            </a:pPr>
            <a:r>
              <a:rPr sz="1100" b="0">
                <a:solidFill>
                  <a:srgbClr val="5A6B63"/>
                </a:solidFill>
                <a:latin typeface="Calibri"/>
              </a:rPr>
              <a:t>JWT</a:t>
            </a:r>
          </a:p>
        </p:txBody>
      </p:sp>
      <p:sp>
        <p:nvSpPr>
          <p:cNvPr id="23" name="Rectangle 22"/>
          <p:cNvSpPr/>
          <p:nvPr/>
        </p:nvSpPr>
        <p:spPr>
          <a:xfrm>
            <a:off x="502920" y="2340864"/>
            <a:ext cx="2724912" cy="749808"/>
          </a:xfrm>
          <a:prstGeom prst="rect">
            <a:avLst/>
          </a:prstGeom>
          <a:solidFill>
            <a:srgbClr val="FFFFFF"/>
          </a:solidFill>
          <a:ln w="1397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2920" y="2340864"/>
            <a:ext cx="91440" cy="749808"/>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2432304"/>
            <a:ext cx="2359152" cy="320040"/>
          </a:xfrm>
          <a:prstGeom prst="rect">
            <a:avLst/>
          </a:prstGeom>
          <a:noFill/>
        </p:spPr>
        <p:txBody>
          <a:bodyPr wrap="square" anchor="t" lIns="25400" rIns="25400" tIns="12700" bIns="12700">
            <a:spAutoFit/>
          </a:bodyPr>
          <a:lstStyle/>
          <a:p>
            <a:pPr algn="l">
              <a:spcBef>
                <a:spcPts val="0"/>
              </a:spcBef>
              <a:spcAft>
                <a:spcPts val="400"/>
              </a:spcAft>
            </a:pPr>
            <a:r>
              <a:rPr sz="1300" b="1">
                <a:solidFill>
                  <a:srgbClr val="162A22"/>
                </a:solidFill>
                <a:latin typeface="Calibri"/>
              </a:rPr>
              <a:t>Spring Data JPA</a:t>
            </a:r>
          </a:p>
        </p:txBody>
      </p:sp>
      <p:sp>
        <p:nvSpPr>
          <p:cNvPr id="26" name="TextBox 25"/>
          <p:cNvSpPr txBox="1"/>
          <p:nvPr/>
        </p:nvSpPr>
        <p:spPr>
          <a:xfrm>
            <a:off x="731520" y="2752344"/>
            <a:ext cx="2359152" cy="274320"/>
          </a:xfrm>
          <a:prstGeom prst="rect">
            <a:avLst/>
          </a:prstGeom>
          <a:noFill/>
        </p:spPr>
        <p:txBody>
          <a:bodyPr wrap="square" anchor="t" lIns="25400" rIns="25400" tIns="12700" bIns="12700">
            <a:spAutoFit/>
          </a:bodyPr>
          <a:lstStyle/>
          <a:p>
            <a:pPr algn="l">
              <a:spcBef>
                <a:spcPts val="0"/>
              </a:spcBef>
              <a:spcAft>
                <a:spcPts val="400"/>
              </a:spcAft>
            </a:pPr>
            <a:r>
              <a:rPr sz="1100" b="0">
                <a:solidFill>
                  <a:srgbClr val="5A6B63"/>
                </a:solidFill>
                <a:latin typeface="Calibri"/>
              </a:rPr>
              <a:t>Hibernate</a:t>
            </a:r>
          </a:p>
        </p:txBody>
      </p:sp>
      <p:sp>
        <p:nvSpPr>
          <p:cNvPr id="27" name="Rectangle 26"/>
          <p:cNvSpPr/>
          <p:nvPr/>
        </p:nvSpPr>
        <p:spPr>
          <a:xfrm>
            <a:off x="3337560" y="2340864"/>
            <a:ext cx="2724912" cy="749808"/>
          </a:xfrm>
          <a:prstGeom prst="rect">
            <a:avLst/>
          </a:prstGeom>
          <a:solidFill>
            <a:srgbClr val="FFFFFF"/>
          </a:solidFill>
          <a:ln w="1397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337560" y="2340864"/>
            <a:ext cx="91440" cy="749808"/>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66160" y="2432304"/>
            <a:ext cx="2359152" cy="320040"/>
          </a:xfrm>
          <a:prstGeom prst="rect">
            <a:avLst/>
          </a:prstGeom>
          <a:noFill/>
        </p:spPr>
        <p:txBody>
          <a:bodyPr wrap="square" anchor="t" lIns="25400" rIns="25400" tIns="12700" bIns="12700">
            <a:spAutoFit/>
          </a:bodyPr>
          <a:lstStyle/>
          <a:p>
            <a:pPr algn="l">
              <a:spcBef>
                <a:spcPts val="0"/>
              </a:spcBef>
              <a:spcAft>
                <a:spcPts val="400"/>
              </a:spcAft>
            </a:pPr>
            <a:r>
              <a:rPr sz="1300" b="1">
                <a:solidFill>
                  <a:srgbClr val="162A22"/>
                </a:solidFill>
                <a:latin typeface="Calibri"/>
              </a:rPr>
              <a:t>Spring HATEOAS</a:t>
            </a:r>
          </a:p>
        </p:txBody>
      </p:sp>
      <p:sp>
        <p:nvSpPr>
          <p:cNvPr id="30" name="TextBox 29"/>
          <p:cNvSpPr txBox="1"/>
          <p:nvPr/>
        </p:nvSpPr>
        <p:spPr>
          <a:xfrm>
            <a:off x="3566160" y="2752344"/>
            <a:ext cx="2359152" cy="274320"/>
          </a:xfrm>
          <a:prstGeom prst="rect">
            <a:avLst/>
          </a:prstGeom>
          <a:noFill/>
        </p:spPr>
        <p:txBody>
          <a:bodyPr wrap="square" anchor="t" lIns="25400" rIns="25400" tIns="12700" bIns="12700">
            <a:spAutoFit/>
          </a:bodyPr>
          <a:lstStyle/>
          <a:p>
            <a:pPr algn="l">
              <a:spcBef>
                <a:spcPts val="0"/>
              </a:spcBef>
              <a:spcAft>
                <a:spcPts val="400"/>
              </a:spcAft>
            </a:pPr>
            <a:r>
              <a:rPr sz="1100" b="0">
                <a:solidFill>
                  <a:srgbClr val="5A6B63"/>
                </a:solidFill>
                <a:latin typeface="Calibri"/>
              </a:rPr>
              <a:t>links</a:t>
            </a:r>
          </a:p>
        </p:txBody>
      </p:sp>
      <p:sp>
        <p:nvSpPr>
          <p:cNvPr id="31" name="Rectangle 30"/>
          <p:cNvSpPr/>
          <p:nvPr/>
        </p:nvSpPr>
        <p:spPr>
          <a:xfrm>
            <a:off x="6172200" y="2340864"/>
            <a:ext cx="2724912" cy="749808"/>
          </a:xfrm>
          <a:prstGeom prst="rect">
            <a:avLst/>
          </a:prstGeom>
          <a:solidFill>
            <a:srgbClr val="FFFFFF"/>
          </a:solidFill>
          <a:ln w="1397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72200" y="2340864"/>
            <a:ext cx="91440" cy="749808"/>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2432304"/>
            <a:ext cx="2359152" cy="320040"/>
          </a:xfrm>
          <a:prstGeom prst="rect">
            <a:avLst/>
          </a:prstGeom>
          <a:noFill/>
        </p:spPr>
        <p:txBody>
          <a:bodyPr wrap="square" anchor="t" lIns="25400" rIns="25400" tIns="12700" bIns="12700">
            <a:spAutoFit/>
          </a:bodyPr>
          <a:lstStyle/>
          <a:p>
            <a:pPr algn="l">
              <a:spcBef>
                <a:spcPts val="0"/>
              </a:spcBef>
              <a:spcAft>
                <a:spcPts val="400"/>
              </a:spcAft>
            </a:pPr>
            <a:r>
              <a:rPr sz="1300" b="1">
                <a:solidFill>
                  <a:srgbClr val="162A22"/>
                </a:solidFill>
                <a:latin typeface="Calibri"/>
              </a:rPr>
              <a:t>Spring WebFlux</a:t>
            </a:r>
          </a:p>
        </p:txBody>
      </p:sp>
      <p:sp>
        <p:nvSpPr>
          <p:cNvPr id="34" name="TextBox 33"/>
          <p:cNvSpPr txBox="1"/>
          <p:nvPr/>
        </p:nvSpPr>
        <p:spPr>
          <a:xfrm>
            <a:off x="6400800" y="2752344"/>
            <a:ext cx="2359152" cy="274320"/>
          </a:xfrm>
          <a:prstGeom prst="rect">
            <a:avLst/>
          </a:prstGeom>
          <a:noFill/>
        </p:spPr>
        <p:txBody>
          <a:bodyPr wrap="square" anchor="t" lIns="25400" rIns="25400" tIns="12700" bIns="12700">
            <a:spAutoFit/>
          </a:bodyPr>
          <a:lstStyle/>
          <a:p>
            <a:pPr algn="l">
              <a:spcBef>
                <a:spcPts val="0"/>
              </a:spcBef>
              <a:spcAft>
                <a:spcPts val="400"/>
              </a:spcAft>
            </a:pPr>
            <a:r>
              <a:rPr sz="1100" b="0">
                <a:solidFill>
                  <a:srgbClr val="5A6B63"/>
                </a:solidFill>
                <a:latin typeface="Calibri"/>
              </a:rPr>
              <a:t>WebClient</a:t>
            </a:r>
          </a:p>
        </p:txBody>
      </p:sp>
      <p:sp>
        <p:nvSpPr>
          <p:cNvPr id="35" name="Rectangle 34"/>
          <p:cNvSpPr/>
          <p:nvPr/>
        </p:nvSpPr>
        <p:spPr>
          <a:xfrm>
            <a:off x="9006840" y="2340864"/>
            <a:ext cx="2724912" cy="749808"/>
          </a:xfrm>
          <a:prstGeom prst="rect">
            <a:avLst/>
          </a:prstGeom>
          <a:solidFill>
            <a:srgbClr val="FFFFFF"/>
          </a:solidFill>
          <a:ln w="1397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006840" y="2340864"/>
            <a:ext cx="91440" cy="749808"/>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235440" y="2432304"/>
            <a:ext cx="2359152" cy="320040"/>
          </a:xfrm>
          <a:prstGeom prst="rect">
            <a:avLst/>
          </a:prstGeom>
          <a:noFill/>
        </p:spPr>
        <p:txBody>
          <a:bodyPr wrap="square" anchor="t" lIns="25400" rIns="25400" tIns="12700" bIns="12700">
            <a:spAutoFit/>
          </a:bodyPr>
          <a:lstStyle/>
          <a:p>
            <a:pPr algn="l">
              <a:spcBef>
                <a:spcPts val="0"/>
              </a:spcBef>
              <a:spcAft>
                <a:spcPts val="400"/>
              </a:spcAft>
            </a:pPr>
            <a:r>
              <a:rPr sz="1300" b="1">
                <a:solidFill>
                  <a:srgbClr val="162A22"/>
                </a:solidFill>
                <a:latin typeface="Calibri"/>
              </a:rPr>
              <a:t>Flyway</a:t>
            </a:r>
          </a:p>
        </p:txBody>
      </p:sp>
      <p:sp>
        <p:nvSpPr>
          <p:cNvPr id="38" name="TextBox 37"/>
          <p:cNvSpPr txBox="1"/>
          <p:nvPr/>
        </p:nvSpPr>
        <p:spPr>
          <a:xfrm>
            <a:off x="9235440" y="2752344"/>
            <a:ext cx="2359152" cy="274320"/>
          </a:xfrm>
          <a:prstGeom prst="rect">
            <a:avLst/>
          </a:prstGeom>
          <a:noFill/>
        </p:spPr>
        <p:txBody>
          <a:bodyPr wrap="square" anchor="t" lIns="25400" rIns="25400" tIns="12700" bIns="12700">
            <a:spAutoFit/>
          </a:bodyPr>
          <a:lstStyle/>
          <a:p>
            <a:pPr algn="l">
              <a:spcBef>
                <a:spcPts val="0"/>
              </a:spcBef>
              <a:spcAft>
                <a:spcPts val="400"/>
              </a:spcAft>
            </a:pPr>
            <a:r>
              <a:rPr sz="1100" b="0">
                <a:solidFill>
                  <a:srgbClr val="5A6B63"/>
                </a:solidFill>
                <a:latin typeface="Calibri"/>
              </a:rPr>
              <a:t>migraciones</a:t>
            </a:r>
          </a:p>
        </p:txBody>
      </p:sp>
      <p:sp>
        <p:nvSpPr>
          <p:cNvPr id="39" name="Rectangle 38"/>
          <p:cNvSpPr/>
          <p:nvPr/>
        </p:nvSpPr>
        <p:spPr>
          <a:xfrm>
            <a:off x="502920" y="3218688"/>
            <a:ext cx="2724912" cy="749808"/>
          </a:xfrm>
          <a:prstGeom prst="rect">
            <a:avLst/>
          </a:prstGeom>
          <a:solidFill>
            <a:srgbClr val="FFFFFF"/>
          </a:solidFill>
          <a:ln w="1397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02920" y="3218688"/>
            <a:ext cx="91440" cy="749808"/>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3310128"/>
            <a:ext cx="2359152" cy="320040"/>
          </a:xfrm>
          <a:prstGeom prst="rect">
            <a:avLst/>
          </a:prstGeom>
          <a:noFill/>
        </p:spPr>
        <p:txBody>
          <a:bodyPr wrap="square" anchor="t" lIns="25400" rIns="25400" tIns="12700" bIns="12700">
            <a:spAutoFit/>
          </a:bodyPr>
          <a:lstStyle/>
          <a:p>
            <a:pPr algn="l">
              <a:spcBef>
                <a:spcPts val="0"/>
              </a:spcBef>
              <a:spcAft>
                <a:spcPts val="400"/>
              </a:spcAft>
            </a:pPr>
            <a:r>
              <a:rPr sz="1300" b="1">
                <a:solidFill>
                  <a:srgbClr val="162A22"/>
                </a:solidFill>
                <a:latin typeface="Calibri"/>
              </a:rPr>
              <a:t>DataFaker</a:t>
            </a:r>
          </a:p>
        </p:txBody>
      </p:sp>
      <p:sp>
        <p:nvSpPr>
          <p:cNvPr id="42" name="TextBox 41"/>
          <p:cNvSpPr txBox="1"/>
          <p:nvPr/>
        </p:nvSpPr>
        <p:spPr>
          <a:xfrm>
            <a:off x="731520" y="3630168"/>
            <a:ext cx="2359152" cy="274320"/>
          </a:xfrm>
          <a:prstGeom prst="rect">
            <a:avLst/>
          </a:prstGeom>
          <a:noFill/>
        </p:spPr>
        <p:txBody>
          <a:bodyPr wrap="square" anchor="t" lIns="25400" rIns="25400" tIns="12700" bIns="12700">
            <a:spAutoFit/>
          </a:bodyPr>
          <a:lstStyle/>
          <a:p>
            <a:pPr algn="l">
              <a:spcBef>
                <a:spcPts val="0"/>
              </a:spcBef>
              <a:spcAft>
                <a:spcPts val="400"/>
              </a:spcAft>
            </a:pPr>
            <a:r>
              <a:rPr sz="1100" b="0">
                <a:solidFill>
                  <a:srgbClr val="5A6B63"/>
                </a:solidFill>
                <a:latin typeface="Calibri"/>
              </a:rPr>
              <a:t>2.4.2</a:t>
            </a:r>
          </a:p>
        </p:txBody>
      </p:sp>
      <p:sp>
        <p:nvSpPr>
          <p:cNvPr id="43" name="Rectangle 42"/>
          <p:cNvSpPr/>
          <p:nvPr/>
        </p:nvSpPr>
        <p:spPr>
          <a:xfrm>
            <a:off x="3337560" y="3218688"/>
            <a:ext cx="2724912" cy="749808"/>
          </a:xfrm>
          <a:prstGeom prst="rect">
            <a:avLst/>
          </a:prstGeom>
          <a:solidFill>
            <a:srgbClr val="FFFFFF"/>
          </a:solidFill>
          <a:ln w="1397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337560" y="3218688"/>
            <a:ext cx="91440" cy="749808"/>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566160" y="3310128"/>
            <a:ext cx="2359152" cy="320040"/>
          </a:xfrm>
          <a:prstGeom prst="rect">
            <a:avLst/>
          </a:prstGeom>
          <a:noFill/>
        </p:spPr>
        <p:txBody>
          <a:bodyPr wrap="square" anchor="t" lIns="25400" rIns="25400" tIns="12700" bIns="12700">
            <a:spAutoFit/>
          </a:bodyPr>
          <a:lstStyle/>
          <a:p>
            <a:pPr algn="l">
              <a:spcBef>
                <a:spcPts val="0"/>
              </a:spcBef>
              <a:spcAft>
                <a:spcPts val="400"/>
              </a:spcAft>
            </a:pPr>
            <a:r>
              <a:rPr sz="1300" b="1">
                <a:solidFill>
                  <a:srgbClr val="162A22"/>
                </a:solidFill>
                <a:latin typeface="Calibri"/>
              </a:rPr>
              <a:t>PostgreSQL</a:t>
            </a:r>
          </a:p>
        </p:txBody>
      </p:sp>
      <p:sp>
        <p:nvSpPr>
          <p:cNvPr id="46" name="TextBox 45"/>
          <p:cNvSpPr txBox="1"/>
          <p:nvPr/>
        </p:nvSpPr>
        <p:spPr>
          <a:xfrm>
            <a:off x="3566160" y="3630168"/>
            <a:ext cx="2359152" cy="274320"/>
          </a:xfrm>
          <a:prstGeom prst="rect">
            <a:avLst/>
          </a:prstGeom>
          <a:noFill/>
        </p:spPr>
        <p:txBody>
          <a:bodyPr wrap="square" anchor="t" lIns="25400" rIns="25400" tIns="12700" bIns="12700">
            <a:spAutoFit/>
          </a:bodyPr>
          <a:lstStyle/>
          <a:p>
            <a:pPr algn="l">
              <a:spcBef>
                <a:spcPts val="0"/>
              </a:spcBef>
              <a:spcAft>
                <a:spcPts val="400"/>
              </a:spcAft>
            </a:pPr>
            <a:r>
              <a:rPr sz="1100" b="0">
                <a:solidFill>
                  <a:srgbClr val="5A6B63"/>
                </a:solidFill>
                <a:latin typeface="Calibri"/>
              </a:rPr>
              <a:t>16</a:t>
            </a:r>
          </a:p>
        </p:txBody>
      </p:sp>
      <p:sp>
        <p:nvSpPr>
          <p:cNvPr id="47" name="Rectangle 46"/>
          <p:cNvSpPr/>
          <p:nvPr/>
        </p:nvSpPr>
        <p:spPr>
          <a:xfrm>
            <a:off x="6172200" y="3218688"/>
            <a:ext cx="2724912" cy="749808"/>
          </a:xfrm>
          <a:prstGeom prst="rect">
            <a:avLst/>
          </a:prstGeom>
          <a:solidFill>
            <a:srgbClr val="FFFFFF"/>
          </a:solidFill>
          <a:ln w="1397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172200" y="3218688"/>
            <a:ext cx="91440" cy="749808"/>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00800" y="3310128"/>
            <a:ext cx="2359152" cy="320040"/>
          </a:xfrm>
          <a:prstGeom prst="rect">
            <a:avLst/>
          </a:prstGeom>
          <a:noFill/>
        </p:spPr>
        <p:txBody>
          <a:bodyPr wrap="square" anchor="t" lIns="25400" rIns="25400" tIns="12700" bIns="12700">
            <a:spAutoFit/>
          </a:bodyPr>
          <a:lstStyle/>
          <a:p>
            <a:pPr algn="l">
              <a:spcBef>
                <a:spcPts val="0"/>
              </a:spcBef>
              <a:spcAft>
                <a:spcPts val="400"/>
              </a:spcAft>
            </a:pPr>
            <a:r>
              <a:rPr sz="1300" b="1">
                <a:solidFill>
                  <a:srgbClr val="162A22"/>
                </a:solidFill>
                <a:latin typeface="Calibri"/>
              </a:rPr>
              <a:t>H2</a:t>
            </a:r>
          </a:p>
        </p:txBody>
      </p:sp>
      <p:sp>
        <p:nvSpPr>
          <p:cNvPr id="50" name="TextBox 49"/>
          <p:cNvSpPr txBox="1"/>
          <p:nvPr/>
        </p:nvSpPr>
        <p:spPr>
          <a:xfrm>
            <a:off x="6400800" y="3630168"/>
            <a:ext cx="2359152" cy="274320"/>
          </a:xfrm>
          <a:prstGeom prst="rect">
            <a:avLst/>
          </a:prstGeom>
          <a:noFill/>
        </p:spPr>
        <p:txBody>
          <a:bodyPr wrap="square" anchor="t" lIns="25400" rIns="25400" tIns="12700" bIns="12700">
            <a:spAutoFit/>
          </a:bodyPr>
          <a:lstStyle/>
          <a:p>
            <a:pPr algn="l">
              <a:spcBef>
                <a:spcPts val="0"/>
              </a:spcBef>
              <a:spcAft>
                <a:spcPts val="400"/>
              </a:spcAft>
            </a:pPr>
            <a:r>
              <a:rPr sz="1100" b="0">
                <a:solidFill>
                  <a:srgbClr val="5A6B63"/>
                </a:solidFill>
                <a:latin typeface="Calibri"/>
              </a:rPr>
              <a:t>tests</a:t>
            </a:r>
          </a:p>
        </p:txBody>
      </p:sp>
      <p:sp>
        <p:nvSpPr>
          <p:cNvPr id="51" name="Rectangle 50"/>
          <p:cNvSpPr/>
          <p:nvPr/>
        </p:nvSpPr>
        <p:spPr>
          <a:xfrm>
            <a:off x="9006840" y="3218688"/>
            <a:ext cx="2724912" cy="749808"/>
          </a:xfrm>
          <a:prstGeom prst="rect">
            <a:avLst/>
          </a:prstGeom>
          <a:solidFill>
            <a:srgbClr val="FFFFFF"/>
          </a:solidFill>
          <a:ln w="1397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006840" y="3218688"/>
            <a:ext cx="91440" cy="749808"/>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235440" y="3310128"/>
            <a:ext cx="2359152" cy="320040"/>
          </a:xfrm>
          <a:prstGeom prst="rect">
            <a:avLst/>
          </a:prstGeom>
          <a:noFill/>
        </p:spPr>
        <p:txBody>
          <a:bodyPr wrap="square" anchor="t" lIns="25400" rIns="25400" tIns="12700" bIns="12700">
            <a:spAutoFit/>
          </a:bodyPr>
          <a:lstStyle/>
          <a:p>
            <a:pPr algn="l">
              <a:spcBef>
                <a:spcPts val="0"/>
              </a:spcBef>
              <a:spcAft>
                <a:spcPts val="400"/>
              </a:spcAft>
            </a:pPr>
            <a:r>
              <a:rPr sz="1300" b="1">
                <a:solidFill>
                  <a:srgbClr val="162A22"/>
                </a:solidFill>
                <a:latin typeface="Calibri"/>
              </a:rPr>
              <a:t>JJWT</a:t>
            </a:r>
          </a:p>
        </p:txBody>
      </p:sp>
      <p:sp>
        <p:nvSpPr>
          <p:cNvPr id="54" name="TextBox 53"/>
          <p:cNvSpPr txBox="1"/>
          <p:nvPr/>
        </p:nvSpPr>
        <p:spPr>
          <a:xfrm>
            <a:off x="9235440" y="3630168"/>
            <a:ext cx="2359152" cy="274320"/>
          </a:xfrm>
          <a:prstGeom prst="rect">
            <a:avLst/>
          </a:prstGeom>
          <a:noFill/>
        </p:spPr>
        <p:txBody>
          <a:bodyPr wrap="square" anchor="t" lIns="25400" rIns="25400" tIns="12700" bIns="12700">
            <a:spAutoFit/>
          </a:bodyPr>
          <a:lstStyle/>
          <a:p>
            <a:pPr algn="l">
              <a:spcBef>
                <a:spcPts val="0"/>
              </a:spcBef>
              <a:spcAft>
                <a:spcPts val="400"/>
              </a:spcAft>
            </a:pPr>
            <a:r>
              <a:rPr sz="1100" b="0">
                <a:solidFill>
                  <a:srgbClr val="5A6B63"/>
                </a:solidFill>
                <a:latin typeface="Calibri"/>
              </a:rPr>
              <a:t>0.12.6</a:t>
            </a:r>
          </a:p>
        </p:txBody>
      </p:sp>
      <p:sp>
        <p:nvSpPr>
          <p:cNvPr id="55" name="Rectangle 54"/>
          <p:cNvSpPr/>
          <p:nvPr/>
        </p:nvSpPr>
        <p:spPr>
          <a:xfrm>
            <a:off x="502920" y="4096512"/>
            <a:ext cx="2724912" cy="749808"/>
          </a:xfrm>
          <a:prstGeom prst="rect">
            <a:avLst/>
          </a:prstGeom>
          <a:solidFill>
            <a:srgbClr val="FFFFFF"/>
          </a:solidFill>
          <a:ln w="1397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02920" y="4096512"/>
            <a:ext cx="91440" cy="749808"/>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31520" y="4187952"/>
            <a:ext cx="2359152" cy="320040"/>
          </a:xfrm>
          <a:prstGeom prst="rect">
            <a:avLst/>
          </a:prstGeom>
          <a:noFill/>
        </p:spPr>
        <p:txBody>
          <a:bodyPr wrap="square" anchor="t" lIns="25400" rIns="25400" tIns="12700" bIns="12700">
            <a:spAutoFit/>
          </a:bodyPr>
          <a:lstStyle/>
          <a:p>
            <a:pPr algn="l">
              <a:spcBef>
                <a:spcPts val="0"/>
              </a:spcBef>
              <a:spcAft>
                <a:spcPts val="400"/>
              </a:spcAft>
            </a:pPr>
            <a:r>
              <a:rPr sz="1300" b="1">
                <a:solidFill>
                  <a:srgbClr val="162A22"/>
                </a:solidFill>
                <a:latin typeface="Calibri"/>
              </a:rPr>
              <a:t>Lombok</a:t>
            </a:r>
          </a:p>
        </p:txBody>
      </p:sp>
      <p:sp>
        <p:nvSpPr>
          <p:cNvPr id="58" name="TextBox 57"/>
          <p:cNvSpPr txBox="1"/>
          <p:nvPr/>
        </p:nvSpPr>
        <p:spPr>
          <a:xfrm>
            <a:off x="731520" y="4507992"/>
            <a:ext cx="2359152" cy="274320"/>
          </a:xfrm>
          <a:prstGeom prst="rect">
            <a:avLst/>
          </a:prstGeom>
          <a:noFill/>
        </p:spPr>
        <p:txBody>
          <a:bodyPr wrap="square" anchor="t" lIns="25400" rIns="25400" tIns="12700" bIns="12700">
            <a:spAutoFit/>
          </a:bodyPr>
          <a:lstStyle/>
          <a:p>
            <a:pPr algn="l">
              <a:spcBef>
                <a:spcPts val="0"/>
              </a:spcBef>
              <a:spcAft>
                <a:spcPts val="400"/>
              </a:spcAft>
            </a:pPr>
            <a:r>
              <a:rPr sz="1100" b="0">
                <a:solidFill>
                  <a:srgbClr val="5A6B63"/>
                </a:solidFill>
                <a:latin typeface="Calibri"/>
              </a:rPr>
              <a:t>1.18.34</a:t>
            </a:r>
          </a:p>
        </p:txBody>
      </p:sp>
      <p:sp>
        <p:nvSpPr>
          <p:cNvPr id="59" name="Rectangle 58"/>
          <p:cNvSpPr/>
          <p:nvPr/>
        </p:nvSpPr>
        <p:spPr>
          <a:xfrm>
            <a:off x="3337560" y="4096512"/>
            <a:ext cx="2724912" cy="749808"/>
          </a:xfrm>
          <a:prstGeom prst="rect">
            <a:avLst/>
          </a:prstGeom>
          <a:solidFill>
            <a:srgbClr val="FFFFFF"/>
          </a:solidFill>
          <a:ln w="1397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3337560" y="4096512"/>
            <a:ext cx="91440" cy="749808"/>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566160" y="4187952"/>
            <a:ext cx="2359152" cy="320040"/>
          </a:xfrm>
          <a:prstGeom prst="rect">
            <a:avLst/>
          </a:prstGeom>
          <a:noFill/>
        </p:spPr>
        <p:txBody>
          <a:bodyPr wrap="square" anchor="t" lIns="25400" rIns="25400" tIns="12700" bIns="12700">
            <a:spAutoFit/>
          </a:bodyPr>
          <a:lstStyle/>
          <a:p>
            <a:pPr algn="l">
              <a:spcBef>
                <a:spcPts val="0"/>
              </a:spcBef>
              <a:spcAft>
                <a:spcPts val="400"/>
              </a:spcAft>
            </a:pPr>
            <a:r>
              <a:rPr sz="1300" b="1">
                <a:solidFill>
                  <a:srgbClr val="162A22"/>
                </a:solidFill>
                <a:latin typeface="Calibri"/>
              </a:rPr>
              <a:t>SpringDoc OpenAPI</a:t>
            </a:r>
          </a:p>
        </p:txBody>
      </p:sp>
      <p:sp>
        <p:nvSpPr>
          <p:cNvPr id="62" name="TextBox 61"/>
          <p:cNvSpPr txBox="1"/>
          <p:nvPr/>
        </p:nvSpPr>
        <p:spPr>
          <a:xfrm>
            <a:off x="3566160" y="4507992"/>
            <a:ext cx="2359152" cy="274320"/>
          </a:xfrm>
          <a:prstGeom prst="rect">
            <a:avLst/>
          </a:prstGeom>
          <a:noFill/>
        </p:spPr>
        <p:txBody>
          <a:bodyPr wrap="square" anchor="t" lIns="25400" rIns="25400" tIns="12700" bIns="12700">
            <a:spAutoFit/>
          </a:bodyPr>
          <a:lstStyle/>
          <a:p>
            <a:pPr algn="l">
              <a:spcBef>
                <a:spcPts val="0"/>
              </a:spcBef>
              <a:spcAft>
                <a:spcPts val="400"/>
              </a:spcAft>
            </a:pPr>
            <a:r>
              <a:rPr sz="1100" b="0">
                <a:solidFill>
                  <a:srgbClr val="5A6B63"/>
                </a:solidFill>
                <a:latin typeface="Calibri"/>
              </a:rPr>
              <a:t>2.7.0</a:t>
            </a:r>
          </a:p>
        </p:txBody>
      </p:sp>
      <p:sp>
        <p:nvSpPr>
          <p:cNvPr id="63" name="Rectangle 62"/>
          <p:cNvSpPr/>
          <p:nvPr/>
        </p:nvSpPr>
        <p:spPr>
          <a:xfrm>
            <a:off x="6172200" y="4096512"/>
            <a:ext cx="2724912" cy="749808"/>
          </a:xfrm>
          <a:prstGeom prst="rect">
            <a:avLst/>
          </a:prstGeom>
          <a:solidFill>
            <a:srgbClr val="FFFFFF"/>
          </a:solidFill>
          <a:ln w="1397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172200" y="4096512"/>
            <a:ext cx="91440" cy="749808"/>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400800" y="4187952"/>
            <a:ext cx="2359152" cy="320040"/>
          </a:xfrm>
          <a:prstGeom prst="rect">
            <a:avLst/>
          </a:prstGeom>
          <a:noFill/>
        </p:spPr>
        <p:txBody>
          <a:bodyPr wrap="square" anchor="t" lIns="25400" rIns="25400" tIns="12700" bIns="12700">
            <a:spAutoFit/>
          </a:bodyPr>
          <a:lstStyle/>
          <a:p>
            <a:pPr algn="l">
              <a:spcBef>
                <a:spcPts val="0"/>
              </a:spcBef>
              <a:spcAft>
                <a:spcPts val="400"/>
              </a:spcAft>
            </a:pPr>
            <a:r>
              <a:rPr sz="1300" b="1">
                <a:solidFill>
                  <a:srgbClr val="162A22"/>
                </a:solidFill>
                <a:latin typeface="Calibri"/>
              </a:rPr>
              <a:t>logback-encoder</a:t>
            </a:r>
          </a:p>
        </p:txBody>
      </p:sp>
      <p:sp>
        <p:nvSpPr>
          <p:cNvPr id="66" name="TextBox 65"/>
          <p:cNvSpPr txBox="1"/>
          <p:nvPr/>
        </p:nvSpPr>
        <p:spPr>
          <a:xfrm>
            <a:off x="6400800" y="4507992"/>
            <a:ext cx="2359152" cy="274320"/>
          </a:xfrm>
          <a:prstGeom prst="rect">
            <a:avLst/>
          </a:prstGeom>
          <a:noFill/>
        </p:spPr>
        <p:txBody>
          <a:bodyPr wrap="square" anchor="t" lIns="25400" rIns="25400" tIns="12700" bIns="12700">
            <a:spAutoFit/>
          </a:bodyPr>
          <a:lstStyle/>
          <a:p>
            <a:pPr algn="l">
              <a:spcBef>
                <a:spcPts val="0"/>
              </a:spcBef>
              <a:spcAft>
                <a:spcPts val="400"/>
              </a:spcAft>
            </a:pPr>
            <a:r>
              <a:rPr sz="1100" b="0">
                <a:solidFill>
                  <a:srgbClr val="5A6B63"/>
                </a:solidFill>
                <a:latin typeface="Calibri"/>
              </a:rPr>
              <a:t>8.0 JSON</a:t>
            </a:r>
          </a:p>
        </p:txBody>
      </p:sp>
      <p:sp>
        <p:nvSpPr>
          <p:cNvPr id="67" name="Rectangle 66"/>
          <p:cNvSpPr/>
          <p:nvPr/>
        </p:nvSpPr>
        <p:spPr>
          <a:xfrm>
            <a:off x="9006840" y="4096512"/>
            <a:ext cx="2724912" cy="749808"/>
          </a:xfrm>
          <a:prstGeom prst="rect">
            <a:avLst/>
          </a:prstGeom>
          <a:solidFill>
            <a:srgbClr val="FFFFFF"/>
          </a:solidFill>
          <a:ln w="1397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9006840" y="4096512"/>
            <a:ext cx="91440" cy="749808"/>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235440" y="4187952"/>
            <a:ext cx="2359152" cy="320040"/>
          </a:xfrm>
          <a:prstGeom prst="rect">
            <a:avLst/>
          </a:prstGeom>
          <a:noFill/>
        </p:spPr>
        <p:txBody>
          <a:bodyPr wrap="square" anchor="t" lIns="25400" rIns="25400" tIns="12700" bIns="12700">
            <a:spAutoFit/>
          </a:bodyPr>
          <a:lstStyle/>
          <a:p>
            <a:pPr algn="l">
              <a:spcBef>
                <a:spcPts val="0"/>
              </a:spcBef>
              <a:spcAft>
                <a:spcPts val="400"/>
              </a:spcAft>
            </a:pPr>
            <a:r>
              <a:rPr sz="1300" b="1">
                <a:solidFill>
                  <a:srgbClr val="162A22"/>
                </a:solidFill>
                <a:latin typeface="Calibri"/>
              </a:rPr>
              <a:t>JUnit 5 / Mockito</a:t>
            </a:r>
          </a:p>
        </p:txBody>
      </p:sp>
      <p:sp>
        <p:nvSpPr>
          <p:cNvPr id="70" name="TextBox 69"/>
          <p:cNvSpPr txBox="1"/>
          <p:nvPr/>
        </p:nvSpPr>
        <p:spPr>
          <a:xfrm>
            <a:off x="9235440" y="4507992"/>
            <a:ext cx="2359152" cy="274320"/>
          </a:xfrm>
          <a:prstGeom prst="rect">
            <a:avLst/>
          </a:prstGeom>
          <a:noFill/>
        </p:spPr>
        <p:txBody>
          <a:bodyPr wrap="square" anchor="t" lIns="25400" rIns="25400" tIns="12700" bIns="12700">
            <a:spAutoFit/>
          </a:bodyPr>
          <a:lstStyle/>
          <a:p>
            <a:pPr algn="l">
              <a:spcBef>
                <a:spcPts val="0"/>
              </a:spcBef>
              <a:spcAft>
                <a:spcPts val="400"/>
              </a:spcAft>
            </a:pPr>
            <a:r>
              <a:rPr sz="1100" b="0">
                <a:solidFill>
                  <a:srgbClr val="5A6B63"/>
                </a:solidFill>
                <a:latin typeface="Calibri"/>
              </a:rPr>
              <a:t>tests</a:t>
            </a:r>
          </a:p>
        </p:txBody>
      </p:sp>
      <p:sp>
        <p:nvSpPr>
          <p:cNvPr id="71" name="Rectangle 70"/>
          <p:cNvSpPr/>
          <p:nvPr/>
        </p:nvSpPr>
        <p:spPr>
          <a:xfrm>
            <a:off x="502920" y="4974336"/>
            <a:ext cx="2724912" cy="749808"/>
          </a:xfrm>
          <a:prstGeom prst="rect">
            <a:avLst/>
          </a:prstGeom>
          <a:solidFill>
            <a:srgbClr val="FFFFFF"/>
          </a:solidFill>
          <a:ln w="1397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502920" y="4974336"/>
            <a:ext cx="91440" cy="749808"/>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31520" y="5065776"/>
            <a:ext cx="2359152" cy="320040"/>
          </a:xfrm>
          <a:prstGeom prst="rect">
            <a:avLst/>
          </a:prstGeom>
          <a:noFill/>
        </p:spPr>
        <p:txBody>
          <a:bodyPr wrap="square" anchor="t" lIns="25400" rIns="25400" tIns="12700" bIns="12700">
            <a:spAutoFit/>
          </a:bodyPr>
          <a:lstStyle/>
          <a:p>
            <a:pPr algn="l">
              <a:spcBef>
                <a:spcPts val="0"/>
              </a:spcBef>
              <a:spcAft>
                <a:spcPts val="400"/>
              </a:spcAft>
            </a:pPr>
            <a:r>
              <a:rPr sz="1300" b="1">
                <a:solidFill>
                  <a:srgbClr val="162A22"/>
                </a:solidFill>
                <a:latin typeface="Calibri"/>
              </a:rPr>
              <a:t>Gradle</a:t>
            </a:r>
          </a:p>
        </p:txBody>
      </p:sp>
      <p:sp>
        <p:nvSpPr>
          <p:cNvPr id="74" name="TextBox 73"/>
          <p:cNvSpPr txBox="1"/>
          <p:nvPr/>
        </p:nvSpPr>
        <p:spPr>
          <a:xfrm>
            <a:off x="731520" y="5385816"/>
            <a:ext cx="2359152" cy="274320"/>
          </a:xfrm>
          <a:prstGeom prst="rect">
            <a:avLst/>
          </a:prstGeom>
          <a:noFill/>
        </p:spPr>
        <p:txBody>
          <a:bodyPr wrap="square" anchor="t" lIns="25400" rIns="25400" tIns="12700" bIns="12700">
            <a:spAutoFit/>
          </a:bodyPr>
          <a:lstStyle/>
          <a:p>
            <a:pPr algn="l">
              <a:spcBef>
                <a:spcPts val="0"/>
              </a:spcBef>
              <a:spcAft>
                <a:spcPts val="400"/>
              </a:spcAft>
            </a:pPr>
            <a:r>
              <a:rPr sz="1100" b="0">
                <a:solidFill>
                  <a:srgbClr val="5A6B63"/>
                </a:solidFill>
                <a:latin typeface="Calibri"/>
              </a:rPr>
              <a:t>9.4.1</a:t>
            </a:r>
          </a:p>
        </p:txBody>
      </p:sp>
      <p:sp>
        <p:nvSpPr>
          <p:cNvPr id="75" name="Rectangle 74"/>
          <p:cNvSpPr/>
          <p:nvPr/>
        </p:nvSpPr>
        <p:spPr>
          <a:xfrm>
            <a:off x="3337560" y="4974336"/>
            <a:ext cx="2724912" cy="749808"/>
          </a:xfrm>
          <a:prstGeom prst="rect">
            <a:avLst/>
          </a:prstGeom>
          <a:solidFill>
            <a:srgbClr val="FFFFFF"/>
          </a:solidFill>
          <a:ln w="13970">
            <a:solidFill>
              <a:srgbClr val="C9DCD2"/>
            </a:solidFill>
          </a:ln>
          <a:effectLst/>
          <a:effectLst>
            <a:outerShdw blurRad="60000" dist="30000" dir="5400000" rotWithShape="0">
              <a:srgbClr val="1A2E2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3337560" y="4974336"/>
            <a:ext cx="91440" cy="749808"/>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3566160" y="5065776"/>
            <a:ext cx="2359152" cy="320040"/>
          </a:xfrm>
          <a:prstGeom prst="rect">
            <a:avLst/>
          </a:prstGeom>
          <a:noFill/>
        </p:spPr>
        <p:txBody>
          <a:bodyPr wrap="square" anchor="t" lIns="25400" rIns="25400" tIns="12700" bIns="12700">
            <a:spAutoFit/>
          </a:bodyPr>
          <a:lstStyle/>
          <a:p>
            <a:pPr algn="l">
              <a:spcBef>
                <a:spcPts val="0"/>
              </a:spcBef>
              <a:spcAft>
                <a:spcPts val="400"/>
              </a:spcAft>
            </a:pPr>
            <a:r>
              <a:rPr sz="1300" b="1">
                <a:solidFill>
                  <a:srgbClr val="162A22"/>
                </a:solidFill>
                <a:latin typeface="Calibri"/>
              </a:rPr>
              <a:t>Docker / Compose</a:t>
            </a:r>
          </a:p>
        </p:txBody>
      </p:sp>
      <p:sp>
        <p:nvSpPr>
          <p:cNvPr id="78" name="TextBox 77"/>
          <p:cNvSpPr txBox="1"/>
          <p:nvPr/>
        </p:nvSpPr>
        <p:spPr>
          <a:xfrm>
            <a:off x="3566160" y="5385816"/>
            <a:ext cx="2359152" cy="274320"/>
          </a:xfrm>
          <a:prstGeom prst="rect">
            <a:avLst/>
          </a:prstGeom>
          <a:noFill/>
        </p:spPr>
        <p:txBody>
          <a:bodyPr wrap="square" anchor="t" lIns="25400" rIns="25400" tIns="12700" bIns="12700">
            <a:spAutoFit/>
          </a:bodyPr>
          <a:lstStyle/>
          <a:p>
            <a:pPr algn="l">
              <a:spcBef>
                <a:spcPts val="0"/>
              </a:spcBef>
              <a:spcAft>
                <a:spcPts val="400"/>
              </a:spcAft>
            </a:pPr>
            <a:r>
              <a:rPr sz="1100" b="0">
                <a:solidFill>
                  <a:srgbClr val="5A6B63"/>
                </a:solidFill>
                <a:latin typeface="Calibri"/>
              </a:rPr>
              <a:t>27+</a:t>
            </a:r>
          </a:p>
        </p:txBody>
      </p:sp>
      <p:sp>
        <p:nvSpPr>
          <p:cNvPr id="79" name="TextBox 78"/>
          <p:cNvSpPr txBox="1"/>
          <p:nvPr/>
        </p:nvSpPr>
        <p:spPr>
          <a:xfrm>
            <a:off x="502920" y="6473952"/>
            <a:ext cx="5486400" cy="274320"/>
          </a:xfrm>
          <a:prstGeom prst="rect">
            <a:avLst/>
          </a:prstGeom>
          <a:noFill/>
        </p:spPr>
        <p:txBody>
          <a:bodyPr wrap="square" anchor="t" lIns="25400" rIns="25400" tIns="12700" bIns="12700">
            <a:spAutoFit/>
          </a:bodyPr>
          <a:lstStyle/>
          <a:p>
            <a:pPr algn="l">
              <a:spcBef>
                <a:spcPts val="0"/>
              </a:spcBef>
              <a:spcAft>
                <a:spcPts val="400"/>
              </a:spcAft>
            </a:pPr>
            <a:r>
              <a:rPr sz="900" b="0">
                <a:solidFill>
                  <a:srgbClr val="5A6B63"/>
                </a:solidFill>
                <a:latin typeface="Calibri"/>
              </a:rPr>
              <a:t>VeloUrbe · Informe Técnico de Arquitectura</a:t>
            </a:r>
          </a:p>
        </p:txBody>
      </p:sp>
      <p:sp>
        <p:nvSpPr>
          <p:cNvPr id="80" name="Rectangle 79"/>
          <p:cNvSpPr/>
          <p:nvPr/>
        </p:nvSpPr>
        <p:spPr>
          <a:xfrm>
            <a:off x="11475720" y="6437376"/>
            <a:ext cx="457200" cy="310896"/>
          </a:xfrm>
          <a:prstGeom prst="rect">
            <a:avLst/>
          </a:prstGeom>
          <a:solidFill>
            <a:srgbClr val="E8F1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000" b="1">
                <a:solidFill>
                  <a:srgbClr val="2E9E5B"/>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62A22"/>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058400" cy="457200"/>
          </a:xfrm>
          <a:prstGeom prst="rect">
            <a:avLst/>
          </a:prstGeom>
          <a:noFill/>
        </p:spPr>
        <p:txBody>
          <a:bodyPr wrap="square" anchor="t" lIns="25400" rIns="25400" tIns="12700" bIns="12700">
            <a:spAutoFit/>
          </a:bodyPr>
          <a:lstStyle/>
          <a:p>
            <a:pPr algn="l">
              <a:spcBef>
                <a:spcPts val="0"/>
              </a:spcBef>
              <a:spcAft>
                <a:spcPts val="400"/>
              </a:spcAft>
            </a:pPr>
            <a:r>
              <a:rPr sz="1400" b="1">
                <a:solidFill>
                  <a:srgbClr val="7FC83D"/>
                </a:solidFill>
                <a:latin typeface="Calibri"/>
              </a:rPr>
              <a:t>CONCLUSIÓN</a:t>
            </a:r>
          </a:p>
        </p:txBody>
      </p:sp>
      <p:sp>
        <p:nvSpPr>
          <p:cNvPr id="4" name="TextBox 3"/>
          <p:cNvSpPr txBox="1"/>
          <p:nvPr/>
        </p:nvSpPr>
        <p:spPr>
          <a:xfrm>
            <a:off x="822960" y="1143000"/>
            <a:ext cx="10515600" cy="731520"/>
          </a:xfrm>
          <a:prstGeom prst="rect">
            <a:avLst/>
          </a:prstGeom>
          <a:noFill/>
        </p:spPr>
        <p:txBody>
          <a:bodyPr wrap="square" anchor="t" lIns="25400" rIns="25400" tIns="12700" bIns="12700">
            <a:spAutoFit/>
          </a:bodyPr>
          <a:lstStyle/>
          <a:p>
            <a:pPr algn="l">
              <a:spcBef>
                <a:spcPts val="0"/>
              </a:spcBef>
              <a:spcAft>
                <a:spcPts val="400"/>
              </a:spcAft>
            </a:pPr>
            <a:r>
              <a:rPr sz="3000" b="1">
                <a:solidFill>
                  <a:srgbClr val="FFFFFF"/>
                </a:solidFill>
                <a:latin typeface="Calibri"/>
              </a:rPr>
              <a:t>VeloUrbe — Arquitectura sólida y mantenible</a:t>
            </a:r>
          </a:p>
        </p:txBody>
      </p:sp>
      <p:sp>
        <p:nvSpPr>
          <p:cNvPr id="5" name="Rectangle 4"/>
          <p:cNvSpPr/>
          <p:nvPr/>
        </p:nvSpPr>
        <p:spPr>
          <a:xfrm>
            <a:off x="841248" y="1874519"/>
            <a:ext cx="3657600" cy="31750"/>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103120"/>
            <a:ext cx="10607040" cy="1828800"/>
          </a:xfrm>
          <a:prstGeom prst="rect">
            <a:avLst/>
          </a:prstGeom>
          <a:noFill/>
        </p:spPr>
        <p:txBody>
          <a:bodyPr wrap="square" anchor="t" lIns="25400" rIns="25400" tIns="12700" bIns="12700">
            <a:spAutoFit/>
          </a:bodyPr>
          <a:lstStyle/>
          <a:p>
            <a:pPr algn="l">
              <a:spcBef>
                <a:spcPts val="0"/>
              </a:spcBef>
              <a:spcAft>
                <a:spcPts val="400"/>
              </a:spcAft>
            </a:pPr>
            <a:r>
              <a:rPr sz="1600" b="0">
                <a:solidFill>
                  <a:srgbClr val="D9E9E0"/>
                </a:solidFill>
                <a:latin typeface="Calibri"/>
              </a:rPr>
              <a:t>La segregación en 10 microservicios, coordinada por un API Gateway que enruta al BFF (patrón Gateway → BFF → servicios), produce un sistema cohesivo, desacoplado y tolerante a fallos.</a:t>
            </a:r>
          </a:p>
          <a:p>
            <a:pPr algn="l">
              <a:spcBef>
                <a:spcPts val="0"/>
              </a:spcBef>
              <a:spcAft>
                <a:spcPts val="400"/>
              </a:spcAft>
            </a:pPr>
            <a:r>
              <a:rPr sz="1600" b="0">
                <a:solidFill>
                  <a:srgbClr val="D9E9E0"/>
                </a:solidFill>
                <a:latin typeface="Calibri"/>
              </a:rPr>
              <a:t>Java 21 + Records inmutables, Flyway, JWT stateless, logging estructurado y una suite de pruebas automatizadas certifican el cumplimiento de los requerimientos técnicos y de calidad exigidos.</a:t>
            </a:r>
          </a:p>
        </p:txBody>
      </p:sp>
      <p:sp>
        <p:nvSpPr>
          <p:cNvPr id="7" name="Oval 6"/>
          <p:cNvSpPr/>
          <p:nvPr/>
        </p:nvSpPr>
        <p:spPr>
          <a:xfrm>
            <a:off x="841248" y="4206240"/>
            <a:ext cx="310896" cy="310896"/>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300" b="1">
                <a:solidFill>
                  <a:srgbClr val="FFFFFF"/>
                </a:solidFill>
                <a:latin typeface="Calibri"/>
              </a:rPr>
              <a:t>✓</a:t>
            </a:r>
          </a:p>
        </p:txBody>
      </p:sp>
      <p:sp>
        <p:nvSpPr>
          <p:cNvPr id="8" name="TextBox 7"/>
          <p:cNvSpPr txBox="1"/>
          <p:nvPr/>
        </p:nvSpPr>
        <p:spPr>
          <a:xfrm>
            <a:off x="1252728" y="4224528"/>
            <a:ext cx="4754880" cy="365760"/>
          </a:xfrm>
          <a:prstGeom prst="rect">
            <a:avLst/>
          </a:prstGeom>
          <a:noFill/>
        </p:spPr>
        <p:txBody>
          <a:bodyPr wrap="square" anchor="t" lIns="25400" rIns="25400" tIns="12700" bIns="12700">
            <a:spAutoFit/>
          </a:bodyPr>
          <a:lstStyle/>
          <a:p>
            <a:pPr algn="l">
              <a:spcBef>
                <a:spcPts val="0"/>
              </a:spcBef>
              <a:spcAft>
                <a:spcPts val="400"/>
              </a:spcAft>
            </a:pPr>
            <a:r>
              <a:rPr sz="1300" b="0">
                <a:solidFill>
                  <a:srgbClr val="FFFFFF"/>
                </a:solidFill>
                <a:latin typeface="Calibri"/>
              </a:rPr>
              <a:t>10 Microservicios + BFF + Gateway</a:t>
            </a:r>
          </a:p>
        </p:txBody>
      </p:sp>
      <p:sp>
        <p:nvSpPr>
          <p:cNvPr id="9" name="Oval 8"/>
          <p:cNvSpPr/>
          <p:nvPr/>
        </p:nvSpPr>
        <p:spPr>
          <a:xfrm>
            <a:off x="6236208" y="4206240"/>
            <a:ext cx="310896" cy="310896"/>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300" b="1">
                <a:solidFill>
                  <a:srgbClr val="FFFFFF"/>
                </a:solidFill>
                <a:latin typeface="Calibri"/>
              </a:rPr>
              <a:t>✓</a:t>
            </a:r>
          </a:p>
        </p:txBody>
      </p:sp>
      <p:sp>
        <p:nvSpPr>
          <p:cNvPr id="10" name="TextBox 9"/>
          <p:cNvSpPr txBox="1"/>
          <p:nvPr/>
        </p:nvSpPr>
        <p:spPr>
          <a:xfrm>
            <a:off x="6647688" y="4224528"/>
            <a:ext cx="4754880" cy="365760"/>
          </a:xfrm>
          <a:prstGeom prst="rect">
            <a:avLst/>
          </a:prstGeom>
          <a:noFill/>
        </p:spPr>
        <p:txBody>
          <a:bodyPr wrap="square" anchor="t" lIns="25400" rIns="25400" tIns="12700" bIns="12700">
            <a:spAutoFit/>
          </a:bodyPr>
          <a:lstStyle/>
          <a:p>
            <a:pPr algn="l">
              <a:spcBef>
                <a:spcPts val="0"/>
              </a:spcBef>
              <a:spcAft>
                <a:spcPts val="400"/>
              </a:spcAft>
            </a:pPr>
            <a:r>
              <a:rPr sz="1300" b="0">
                <a:solidFill>
                  <a:srgbClr val="FFFFFF"/>
                </a:solidFill>
                <a:latin typeface="Calibri"/>
              </a:rPr>
              <a:t>Diagramas C2 y C3</a:t>
            </a:r>
          </a:p>
        </p:txBody>
      </p:sp>
      <p:sp>
        <p:nvSpPr>
          <p:cNvPr id="11" name="Oval 10"/>
          <p:cNvSpPr/>
          <p:nvPr/>
        </p:nvSpPr>
        <p:spPr>
          <a:xfrm>
            <a:off x="841248" y="4773168"/>
            <a:ext cx="310896" cy="310896"/>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300" b="1">
                <a:solidFill>
                  <a:srgbClr val="FFFFFF"/>
                </a:solidFill>
                <a:latin typeface="Calibri"/>
              </a:rPr>
              <a:t>✓</a:t>
            </a:r>
          </a:p>
        </p:txBody>
      </p:sp>
      <p:sp>
        <p:nvSpPr>
          <p:cNvPr id="12" name="TextBox 11"/>
          <p:cNvSpPr txBox="1"/>
          <p:nvPr/>
        </p:nvSpPr>
        <p:spPr>
          <a:xfrm>
            <a:off x="1252728" y="4791456"/>
            <a:ext cx="4754880" cy="365760"/>
          </a:xfrm>
          <a:prstGeom prst="rect">
            <a:avLst/>
          </a:prstGeom>
          <a:noFill/>
        </p:spPr>
        <p:txBody>
          <a:bodyPr wrap="square" anchor="t" lIns="25400" rIns="25400" tIns="12700" bIns="12700">
            <a:spAutoFit/>
          </a:bodyPr>
          <a:lstStyle/>
          <a:p>
            <a:pPr algn="l">
              <a:spcBef>
                <a:spcPts val="0"/>
              </a:spcBef>
              <a:spcAft>
                <a:spcPts val="400"/>
              </a:spcAft>
            </a:pPr>
            <a:r>
              <a:rPr sz="1300" b="0">
                <a:solidFill>
                  <a:srgbClr val="FFFFFF"/>
                </a:solidFill>
                <a:latin typeface="Calibri"/>
              </a:rPr>
              <a:t>Clean Code en inglés + Javadoc</a:t>
            </a:r>
          </a:p>
        </p:txBody>
      </p:sp>
      <p:sp>
        <p:nvSpPr>
          <p:cNvPr id="13" name="Oval 12"/>
          <p:cNvSpPr/>
          <p:nvPr/>
        </p:nvSpPr>
        <p:spPr>
          <a:xfrm>
            <a:off x="6236208" y="4773168"/>
            <a:ext cx="310896" cy="310896"/>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300" b="1">
                <a:solidFill>
                  <a:srgbClr val="FFFFFF"/>
                </a:solidFill>
                <a:latin typeface="Calibri"/>
              </a:rPr>
              <a:t>✓</a:t>
            </a:r>
          </a:p>
        </p:txBody>
      </p:sp>
      <p:sp>
        <p:nvSpPr>
          <p:cNvPr id="14" name="TextBox 13"/>
          <p:cNvSpPr txBox="1"/>
          <p:nvPr/>
        </p:nvSpPr>
        <p:spPr>
          <a:xfrm>
            <a:off x="6647688" y="4791456"/>
            <a:ext cx="4754880" cy="365760"/>
          </a:xfrm>
          <a:prstGeom prst="rect">
            <a:avLst/>
          </a:prstGeom>
          <a:noFill/>
        </p:spPr>
        <p:txBody>
          <a:bodyPr wrap="square" anchor="t" lIns="25400" rIns="25400" tIns="12700" bIns="12700">
            <a:spAutoFit/>
          </a:bodyPr>
          <a:lstStyle/>
          <a:p>
            <a:pPr algn="l">
              <a:spcBef>
                <a:spcPts val="0"/>
              </a:spcBef>
              <a:spcAft>
                <a:spcPts val="400"/>
              </a:spcAft>
            </a:pPr>
            <a:r>
              <a:rPr sz="1300" b="0">
                <a:solidFill>
                  <a:srgbClr val="FFFFFF"/>
                </a:solidFill>
                <a:latin typeface="Calibri"/>
              </a:rPr>
              <a:t>Flyway DDL/DML separado</a:t>
            </a:r>
          </a:p>
        </p:txBody>
      </p:sp>
      <p:sp>
        <p:nvSpPr>
          <p:cNvPr id="15" name="Oval 14"/>
          <p:cNvSpPr/>
          <p:nvPr/>
        </p:nvSpPr>
        <p:spPr>
          <a:xfrm>
            <a:off x="841248" y="5340096"/>
            <a:ext cx="310896" cy="310896"/>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300" b="1">
                <a:solidFill>
                  <a:srgbClr val="FFFFFF"/>
                </a:solidFill>
                <a:latin typeface="Calibri"/>
              </a:rPr>
              <a:t>✓</a:t>
            </a:r>
          </a:p>
        </p:txBody>
      </p:sp>
      <p:sp>
        <p:nvSpPr>
          <p:cNvPr id="16" name="TextBox 15"/>
          <p:cNvSpPr txBox="1"/>
          <p:nvPr/>
        </p:nvSpPr>
        <p:spPr>
          <a:xfrm>
            <a:off x="1252728" y="5358384"/>
            <a:ext cx="4754880" cy="365760"/>
          </a:xfrm>
          <a:prstGeom prst="rect">
            <a:avLst/>
          </a:prstGeom>
          <a:noFill/>
        </p:spPr>
        <p:txBody>
          <a:bodyPr wrap="square" anchor="t" lIns="25400" rIns="25400" tIns="12700" bIns="12700">
            <a:spAutoFit/>
          </a:bodyPr>
          <a:lstStyle/>
          <a:p>
            <a:pPr algn="l">
              <a:spcBef>
                <a:spcPts val="0"/>
              </a:spcBef>
              <a:spcAft>
                <a:spcPts val="400"/>
              </a:spcAft>
            </a:pPr>
            <a:r>
              <a:rPr sz="1300" b="0">
                <a:solidFill>
                  <a:srgbClr val="FFFFFF"/>
                </a:solidFill>
                <a:latin typeface="Calibri"/>
              </a:rPr>
              <a:t>@ControllerAdvice global</a:t>
            </a:r>
          </a:p>
        </p:txBody>
      </p:sp>
      <p:sp>
        <p:nvSpPr>
          <p:cNvPr id="17" name="Oval 16"/>
          <p:cNvSpPr/>
          <p:nvPr/>
        </p:nvSpPr>
        <p:spPr>
          <a:xfrm>
            <a:off x="6236208" y="5340096"/>
            <a:ext cx="310896" cy="310896"/>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300" b="1">
                <a:solidFill>
                  <a:srgbClr val="FFFFFF"/>
                </a:solidFill>
                <a:latin typeface="Calibri"/>
              </a:rPr>
              <a:t>✓</a:t>
            </a:r>
          </a:p>
        </p:txBody>
      </p:sp>
      <p:sp>
        <p:nvSpPr>
          <p:cNvPr id="18" name="TextBox 17"/>
          <p:cNvSpPr txBox="1"/>
          <p:nvPr/>
        </p:nvSpPr>
        <p:spPr>
          <a:xfrm>
            <a:off x="6647688" y="5358384"/>
            <a:ext cx="4754880" cy="365760"/>
          </a:xfrm>
          <a:prstGeom prst="rect">
            <a:avLst/>
          </a:prstGeom>
          <a:noFill/>
        </p:spPr>
        <p:txBody>
          <a:bodyPr wrap="square" anchor="t" lIns="25400" rIns="25400" tIns="12700" bIns="12700">
            <a:spAutoFit/>
          </a:bodyPr>
          <a:lstStyle/>
          <a:p>
            <a:pPr algn="l">
              <a:spcBef>
                <a:spcPts val="0"/>
              </a:spcBef>
              <a:spcAft>
                <a:spcPts val="400"/>
              </a:spcAft>
            </a:pPr>
            <a:r>
              <a:rPr sz="1300" b="0">
                <a:solidFill>
                  <a:srgbClr val="FFFFFF"/>
                </a:solidFill>
                <a:latin typeface="Calibri"/>
              </a:rPr>
              <a:t>Tests (Service/Controller/Context)</a:t>
            </a:r>
          </a:p>
        </p:txBody>
      </p:sp>
      <p:sp>
        <p:nvSpPr>
          <p:cNvPr id="19" name="Oval 18"/>
          <p:cNvSpPr/>
          <p:nvPr/>
        </p:nvSpPr>
        <p:spPr>
          <a:xfrm>
            <a:off x="841248" y="5907024"/>
            <a:ext cx="310896" cy="310896"/>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300" b="1">
                <a:solidFill>
                  <a:srgbClr val="FFFFFF"/>
                </a:solidFill>
                <a:latin typeface="Calibri"/>
              </a:rPr>
              <a:t>✓</a:t>
            </a:r>
          </a:p>
        </p:txBody>
      </p:sp>
      <p:sp>
        <p:nvSpPr>
          <p:cNvPr id="20" name="TextBox 19"/>
          <p:cNvSpPr txBox="1"/>
          <p:nvPr/>
        </p:nvSpPr>
        <p:spPr>
          <a:xfrm>
            <a:off x="1252728" y="5925312"/>
            <a:ext cx="4754880" cy="365760"/>
          </a:xfrm>
          <a:prstGeom prst="rect">
            <a:avLst/>
          </a:prstGeom>
          <a:noFill/>
        </p:spPr>
        <p:txBody>
          <a:bodyPr wrap="square" anchor="t" lIns="25400" rIns="25400" tIns="12700" bIns="12700">
            <a:spAutoFit/>
          </a:bodyPr>
          <a:lstStyle/>
          <a:p>
            <a:pPr algn="l">
              <a:spcBef>
                <a:spcPts val="0"/>
              </a:spcBef>
              <a:spcAft>
                <a:spcPts val="400"/>
              </a:spcAft>
            </a:pPr>
            <a:r>
              <a:rPr sz="1300" b="0">
                <a:solidFill>
                  <a:srgbClr val="FFFFFF"/>
                </a:solidFill>
                <a:latin typeface="Calibri"/>
              </a:rPr>
              <a:t>Swagger centralizado + Postman</a:t>
            </a:r>
          </a:p>
        </p:txBody>
      </p:sp>
      <p:sp>
        <p:nvSpPr>
          <p:cNvPr id="21" name="Oval 20"/>
          <p:cNvSpPr/>
          <p:nvPr/>
        </p:nvSpPr>
        <p:spPr>
          <a:xfrm>
            <a:off x="6236208" y="5907024"/>
            <a:ext cx="310896" cy="310896"/>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200"/>
              </a:spcAft>
            </a:pPr>
            <a:r>
              <a:rPr sz="1300" b="1">
                <a:solidFill>
                  <a:srgbClr val="FFFFFF"/>
                </a:solidFill>
                <a:latin typeface="Calibri"/>
              </a:rPr>
              <a:t>✓</a:t>
            </a:r>
          </a:p>
        </p:txBody>
      </p:sp>
      <p:sp>
        <p:nvSpPr>
          <p:cNvPr id="22" name="TextBox 21"/>
          <p:cNvSpPr txBox="1"/>
          <p:nvPr/>
        </p:nvSpPr>
        <p:spPr>
          <a:xfrm>
            <a:off x="6647688" y="5925312"/>
            <a:ext cx="4754880" cy="365760"/>
          </a:xfrm>
          <a:prstGeom prst="rect">
            <a:avLst/>
          </a:prstGeom>
          <a:noFill/>
        </p:spPr>
        <p:txBody>
          <a:bodyPr wrap="square" anchor="t" lIns="25400" rIns="25400" tIns="12700" bIns="12700">
            <a:spAutoFit/>
          </a:bodyPr>
          <a:lstStyle/>
          <a:p>
            <a:pPr algn="l">
              <a:spcBef>
                <a:spcPts val="0"/>
              </a:spcBef>
              <a:spcAft>
                <a:spcPts val="400"/>
              </a:spcAft>
            </a:pPr>
            <a:r>
              <a:rPr sz="1300" b="0">
                <a:solidFill>
                  <a:srgbClr val="FFFFFF"/>
                </a:solidFill>
                <a:latin typeface="Calibri"/>
              </a:rPr>
              <a:t>Docker Compose + PostgreSQL</a:t>
            </a:r>
          </a:p>
        </p:txBody>
      </p:sp>
      <p:sp>
        <p:nvSpPr>
          <p:cNvPr id="23" name="TextBox 22"/>
          <p:cNvSpPr txBox="1"/>
          <p:nvPr/>
        </p:nvSpPr>
        <p:spPr>
          <a:xfrm>
            <a:off x="841248" y="6400800"/>
            <a:ext cx="10058400" cy="365760"/>
          </a:xfrm>
          <a:prstGeom prst="rect">
            <a:avLst/>
          </a:prstGeom>
          <a:noFill/>
        </p:spPr>
        <p:txBody>
          <a:bodyPr wrap="square" anchor="t" lIns="25400" rIns="25400" tIns="12700" bIns="12700">
            <a:spAutoFit/>
          </a:bodyPr>
          <a:lstStyle/>
          <a:p>
            <a:pPr algn="l">
              <a:spcBef>
                <a:spcPts val="0"/>
              </a:spcBef>
              <a:spcAft>
                <a:spcPts val="400"/>
              </a:spcAft>
            </a:pPr>
            <a:r>
              <a:rPr sz="1100" b="0">
                <a:solidFill>
                  <a:srgbClr val="9FBDAE"/>
                </a:solidFill>
                <a:latin typeface="Calibri"/>
              </a:rPr>
              <a:t>VeloUrbe ·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